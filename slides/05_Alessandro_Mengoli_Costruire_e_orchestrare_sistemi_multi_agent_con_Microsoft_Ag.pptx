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73"/>
  </p:notesMasterIdLst>
  <p:handoutMasterIdLst>
    <p:handoutMasterId r:id="rId74"/>
  </p:handoutMasterIdLst>
  <p:sldIdLst>
    <p:sldId id="256" r:id="rId2"/>
    <p:sldId id="261" r:id="rId3"/>
    <p:sldId id="257" r:id="rId4"/>
    <p:sldId id="263" r:id="rId5"/>
    <p:sldId id="262" r:id="rId6"/>
    <p:sldId id="392" r:id="rId7"/>
    <p:sldId id="393" r:id="rId8"/>
    <p:sldId id="396" r:id="rId9"/>
    <p:sldId id="408" r:id="rId10"/>
    <p:sldId id="409" r:id="rId11"/>
    <p:sldId id="399" r:id="rId12"/>
    <p:sldId id="410" r:id="rId13"/>
    <p:sldId id="411" r:id="rId14"/>
    <p:sldId id="398" r:id="rId15"/>
    <p:sldId id="278" r:id="rId16"/>
    <p:sldId id="285" r:id="rId17"/>
    <p:sldId id="286" r:id="rId18"/>
    <p:sldId id="314" r:id="rId19"/>
    <p:sldId id="315" r:id="rId20"/>
    <p:sldId id="283" r:id="rId21"/>
    <p:sldId id="280" r:id="rId22"/>
    <p:sldId id="318" r:id="rId23"/>
    <p:sldId id="321" r:id="rId24"/>
    <p:sldId id="325" r:id="rId25"/>
    <p:sldId id="324" r:id="rId26"/>
    <p:sldId id="279" r:id="rId27"/>
    <p:sldId id="319" r:id="rId28"/>
    <p:sldId id="316" r:id="rId29"/>
    <p:sldId id="326" r:id="rId30"/>
    <p:sldId id="327" r:id="rId31"/>
    <p:sldId id="328" r:id="rId32"/>
    <p:sldId id="271" r:id="rId33"/>
    <p:sldId id="329" r:id="rId34"/>
    <p:sldId id="332" r:id="rId35"/>
    <p:sldId id="385" r:id="rId36"/>
    <p:sldId id="418" r:id="rId37"/>
    <p:sldId id="421" r:id="rId38"/>
    <p:sldId id="423" r:id="rId39"/>
    <p:sldId id="386" r:id="rId40"/>
    <p:sldId id="330" r:id="rId41"/>
    <p:sldId id="401" r:id="rId42"/>
    <p:sldId id="387" r:id="rId43"/>
    <p:sldId id="389" r:id="rId44"/>
    <p:sldId id="388" r:id="rId45"/>
    <p:sldId id="390" r:id="rId46"/>
    <p:sldId id="422" r:id="rId47"/>
    <p:sldId id="304" r:id="rId48"/>
    <p:sldId id="290" r:id="rId49"/>
    <p:sldId id="291" r:id="rId50"/>
    <p:sldId id="266" r:id="rId51"/>
    <p:sldId id="427" r:id="rId52"/>
    <p:sldId id="402" r:id="rId53"/>
    <p:sldId id="404" r:id="rId54"/>
    <p:sldId id="403" r:id="rId55"/>
    <p:sldId id="424" r:id="rId56"/>
    <p:sldId id="412" r:id="rId57"/>
    <p:sldId id="414" r:id="rId58"/>
    <p:sldId id="413" r:id="rId59"/>
    <p:sldId id="415" r:id="rId60"/>
    <p:sldId id="416" r:id="rId61"/>
    <p:sldId id="429" r:id="rId62"/>
    <p:sldId id="428" r:id="rId63"/>
    <p:sldId id="430" r:id="rId64"/>
    <p:sldId id="431" r:id="rId65"/>
    <p:sldId id="405" r:id="rId66"/>
    <p:sldId id="406" r:id="rId67"/>
    <p:sldId id="391" r:id="rId68"/>
    <p:sldId id="417" r:id="rId69"/>
    <p:sldId id="264" r:id="rId70"/>
    <p:sldId id="420" r:id="rId71"/>
    <p:sldId id="419" r:id="rId72"/>
  </p:sldIdLst>
  <p:sldSz cx="12192000" cy="6858000"/>
  <p:notesSz cx="6858000" cy="9144000"/>
  <p:embeddedFontLst>
    <p:embeddedFont>
      <p:font typeface="Lufga" panose="020B0604020202020204" charset="0"/>
      <p:regular r:id="rId75"/>
      <p:bold r:id="rId76"/>
      <p:italic r:id="rId77"/>
      <p:boldItalic r:id="rId78"/>
    </p:embeddedFont>
    <p:embeddedFont>
      <p:font typeface="Monospac821 BT" panose="020B0609020202020204" pitchFamily="49" charset="0"/>
      <p:regular r:id="rId79"/>
      <p:bold r:id="rId80"/>
      <p:italic r:id="rId81"/>
      <p:boldItalic r:id="rId82"/>
    </p:embeddedFont>
    <p:embeddedFont>
      <p:font typeface="Segoe UI Semibold" panose="020B0702040204020203" pitchFamily="34" charset="0"/>
      <p:bold r:id="rId83"/>
      <p:boldItalic r:id="rId8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5649"/>
    <a:srgbClr val="FFFFFF"/>
    <a:srgbClr val="DDD7C0"/>
    <a:srgbClr val="1321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>
      <p:cViewPr varScale="1">
        <p:scale>
          <a:sx n="70" d="100"/>
          <a:sy n="70" d="100"/>
        </p:scale>
        <p:origin x="283" y="2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font" Target="fonts/font10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handoutMaster" Target="handoutMasters/handoutMaster1.xml"/><Relationship Id="rId79" Type="http://schemas.openxmlformats.org/officeDocument/2006/relationships/font" Target="fonts/font5.fntdata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font" Target="fonts/font3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font" Target="fonts/font6.fntdata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font" Target="fonts/font1.fntdata"/><Relationship Id="rId83" Type="http://schemas.openxmlformats.org/officeDocument/2006/relationships/font" Target="fonts/font9.fntdata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78" Type="http://schemas.openxmlformats.org/officeDocument/2006/relationships/font" Target="fonts/font4.fntdata"/><Relationship Id="rId81" Type="http://schemas.openxmlformats.org/officeDocument/2006/relationships/font" Target="fonts/font7.fntdata"/><Relationship Id="rId86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2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font" Target="fonts/font8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85B94FC-C394-660C-315C-2CC6BFE5D75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7FDF9-F2C3-1D78-E928-EA2CC7C8674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2E83D4-0712-4B80-9A04-DAA4D13CDEEA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B752DA-6700-D9D3-415A-36AA855FE15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5558E0-45CC-0E4C-EB32-643F62E1279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B0559A-D670-4967-8855-A892FB9B9430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5278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6B3CAD-E40B-41FF-8098-694683249DF3}" type="datetimeFigureOut">
              <a:rPr lang="it-IT" smtClean="0"/>
              <a:t>21/05/2026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94573C-9320-466B-9F98-4A10928E224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66973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4287E-8FB7-98A7-74B4-173E706E7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97033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10EB6-6CCA-39D7-A725-B780070B9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382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A7665-7932-A386-40D8-EB3DB43E4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90365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10B23-2FAA-108F-6B2D-BD1944496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16585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95C29-A16D-3AE4-9737-7FDDF9EDA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35761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B78CD-354C-3917-CE40-059E1F011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47667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B2119-0FB1-E33B-52D4-106275343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66792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F36A4-BD84-14AC-8747-5F3B191C4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7382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BB676-1003-97F5-4007-D2415488E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1332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DAC47-5332-4192-24CC-C288904B9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18672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A7DCA-9B05-7609-52B3-05F8E7DCDF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033DBA-F3FE-5686-FE62-ED0E7BCF12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D1CAA-6E08-D0FA-1807-9EBBC3727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8634D-DBAD-3296-AEB7-933993D44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97187-6D2E-BB6D-76F9-07949E2BA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057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D1D7B-AC56-2FE8-27D2-995423708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D526F-2FEB-AE63-544C-F91CAAEA5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B4D70-52BC-19B1-41CD-598204408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D85F9-09EC-9FD7-E247-DE60AF55E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131B2-E759-BAC9-593A-A9A59DDC0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005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665F4-2907-AEC7-746E-5A932191E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5DA72A-5C10-766D-80C0-579AE29C7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16EA6-2D5B-9A7E-B855-47737FFB2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AC68A-2FEC-8CC4-7E0A-BA30B321D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D1C26-3F57-D5E1-E0EC-AF7C8F3EF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119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18CFF-A2A3-439C-34E2-A6A87D1E1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5EB1F-3FDC-BEEF-7B79-31A3AF830F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74DA9E-DC20-E015-883C-1AEB0FB956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534F6-4D4F-20CC-3151-81E6C331C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13762-0CDA-8AF3-907A-ED80A5313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89C546-A983-4F5D-2014-6A73DBA64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669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C6460-35C0-ACB8-1B64-BBBE4E3FB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CEEE1-2131-62A7-EF22-E7B59A62B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E39260-F824-48DD-0829-9119B4D552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2AAF36-CDD7-5696-1212-0EDCB271AB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AFB544-E93D-97DA-AD49-EF0CA8C35C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DF75BA-991E-206F-496C-DFD2707BD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854900-E444-E153-AD7A-63021E2F8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A68BA3-887A-6A1D-7C94-C769FD957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789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E8D07-5FD8-A047-32B2-24F0FD111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4DEDDC-6E7C-804A-9255-ABE3A2450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664CB7-81BF-600A-AE0A-ECBA650F7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BC6CA2-1CE3-7196-7478-E5063C2FF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266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7F4658-E9A1-B8B7-FF6A-E3CC58EC3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B4538A-0898-047F-63F0-1645A59A4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BDA6F-B33D-21C0-6F52-F1939F106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880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7DCB3-9E3A-279F-D7E9-4335834F8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89BB8-E501-401E-6FA1-93A35211AF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9B6406-D51E-3CA4-F961-05B9C71D18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D33E94-FD8F-D103-6B89-877180069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C1CC59-B9E0-EB9D-F3B2-8BB207A7E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341619-2459-8EE5-F287-E5AC164F8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460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8BCE5-04A6-B727-8271-2AAFA8E67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AC506D-45B8-E192-896D-0E8EBB61A3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93B607-5EE6-CBE1-EE48-8956A921F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7EB89C-0BBE-C2C6-8B1E-6C799981D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BB8A89-5098-FE3E-E298-A91389275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F9875D-3849-56F2-4636-58A0DC6B0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098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D2AB2-597E-DA67-891A-BED08852A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F5DADA-E94A-32EE-4C97-F5824B323C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CB63E-ABD9-3109-1C6D-FE923E30F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96D5B-B08C-796E-37C6-F5AF8E6AF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8EDA9-9E14-503D-7FF0-DD6D669EB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319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584C18-2515-20B1-2FD3-313B2CEAB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AEEA44-A443-120B-CCB5-BA86A6B736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7C17E-31E5-B960-B849-14134626E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3E416-76A8-C4BC-6692-4C0769813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5AD9D-13D2-1CDA-5A65-4868CC19F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646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9306B-43D5-FD53-A0D2-6DC62FCF1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8938875"/>
            <a:ext cx="10515818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CC964B-7385-3EB7-93B8-43314ED38AC3}"/>
              </a:ext>
            </a:extLst>
          </p:cNvPr>
          <p:cNvSpPr txBox="1"/>
          <p:nvPr userDrawn="1"/>
        </p:nvSpPr>
        <p:spPr>
          <a:xfrm>
            <a:off x="2253622" y="1026696"/>
            <a:ext cx="781148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sz="7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14448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9306B-43D5-FD53-A0D2-6DC62FCF1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8938875"/>
            <a:ext cx="10515818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CC964B-7385-3EB7-93B8-43314ED38AC3}"/>
              </a:ext>
            </a:extLst>
          </p:cNvPr>
          <p:cNvSpPr txBox="1"/>
          <p:nvPr userDrawn="1"/>
        </p:nvSpPr>
        <p:spPr>
          <a:xfrm>
            <a:off x="2253622" y="1026696"/>
            <a:ext cx="781148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sz="7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79481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Blank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9306B-43D5-FD53-A0D2-6DC62FCF1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8938875"/>
            <a:ext cx="10515818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CC964B-7385-3EB7-93B8-43314ED38AC3}"/>
              </a:ext>
            </a:extLst>
          </p:cNvPr>
          <p:cNvSpPr txBox="1"/>
          <p:nvPr userDrawn="1"/>
        </p:nvSpPr>
        <p:spPr>
          <a:xfrm>
            <a:off x="2253622" y="1026696"/>
            <a:ext cx="781148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sz="7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80158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Blank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9306B-43D5-FD53-A0D2-6DC62FCF1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8938875"/>
            <a:ext cx="10515818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CC964B-7385-3EB7-93B8-43314ED38AC3}"/>
              </a:ext>
            </a:extLst>
          </p:cNvPr>
          <p:cNvSpPr txBox="1"/>
          <p:nvPr userDrawn="1"/>
        </p:nvSpPr>
        <p:spPr>
          <a:xfrm>
            <a:off x="2253622" y="1026696"/>
            <a:ext cx="781148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sz="7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7551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Blank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9306B-43D5-FD53-A0D2-6DC62FCF1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8938875"/>
            <a:ext cx="10515818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CC964B-7385-3EB7-93B8-43314ED38AC3}"/>
              </a:ext>
            </a:extLst>
          </p:cNvPr>
          <p:cNvSpPr txBox="1"/>
          <p:nvPr userDrawn="1"/>
        </p:nvSpPr>
        <p:spPr>
          <a:xfrm>
            <a:off x="2253622" y="1026696"/>
            <a:ext cx="781148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sz="7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86015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Blank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9306B-43D5-FD53-A0D2-6DC62FCF1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8938875"/>
            <a:ext cx="10515818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CC964B-7385-3EB7-93B8-43314ED38AC3}"/>
              </a:ext>
            </a:extLst>
          </p:cNvPr>
          <p:cNvSpPr txBox="1"/>
          <p:nvPr userDrawn="1"/>
        </p:nvSpPr>
        <p:spPr>
          <a:xfrm>
            <a:off x="2253622" y="1026696"/>
            <a:ext cx="781148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sz="7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08953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Blank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9306B-43D5-FD53-A0D2-6DC62FCF1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8938875"/>
            <a:ext cx="10515818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CC964B-7385-3EB7-93B8-43314ED38AC3}"/>
              </a:ext>
            </a:extLst>
          </p:cNvPr>
          <p:cNvSpPr txBox="1"/>
          <p:nvPr userDrawn="1"/>
        </p:nvSpPr>
        <p:spPr>
          <a:xfrm>
            <a:off x="2253622" y="1026696"/>
            <a:ext cx="781148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sz="7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53727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Blank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9306B-43D5-FD53-A0D2-6DC62FCF1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8938875"/>
            <a:ext cx="10515818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CC964B-7385-3EB7-93B8-43314ED38AC3}"/>
              </a:ext>
            </a:extLst>
          </p:cNvPr>
          <p:cNvSpPr txBox="1"/>
          <p:nvPr userDrawn="1"/>
        </p:nvSpPr>
        <p:spPr>
          <a:xfrm>
            <a:off x="2253622" y="1026696"/>
            <a:ext cx="781148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sz="7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39572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Blank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9306B-43D5-FD53-A0D2-6DC62FCF1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8938875"/>
            <a:ext cx="10515818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CC964B-7385-3EB7-93B8-43314ED38AC3}"/>
              </a:ext>
            </a:extLst>
          </p:cNvPr>
          <p:cNvSpPr txBox="1"/>
          <p:nvPr userDrawn="1"/>
        </p:nvSpPr>
        <p:spPr>
          <a:xfrm>
            <a:off x="2253622" y="1026696"/>
            <a:ext cx="781148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sz="7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8889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Blank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9306B-43D5-FD53-A0D2-6DC62FCF1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8938875"/>
            <a:ext cx="10515818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CC964B-7385-3EB7-93B8-43314ED38AC3}"/>
              </a:ext>
            </a:extLst>
          </p:cNvPr>
          <p:cNvSpPr txBox="1"/>
          <p:nvPr userDrawn="1"/>
        </p:nvSpPr>
        <p:spPr>
          <a:xfrm>
            <a:off x="2253622" y="1026696"/>
            <a:ext cx="781148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sz="7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11462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lide Templa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BFC4897-885B-4A5A-9CB9-CE6CCC0CC0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5081451" y="113155"/>
            <a:ext cx="6714309" cy="63718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4378E16-DA49-49C4-B3A3-F81DB15F26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0384974" y="5758847"/>
            <a:ext cx="1551713" cy="914400"/>
          </a:xfrm>
          <a:prstGeom prst="rect">
            <a:avLst/>
          </a:prstGeom>
        </p:spPr>
      </p:pic>
      <p:sp>
        <p:nvSpPr>
          <p:cNvPr id="11" name="Title 13">
            <a:extLst>
              <a:ext uri="{FF2B5EF4-FFF2-40B4-BE49-F238E27FC236}">
                <a16:creationId xmlns:a16="http://schemas.microsoft.com/office/drawing/2014/main" id="{E56EFC27-FA59-43D5-817E-A7DA466684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588" y="344973"/>
            <a:ext cx="11012162" cy="1023747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>
              <a:defRPr sz="4400" b="0" i="0" baseline="0">
                <a:solidFill>
                  <a:schemeClr val="accent2"/>
                </a:solidFill>
                <a:latin typeface="+mj-lt"/>
                <a:ea typeface="Segoe UI Semibold" charset="0"/>
                <a:cs typeface="Segoe UI Semibold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3" name="Shape 78">
            <a:extLst>
              <a:ext uri="{FF2B5EF4-FFF2-40B4-BE49-F238E27FC236}">
                <a16:creationId xmlns:a16="http://schemas.microsoft.com/office/drawing/2014/main" id="{A56A451A-47B4-46C1-8071-AAA7B2F5D56C}"/>
              </a:ext>
            </a:extLst>
          </p:cNvPr>
          <p:cNvSpPr txBox="1">
            <a:spLocks noGrp="1"/>
          </p:cNvSpPr>
          <p:nvPr>
            <p:ph type="body" idx="7" hasCustomPrompt="1"/>
          </p:nvPr>
        </p:nvSpPr>
        <p:spPr>
          <a:xfrm>
            <a:off x="358588" y="1721224"/>
            <a:ext cx="11012162" cy="4536141"/>
          </a:xfrm>
          <a:prstGeom prst="rect">
            <a:avLst/>
          </a:prstGeom>
        </p:spPr>
        <p:txBody>
          <a:bodyPr vert="horz" lIns="0" tIns="91440" rIns="0" bIns="0" rtlCol="0" anchor="t" anchorCtr="0">
            <a:noAutofit/>
          </a:bodyPr>
          <a:lstStyle>
            <a:lvl1pPr marL="457114" indent="-457114">
              <a:buFont typeface="+mj-lt"/>
              <a:buNone/>
              <a:tabLst>
                <a:tab pos="1828800" algn="l"/>
              </a:tabLst>
              <a:defRPr sz="3200" b="1" i="0" dirty="0">
                <a:solidFill>
                  <a:schemeClr val="accent4"/>
                </a:solidFill>
                <a:latin typeface="Segoe UI Semibold" charset="0"/>
                <a:ea typeface="Segoe UI Semibold" charset="0"/>
                <a:cs typeface="Segoe UI Semibold" charset="0"/>
              </a:defRPr>
            </a:lvl1pPr>
          </a:lstStyle>
          <a:p>
            <a:pPr marL="0" lvl="0" indent="0"/>
            <a:r>
              <a:rPr lang="en-US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442843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background with a silhouette of a city&#10;&#10;AI-generated content may be incorrect.">
            <a:extLst>
              <a:ext uri="{FF2B5EF4-FFF2-40B4-BE49-F238E27FC236}">
                <a16:creationId xmlns:a16="http://schemas.microsoft.com/office/drawing/2014/main" id="{0D591352-A335-556D-CB16-F1246919D76C}"/>
              </a:ext>
            </a:extLst>
          </p:cNvPr>
          <p:cNvPicPr>
            <a:picLocks noChangeAspect="1"/>
          </p:cNvPicPr>
          <p:nvPr userDrawn="1"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CE2467-CD3D-F64F-142C-16A5BF370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0F78F-E5C4-55D8-CB66-DFDE0ACB08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B2741-B1B4-D865-8FAD-8181F9826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070270-E84E-4A05-BDBE-19BEB135420D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AC9036-EAEE-B51C-9AA7-712E218217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6DD56-594F-EE1D-E153-75801EDBD4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006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8" r:id="rId18"/>
    <p:sldLayoutId id="2147483670" r:id="rId19"/>
    <p:sldLayoutId id="2147483672" r:id="rId20"/>
    <p:sldLayoutId id="2147483675" r:id="rId21"/>
    <p:sldLayoutId id="2147483676" r:id="rId22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665649"/>
          </a:solidFill>
          <a:latin typeface="Lufga" panose="00000500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6.png"/><Relationship Id="rId7" Type="http://schemas.openxmlformats.org/officeDocument/2006/relationships/image" Target="../media/image28.svg"/><Relationship Id="rId2" Type="http://schemas.openxmlformats.org/officeDocument/2006/relationships/hyperlink" Target="https://github.com/amengoli9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hyperlink" Target="https://frappsec.org/about/" TargetMode="External"/><Relationship Id="rId4" Type="http://schemas.microsoft.com/office/2007/relationships/hdphoto" Target="../media/hdphoto2.wdp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1805C1DE-7E66-FFB4-CA73-EDC51FE14A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379423" y="687574"/>
            <a:ext cx="5433153" cy="3056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EDD5B3F-B5B8-1229-A3FF-B1499D509537}"/>
              </a:ext>
            </a:extLst>
          </p:cNvPr>
          <p:cNvSpPr/>
          <p:nvPr/>
        </p:nvSpPr>
        <p:spPr>
          <a:xfrm>
            <a:off x="0" y="6125498"/>
            <a:ext cx="12192000" cy="584774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A18D89-26EB-FE52-040C-E3BA800F3ADC}"/>
              </a:ext>
            </a:extLst>
          </p:cNvPr>
          <p:cNvSpPr txBox="1"/>
          <p:nvPr/>
        </p:nvSpPr>
        <p:spPr>
          <a:xfrm>
            <a:off x="2064774" y="4345761"/>
            <a:ext cx="8395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665649"/>
                </a:solidFill>
                <a:latin typeface="Lufga" panose="00000500000000000000" pitchFamily="50" charset="0"/>
              </a:rPr>
              <a:t>Part of the </a:t>
            </a:r>
            <a:r>
              <a:rPr lang="en-US" b="1" dirty="0" err="1">
                <a:solidFill>
                  <a:srgbClr val="665649"/>
                </a:solidFill>
                <a:latin typeface="Lufga" panose="00000500000000000000" pitchFamily="50" charset="0"/>
              </a:rPr>
              <a:t>AgentCon</a:t>
            </a:r>
            <a:r>
              <a:rPr lang="en-US" b="1" dirty="0">
                <a:solidFill>
                  <a:srgbClr val="665649"/>
                </a:solidFill>
                <a:latin typeface="Lufga" panose="00000500000000000000" pitchFamily="50" charset="0"/>
              </a:rPr>
              <a:t> World Tour by the Global AI Community</a:t>
            </a:r>
            <a:endParaRPr lang="en-US" dirty="0">
              <a:solidFill>
                <a:srgbClr val="665649"/>
              </a:solidFill>
              <a:latin typeface="Lufga" panose="00000500000000000000" pitchFamily="50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3BDAA9-33A4-C69A-4680-7E745CF32044}"/>
              </a:ext>
            </a:extLst>
          </p:cNvPr>
          <p:cNvSpPr txBox="1"/>
          <p:nvPr/>
        </p:nvSpPr>
        <p:spPr>
          <a:xfrm>
            <a:off x="2966775" y="4693903"/>
            <a:ext cx="65918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i="0" dirty="0">
                <a:solidFill>
                  <a:srgbClr val="665649"/>
                </a:solidFill>
                <a:effectLst/>
                <a:latin typeface="Lufga" panose="00000500000000000000" pitchFamily="50" charset="0"/>
              </a:rPr>
              <a:t>AI Agents Developer Conference</a:t>
            </a:r>
            <a:endParaRPr lang="en-US" sz="3200" dirty="0">
              <a:solidFill>
                <a:srgbClr val="665649"/>
              </a:solidFill>
              <a:latin typeface="Lufga" panose="00000500000000000000" pitchFamily="50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00F17B5-0383-B905-6521-48AD16AF4659}"/>
              </a:ext>
            </a:extLst>
          </p:cNvPr>
          <p:cNvGrpSpPr/>
          <p:nvPr/>
        </p:nvGrpSpPr>
        <p:grpSpPr>
          <a:xfrm>
            <a:off x="2188901" y="6287509"/>
            <a:ext cx="3377277" cy="360904"/>
            <a:chOff x="2244886" y="5792299"/>
            <a:chExt cx="3377277" cy="360904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1F698EB9-6F0E-3955-741B-AC028830EA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44886" y="5805187"/>
              <a:ext cx="1555748" cy="330749"/>
            </a:xfrm>
            <a:prstGeom prst="rect">
              <a:avLst/>
            </a:prstGeom>
          </p:spPr>
        </p:pic>
        <p:pic>
          <p:nvPicPr>
            <p:cNvPr id="21" name="Picture 20" descr="A close up of a logo&#10;&#10;AI-generated content may be incorrect.">
              <a:extLst>
                <a:ext uri="{FF2B5EF4-FFF2-40B4-BE49-F238E27FC236}">
                  <a16:creationId xmlns:a16="http://schemas.microsoft.com/office/drawing/2014/main" id="{98AA9D08-177A-F4F5-5076-04853C88B3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75326" y="5792299"/>
              <a:ext cx="1246837" cy="360904"/>
            </a:xfrm>
            <a:prstGeom prst="rect">
              <a:avLst/>
            </a:prstGeom>
          </p:spPr>
        </p:pic>
      </p:grp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6F2C676-7D78-FBA8-2C72-606D918200C3}"/>
              </a:ext>
            </a:extLst>
          </p:cNvPr>
          <p:cNvSpPr/>
          <p:nvPr/>
        </p:nvSpPr>
        <p:spPr>
          <a:xfrm>
            <a:off x="4813300" y="5438499"/>
            <a:ext cx="2882900" cy="530501"/>
          </a:xfrm>
          <a:prstGeom prst="roundRect">
            <a:avLst/>
          </a:prstGeom>
          <a:solidFill>
            <a:srgbClr val="1321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DD86411-84E4-2AF0-3ACF-D37FB98ADC75}"/>
              </a:ext>
            </a:extLst>
          </p:cNvPr>
          <p:cNvSpPr txBox="1"/>
          <p:nvPr/>
        </p:nvSpPr>
        <p:spPr>
          <a:xfrm>
            <a:off x="4869630" y="5517422"/>
            <a:ext cx="2697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agentcon.city</a:t>
            </a:r>
            <a:r>
              <a:rPr lang="en-US" i="0" dirty="0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/</a:t>
            </a:r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rome</a:t>
            </a:r>
            <a:endParaRPr lang="en-US" dirty="0">
              <a:solidFill>
                <a:srgbClr val="DDD7C0"/>
              </a:solidFill>
              <a:latin typeface="Lufga" panose="00000500000000000000" pitchFamily="50" charset="0"/>
            </a:endParaRPr>
          </a:p>
        </p:txBody>
      </p:sp>
      <p:pic>
        <p:nvPicPr>
          <p:cNvPr id="3" name="Immagine 2" descr="CODE&#10;&#10;Il contenuto generato dall'IA potrebbe non essere corretto.">
            <a:extLst>
              <a:ext uri="{FF2B5EF4-FFF2-40B4-BE49-F238E27FC236}">
                <a16:creationId xmlns:a16="http://schemas.microsoft.com/office/drawing/2014/main" id="{7394218A-9758-65F9-428F-F763E17A89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238" y="6167012"/>
            <a:ext cx="1333073" cy="444357"/>
          </a:xfrm>
          <a:prstGeom prst="rect">
            <a:avLst/>
          </a:prstGeom>
        </p:spPr>
      </p:pic>
      <p:pic>
        <p:nvPicPr>
          <p:cNvPr id="5" name="Immagine 4" descr="NEXT&#10;&#10;Il contenuto generato dall'IA potrebbe non essere corretto.">
            <a:extLst>
              <a:ext uri="{FF2B5EF4-FFF2-40B4-BE49-F238E27FC236}">
                <a16:creationId xmlns:a16="http://schemas.microsoft.com/office/drawing/2014/main" id="{F545B3FF-CB74-BC61-9926-47CB662354C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8989" y="6186788"/>
            <a:ext cx="1333073" cy="444358"/>
          </a:xfrm>
          <a:prstGeom prst="rect">
            <a:avLst/>
          </a:prstGeom>
        </p:spPr>
      </p:pic>
      <p:pic>
        <p:nvPicPr>
          <p:cNvPr id="9" name="Immagine 8" descr="BC Soft offers consulting services for information systems.&#10;&#10;Il contenuto generato dall'IA potrebbe non essere corretto.">
            <a:extLst>
              <a:ext uri="{FF2B5EF4-FFF2-40B4-BE49-F238E27FC236}">
                <a16:creationId xmlns:a16="http://schemas.microsoft.com/office/drawing/2014/main" id="{CE48F1A1-7414-48C5-34C4-53F8682D1D6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6015" y="6195706"/>
            <a:ext cx="1190909" cy="444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424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6F96B1F-47D2-DF36-AA2E-2829CA039501}"/>
              </a:ext>
            </a:extLst>
          </p:cNvPr>
          <p:cNvSpPr/>
          <p:nvPr/>
        </p:nvSpPr>
        <p:spPr>
          <a:xfrm>
            <a:off x="0" y="6125498"/>
            <a:ext cx="12192000" cy="584774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5003053-D0AE-BE01-FEB9-0F6B123F4026}"/>
              </a:ext>
            </a:extLst>
          </p:cNvPr>
          <p:cNvGrpSpPr/>
          <p:nvPr/>
        </p:nvGrpSpPr>
        <p:grpSpPr>
          <a:xfrm>
            <a:off x="2188901" y="6287509"/>
            <a:ext cx="3377277" cy="360904"/>
            <a:chOff x="2244886" y="5792299"/>
            <a:chExt cx="3377277" cy="360904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1BEE8809-E437-FEB1-F5D7-6AB29B4D6F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44886" y="5805187"/>
              <a:ext cx="1555748" cy="330749"/>
            </a:xfrm>
            <a:prstGeom prst="rect">
              <a:avLst/>
            </a:prstGeom>
          </p:spPr>
        </p:pic>
        <p:pic>
          <p:nvPicPr>
            <p:cNvPr id="21" name="Picture 20" descr="A close up of a logo&#10;&#10;AI-generated content may be incorrect.">
              <a:extLst>
                <a:ext uri="{FF2B5EF4-FFF2-40B4-BE49-F238E27FC236}">
                  <a16:creationId xmlns:a16="http://schemas.microsoft.com/office/drawing/2014/main" id="{8EC85F26-5045-3F9E-409F-670D7B5ADF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75326" y="5792299"/>
              <a:ext cx="1246837" cy="360904"/>
            </a:xfrm>
            <a:prstGeom prst="rect">
              <a:avLst/>
            </a:prstGeom>
          </p:spPr>
        </p:pic>
      </p:grp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31BD1E6-4620-7D69-0FE2-88A84A9308AD}"/>
              </a:ext>
            </a:extLst>
          </p:cNvPr>
          <p:cNvSpPr/>
          <p:nvPr/>
        </p:nvSpPr>
        <p:spPr>
          <a:xfrm>
            <a:off x="4813300" y="5438499"/>
            <a:ext cx="2882900" cy="530501"/>
          </a:xfrm>
          <a:prstGeom prst="roundRect">
            <a:avLst/>
          </a:prstGeom>
          <a:solidFill>
            <a:srgbClr val="1321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77671D-2281-E45B-B6A0-53F039CC3DCF}"/>
              </a:ext>
            </a:extLst>
          </p:cNvPr>
          <p:cNvSpPr txBox="1"/>
          <p:nvPr/>
        </p:nvSpPr>
        <p:spPr>
          <a:xfrm>
            <a:off x="4869630" y="5517422"/>
            <a:ext cx="2697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agentcon.city</a:t>
            </a:r>
            <a:r>
              <a:rPr lang="en-US" i="0" dirty="0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/</a:t>
            </a:r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rome</a:t>
            </a:r>
            <a:endParaRPr lang="en-US" dirty="0">
              <a:solidFill>
                <a:srgbClr val="DDD7C0"/>
              </a:solidFill>
              <a:latin typeface="Lufga" panose="00000500000000000000" pitchFamily="50" charset="0"/>
            </a:endParaRPr>
          </a:p>
        </p:txBody>
      </p:sp>
      <p:pic>
        <p:nvPicPr>
          <p:cNvPr id="3" name="Immagine 2" descr="CODE&#10;&#10;Il contenuto generato dall'IA potrebbe non essere corretto.">
            <a:extLst>
              <a:ext uri="{FF2B5EF4-FFF2-40B4-BE49-F238E27FC236}">
                <a16:creationId xmlns:a16="http://schemas.microsoft.com/office/drawing/2014/main" id="{26E26EFB-84ED-3EAD-4D7A-F01C847ED0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238" y="6167012"/>
            <a:ext cx="1333073" cy="444357"/>
          </a:xfrm>
          <a:prstGeom prst="rect">
            <a:avLst/>
          </a:prstGeom>
        </p:spPr>
      </p:pic>
      <p:pic>
        <p:nvPicPr>
          <p:cNvPr id="5" name="Immagine 4" descr="NEXT&#10;&#10;Il contenuto generato dall'IA potrebbe non essere corretto.">
            <a:extLst>
              <a:ext uri="{FF2B5EF4-FFF2-40B4-BE49-F238E27FC236}">
                <a16:creationId xmlns:a16="http://schemas.microsoft.com/office/drawing/2014/main" id="{A8ECE0BA-67F0-AD03-B423-AB0200CDC5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8989" y="6186788"/>
            <a:ext cx="1333073" cy="444358"/>
          </a:xfrm>
          <a:prstGeom prst="rect">
            <a:avLst/>
          </a:prstGeom>
        </p:spPr>
      </p:pic>
      <p:pic>
        <p:nvPicPr>
          <p:cNvPr id="9" name="Immagine 8" descr="BC Soft offers consulting services for information systems.&#10;&#10;Il contenuto generato dall'IA potrebbe non essere corretto.">
            <a:extLst>
              <a:ext uri="{FF2B5EF4-FFF2-40B4-BE49-F238E27FC236}">
                <a16:creationId xmlns:a16="http://schemas.microsoft.com/office/drawing/2014/main" id="{A191C2BF-6DD5-7029-C52D-30D2F8442C7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6015" y="6195706"/>
            <a:ext cx="1190909" cy="44435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40080" y="457200"/>
            <a:ext cx="10911840" cy="1371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200" b="1">
                <a:solidFill>
                  <a:srgbClr val="3B2E21"/>
                </a:solidFill>
                <a:latin typeface="Calibri"/>
              </a:rPr>
              <a:t>Costruire e orchestrare sistemi multi-agent con Microsoft Agent Framework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1828800"/>
            <a:ext cx="1091184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200" b="1">
                <a:solidFill>
                  <a:srgbClr val="D9A000"/>
                </a:solidFill>
                <a:latin typeface="Calibri"/>
              </a:rPr>
              <a:t>Alessandro Mengoli</a:t>
            </a:r>
          </a:p>
        </p:txBody>
      </p:sp>
      <p:pic>
        <p:nvPicPr>
          <p:cNvPr id="27" name="Picture 26" descr="99d65ecb-e3c9-441c-9c3b-9ff67a0a083c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07280" y="2651760"/>
            <a:ext cx="2377440" cy="237744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907280" y="5074920"/>
            <a:ext cx="237744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1F1F1F"/>
                </a:solidFill>
                <a:latin typeface="Calibri"/>
              </a:rPr>
              <a:t>Alessandro Mengoli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025D9-9EFA-C029-7C9A-7A113B494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Made Possible by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7D52C0-F525-E838-9B6F-435F64F0A0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54928" y="4369962"/>
            <a:ext cx="2004786" cy="748036"/>
          </a:xfrm>
          <a:prstGeom prst="rect">
            <a:avLst/>
          </a:prstGeom>
        </p:spPr>
      </p:pic>
      <p:pic>
        <p:nvPicPr>
          <p:cNvPr id="6" name="Picture 5" descr="A close up of a logo&#10;&#10;AI-generated content may be incorrect.">
            <a:extLst>
              <a:ext uri="{FF2B5EF4-FFF2-40B4-BE49-F238E27FC236}">
                <a16:creationId xmlns:a16="http://schemas.microsoft.com/office/drawing/2014/main" id="{3302B3EC-8C44-1009-30CA-48052F5167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5588" y="4473573"/>
            <a:ext cx="2482650" cy="718617"/>
          </a:xfrm>
          <a:prstGeom prst="rect">
            <a:avLst/>
          </a:prstGeom>
        </p:spPr>
      </p:pic>
      <p:pic>
        <p:nvPicPr>
          <p:cNvPr id="7" name="Picture 8">
            <a:extLst>
              <a:ext uri="{FF2B5EF4-FFF2-40B4-BE49-F238E27FC236}">
                <a16:creationId xmlns:a16="http://schemas.microsoft.com/office/drawing/2014/main" id="{E8CBE504-BC5E-7B89-6079-6FC62F92D6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231584" y="2497984"/>
            <a:ext cx="2651477" cy="88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0">
            <a:extLst>
              <a:ext uri="{FF2B5EF4-FFF2-40B4-BE49-F238E27FC236}">
                <a16:creationId xmlns:a16="http://schemas.microsoft.com/office/drawing/2014/main" id="{D8642C60-3FF5-C536-5521-012349436A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81" y="2597669"/>
            <a:ext cx="3205264" cy="684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00FFD53-B0E6-80C3-E0A2-A9D4568196EC}"/>
              </a:ext>
            </a:extLst>
          </p:cNvPr>
          <p:cNvSpPr/>
          <p:nvPr/>
        </p:nvSpPr>
        <p:spPr>
          <a:xfrm>
            <a:off x="2349500" y="2273300"/>
            <a:ext cx="2482650" cy="1325563"/>
          </a:xfrm>
          <a:prstGeom prst="roundRect">
            <a:avLst/>
          </a:prstGeom>
          <a:noFill/>
          <a:ln w="38100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C21BD47-E4C0-5447-0297-F91ACF23EC20}"/>
              </a:ext>
            </a:extLst>
          </p:cNvPr>
          <p:cNvSpPr/>
          <p:nvPr/>
        </p:nvSpPr>
        <p:spPr>
          <a:xfrm>
            <a:off x="6728126" y="2273299"/>
            <a:ext cx="3673173" cy="1325563"/>
          </a:xfrm>
          <a:prstGeom prst="roundRect">
            <a:avLst/>
          </a:prstGeom>
          <a:noFill/>
          <a:ln w="38100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EC34A35-D1D0-4165-5380-8B90C75429EC}"/>
              </a:ext>
            </a:extLst>
          </p:cNvPr>
          <p:cNvSpPr/>
          <p:nvPr/>
        </p:nvSpPr>
        <p:spPr>
          <a:xfrm>
            <a:off x="6728126" y="4081199"/>
            <a:ext cx="3673173" cy="1325563"/>
          </a:xfrm>
          <a:prstGeom prst="roundRect">
            <a:avLst/>
          </a:prstGeom>
          <a:noFill/>
          <a:ln w="38100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0AC8523-49CB-8629-88C5-52327673B87B}"/>
              </a:ext>
            </a:extLst>
          </p:cNvPr>
          <p:cNvSpPr/>
          <p:nvPr/>
        </p:nvSpPr>
        <p:spPr>
          <a:xfrm>
            <a:off x="2315997" y="4081198"/>
            <a:ext cx="2482650" cy="1325563"/>
          </a:xfrm>
          <a:prstGeom prst="roundRect">
            <a:avLst/>
          </a:prstGeom>
          <a:noFill/>
          <a:ln w="38100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0503F4EE-E8D1-A39A-2232-D9A0B163765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59714" y="5663686"/>
            <a:ext cx="2487571" cy="829189"/>
          </a:xfrm>
          <a:prstGeom prst="rect">
            <a:avLst/>
          </a:prstGeom>
        </p:spPr>
      </p:pic>
      <p:sp>
        <p:nvSpPr>
          <p:cNvPr id="4" name="Rectangle: Rounded Corners 11">
            <a:extLst>
              <a:ext uri="{FF2B5EF4-FFF2-40B4-BE49-F238E27FC236}">
                <a16:creationId xmlns:a16="http://schemas.microsoft.com/office/drawing/2014/main" id="{BB2193BF-4AF9-F700-AB72-CB0161C59266}"/>
              </a:ext>
            </a:extLst>
          </p:cNvPr>
          <p:cNvSpPr/>
          <p:nvPr/>
        </p:nvSpPr>
        <p:spPr>
          <a:xfrm>
            <a:off x="4559714" y="5443368"/>
            <a:ext cx="2482650" cy="1325563"/>
          </a:xfrm>
          <a:prstGeom prst="roundRect">
            <a:avLst/>
          </a:prstGeom>
          <a:noFill/>
          <a:ln w="38100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223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F860C59-0C02-CDA0-2E1A-6677D855C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7474349-08D2-4AC2-39B7-5B198D742F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8136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 descr="Immagine che contiene Viso umano, uomo, vestiti, testo&#10;&#10;Il contenuto generato dall'IA potrebbe non essere corretto.">
            <a:extLst>
              <a:ext uri="{FF2B5EF4-FFF2-40B4-BE49-F238E27FC236}">
                <a16:creationId xmlns:a16="http://schemas.microsoft.com/office/drawing/2014/main" id="{C9703238-C64B-700A-7E5A-576D50940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7441" y="221748"/>
            <a:ext cx="6433260" cy="6414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062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8DB7A-D38E-4574-E3EA-8CA7C6D8A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D654EF9-6F4E-9CEF-F750-F9557FF8C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26075"/>
          </a:xfrm>
        </p:spPr>
        <p:txBody>
          <a:bodyPr>
            <a:normAutofit/>
          </a:bodyPr>
          <a:lstStyle/>
          <a:p>
            <a:r>
              <a:rPr lang="en-US" sz="6600" dirty="0"/>
              <a:t>“If you can write a function to handle the task, do that instead of using an AI agent.”</a:t>
            </a:r>
            <a:br>
              <a:rPr lang="en-US" sz="6600" dirty="0"/>
            </a:br>
            <a:endParaRPr lang="it-IT" sz="6600" dirty="0"/>
          </a:p>
        </p:txBody>
      </p:sp>
    </p:spTree>
    <p:extLst>
      <p:ext uri="{BB962C8B-B14F-4D97-AF65-F5344CB8AC3E}">
        <p14:creationId xmlns:p14="http://schemas.microsoft.com/office/powerpoint/2010/main" val="3741041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BB120-89F2-5326-AB57-D560F4E1A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FF27EDA-0556-20E9-4A2E-B5C68A635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6B55F37-DA18-0B91-05F2-1EDA3B3E2B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14813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48C5A1D5-D407-2861-8403-D2E6751C8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A5E34805-67F7-43D0-F51D-7B425AF2B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53207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6444B-B067-73BB-3163-E12B35CC0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I Agent">
            <a:extLst>
              <a:ext uri="{FF2B5EF4-FFF2-40B4-BE49-F238E27FC236}">
                <a16:creationId xmlns:a16="http://schemas.microsoft.com/office/drawing/2014/main" id="{2CB39FB1-7811-A8F9-3F16-C7C216619F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06512" y="361553"/>
            <a:ext cx="6578975" cy="6134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652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CBFFE-C930-88D6-D815-906E9612C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F667DFC0-4C17-097A-6DFB-F164C7318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1DEA2EB8-6697-B1ED-B569-7BFAB2B69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599082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37008-62CB-FFEC-0CD0-6A0CDC2AE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E248C99E-4285-12FC-BE6A-DB7BB4D8E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r>
              <a:rPr lang="it-IT" dirty="0"/>
              <a:t>Da dove partiamo?</a:t>
            </a:r>
          </a:p>
        </p:txBody>
      </p:sp>
    </p:spTree>
    <p:extLst>
      <p:ext uri="{BB962C8B-B14F-4D97-AF65-F5344CB8AC3E}">
        <p14:creationId xmlns:p14="http://schemas.microsoft.com/office/powerpoint/2010/main" val="12389798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59AC8-D9DD-7239-679C-BDEAC329D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a woman is sitting at a desk with her hands on her head and the words so much stuff behind her">
            <a:extLst>
              <a:ext uri="{FF2B5EF4-FFF2-40B4-BE49-F238E27FC236}">
                <a16:creationId xmlns:a16="http://schemas.microsoft.com/office/drawing/2014/main" id="{03964A4D-C255-6DB5-043E-4E62618B0F5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2648" y="1717654"/>
            <a:ext cx="4986704" cy="3422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28035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BFE93-5E3F-3527-1373-9C729C0F0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6D77C898-5E23-1114-5748-D07F9127B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18618"/>
            <a:ext cx="10515600" cy="1325563"/>
          </a:xfrm>
        </p:spPr>
        <p:txBody>
          <a:bodyPr>
            <a:normAutofit/>
          </a:bodyPr>
          <a:lstStyle/>
          <a:p>
            <a:r>
              <a:rPr lang="it-IT" dirty="0"/>
              <a:t>Cosa possiamo fare in .NET?</a:t>
            </a:r>
            <a:br>
              <a:rPr lang="it-IT" dirty="0"/>
            </a:b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0101038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87486-4098-0147-7C1B-6B960917E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AFB3E01-D4BC-FD5A-09AB-039706EDC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6C71387-9EF2-AF57-DF67-5F2102ACAE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586044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6673C-A194-7321-1E1A-AC0E095BE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69CA1FC2-099E-09CB-704F-625AB960B907}"/>
              </a:ext>
            </a:extLst>
          </p:cNvPr>
          <p:cNvSpPr/>
          <p:nvPr/>
        </p:nvSpPr>
        <p:spPr>
          <a:xfrm>
            <a:off x="2017381" y="4449263"/>
            <a:ext cx="8599152" cy="1494008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200" dirty="0"/>
              <a:t>MICROSOFT EXTENSION AI ABSTRACTIONS</a:t>
            </a:r>
          </a:p>
        </p:txBody>
      </p:sp>
    </p:spTree>
    <p:extLst>
      <p:ext uri="{BB962C8B-B14F-4D97-AF65-F5344CB8AC3E}">
        <p14:creationId xmlns:p14="http://schemas.microsoft.com/office/powerpoint/2010/main" val="916871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CF07D-9107-AC3F-A1BC-0759B1043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AAEBDEE0-7FBD-DC65-9CFB-32ECF69BE03E}"/>
              </a:ext>
            </a:extLst>
          </p:cNvPr>
          <p:cNvSpPr/>
          <p:nvPr/>
        </p:nvSpPr>
        <p:spPr>
          <a:xfrm>
            <a:off x="2017381" y="4449263"/>
            <a:ext cx="8599152" cy="1494008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200" dirty="0"/>
              <a:t>MICROSOFT EXTENSION AI ABSTRACTIONS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2D1522BC-FD4A-F452-33FA-45D37181D70A}"/>
              </a:ext>
            </a:extLst>
          </p:cNvPr>
          <p:cNvSpPr txBox="1"/>
          <p:nvPr/>
        </p:nvSpPr>
        <p:spPr>
          <a:xfrm>
            <a:off x="2204385" y="1714629"/>
            <a:ext cx="173846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>
                <a:solidFill>
                  <a:srgbClr val="665649"/>
                </a:solidFill>
              </a:rPr>
              <a:t>SEMANTIC  KERNEL</a:t>
            </a:r>
          </a:p>
          <a:p>
            <a:pPr algn="ctr"/>
            <a:endParaRPr lang="it-IT" sz="2000" dirty="0">
              <a:solidFill>
                <a:srgbClr val="665649"/>
              </a:solidFill>
            </a:endParaRPr>
          </a:p>
          <a:p>
            <a:pPr algn="ctr"/>
            <a:r>
              <a:rPr lang="it-IT" sz="2000" dirty="0">
                <a:solidFill>
                  <a:srgbClr val="665649"/>
                </a:solidFill>
              </a:rPr>
              <a:t>AUTOGEN</a:t>
            </a:r>
          </a:p>
        </p:txBody>
      </p:sp>
    </p:spTree>
    <p:extLst>
      <p:ext uri="{BB962C8B-B14F-4D97-AF65-F5344CB8AC3E}">
        <p14:creationId xmlns:p14="http://schemas.microsoft.com/office/powerpoint/2010/main" val="5692824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A7254-F76D-FFA6-FED3-E11C18A29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751E06E2-84D0-B0CE-03AF-AAFC3D8A2B71}"/>
              </a:ext>
            </a:extLst>
          </p:cNvPr>
          <p:cNvSpPr/>
          <p:nvPr/>
        </p:nvSpPr>
        <p:spPr>
          <a:xfrm>
            <a:off x="5156017" y="1232750"/>
            <a:ext cx="5815355" cy="238120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200" dirty="0"/>
              <a:t>MICROSOFT AGENT FRAMEWORK</a:t>
            </a:r>
          </a:p>
        </p:txBody>
      </p: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08D28D35-3157-54FB-3D09-4F19A1BEAED1}"/>
              </a:ext>
            </a:extLst>
          </p:cNvPr>
          <p:cNvSpPr/>
          <p:nvPr/>
        </p:nvSpPr>
        <p:spPr>
          <a:xfrm>
            <a:off x="2017381" y="4449263"/>
            <a:ext cx="8599152" cy="1494008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200" dirty="0"/>
              <a:t>MICROSOFT EXTENSION AI ABSTRACTIONS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55E61AEC-FA76-DBDA-F874-D8FCB2F4782C}"/>
              </a:ext>
            </a:extLst>
          </p:cNvPr>
          <p:cNvSpPr txBox="1"/>
          <p:nvPr/>
        </p:nvSpPr>
        <p:spPr>
          <a:xfrm>
            <a:off x="2204385" y="1714629"/>
            <a:ext cx="173846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SEMANTIC  KERNEL</a:t>
            </a:r>
          </a:p>
          <a:p>
            <a:pPr algn="ctr"/>
            <a:endParaRPr lang="it-IT" sz="20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it-IT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AUTOGEN</a:t>
            </a:r>
          </a:p>
        </p:txBody>
      </p:sp>
      <p:cxnSp>
        <p:nvCxnSpPr>
          <p:cNvPr id="5" name="Connettore 2 4">
            <a:extLst>
              <a:ext uri="{FF2B5EF4-FFF2-40B4-BE49-F238E27FC236}">
                <a16:creationId xmlns:a16="http://schemas.microsoft.com/office/drawing/2014/main" id="{4A5F4023-FB25-9123-011B-ECED270A4E7D}"/>
              </a:ext>
            </a:extLst>
          </p:cNvPr>
          <p:cNvCxnSpPr>
            <a:cxnSpLocks/>
          </p:cNvCxnSpPr>
          <p:nvPr/>
        </p:nvCxnSpPr>
        <p:spPr>
          <a:xfrm>
            <a:off x="3942851" y="1971472"/>
            <a:ext cx="1148226" cy="0"/>
          </a:xfrm>
          <a:prstGeom prst="straightConnector1">
            <a:avLst/>
          </a:prstGeom>
          <a:ln w="38100">
            <a:solidFill>
              <a:srgbClr val="EDEF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F899B894-4CAE-7549-C62F-0034C657C783}"/>
              </a:ext>
            </a:extLst>
          </p:cNvPr>
          <p:cNvCxnSpPr>
            <a:cxnSpLocks/>
          </p:cNvCxnSpPr>
          <p:nvPr/>
        </p:nvCxnSpPr>
        <p:spPr>
          <a:xfrm>
            <a:off x="4007791" y="2728733"/>
            <a:ext cx="1083285" cy="0"/>
          </a:xfrm>
          <a:prstGeom prst="straightConnector1">
            <a:avLst/>
          </a:prstGeom>
          <a:ln w="38100">
            <a:solidFill>
              <a:srgbClr val="EDEF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10429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8171D-DC41-960E-060F-CBFB15392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401E544B-D6EB-4A7D-FCBF-E4673B0A1A9F}"/>
              </a:ext>
            </a:extLst>
          </p:cNvPr>
          <p:cNvSpPr/>
          <p:nvPr/>
        </p:nvSpPr>
        <p:spPr>
          <a:xfrm>
            <a:off x="5156017" y="1232750"/>
            <a:ext cx="5815355" cy="238120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200" dirty="0"/>
              <a:t>MICROSOFT AGENT FRAMEWORK</a:t>
            </a:r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1414CCF3-D401-FEBE-C0A6-45E42777EB1F}"/>
              </a:ext>
            </a:extLst>
          </p:cNvPr>
          <p:cNvSpPr/>
          <p:nvPr/>
        </p:nvSpPr>
        <p:spPr>
          <a:xfrm>
            <a:off x="2017381" y="4449263"/>
            <a:ext cx="8599152" cy="1494008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200" dirty="0"/>
              <a:t>MICROSOFT EXTENSION AI ABSTRACTIONS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D74716D5-8658-38DF-BC56-F14B18D49E3A}"/>
              </a:ext>
            </a:extLst>
          </p:cNvPr>
          <p:cNvSpPr txBox="1"/>
          <p:nvPr/>
        </p:nvSpPr>
        <p:spPr>
          <a:xfrm>
            <a:off x="2204385" y="1714629"/>
            <a:ext cx="173846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SEMANTIC  KERNEL</a:t>
            </a:r>
          </a:p>
          <a:p>
            <a:pPr algn="ctr"/>
            <a:endParaRPr lang="it-IT" sz="20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it-IT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AUTOGEN</a:t>
            </a:r>
          </a:p>
        </p:txBody>
      </p: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A8DB4551-345A-9372-3AC7-79C67F6A76DD}"/>
              </a:ext>
            </a:extLst>
          </p:cNvPr>
          <p:cNvCxnSpPr>
            <a:cxnSpLocks/>
          </p:cNvCxnSpPr>
          <p:nvPr/>
        </p:nvCxnSpPr>
        <p:spPr>
          <a:xfrm>
            <a:off x="3942851" y="1971472"/>
            <a:ext cx="1148226" cy="0"/>
          </a:xfrm>
          <a:prstGeom prst="straightConnector1">
            <a:avLst/>
          </a:prstGeom>
          <a:ln w="38100">
            <a:solidFill>
              <a:srgbClr val="EDEF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9233DFBB-C6E9-F1A8-B10A-0BBF2ADCC2A8}"/>
              </a:ext>
            </a:extLst>
          </p:cNvPr>
          <p:cNvCxnSpPr>
            <a:cxnSpLocks/>
          </p:cNvCxnSpPr>
          <p:nvPr/>
        </p:nvCxnSpPr>
        <p:spPr>
          <a:xfrm>
            <a:off x="4007791" y="2728733"/>
            <a:ext cx="1083285" cy="0"/>
          </a:xfrm>
          <a:prstGeom prst="straightConnector1">
            <a:avLst/>
          </a:prstGeom>
          <a:ln w="38100">
            <a:solidFill>
              <a:srgbClr val="EDEF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uppo 20">
            <a:extLst>
              <a:ext uri="{FF2B5EF4-FFF2-40B4-BE49-F238E27FC236}">
                <a16:creationId xmlns:a16="http://schemas.microsoft.com/office/drawing/2014/main" id="{0FAB38AA-FD92-2FFD-12BE-8019A5ACD55F}"/>
              </a:ext>
            </a:extLst>
          </p:cNvPr>
          <p:cNvGrpSpPr/>
          <p:nvPr/>
        </p:nvGrpSpPr>
        <p:grpSpPr>
          <a:xfrm>
            <a:off x="9465789" y="5071484"/>
            <a:ext cx="949063" cy="558832"/>
            <a:chOff x="1560444" y="6055142"/>
            <a:chExt cx="2848900" cy="1677503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7" name="Cubo 6">
              <a:extLst>
                <a:ext uri="{FF2B5EF4-FFF2-40B4-BE49-F238E27FC236}">
                  <a16:creationId xmlns:a16="http://schemas.microsoft.com/office/drawing/2014/main" id="{E755B585-48A3-7E85-BA56-8EBF1A250CBD}"/>
                </a:ext>
              </a:extLst>
            </p:cNvPr>
            <p:cNvSpPr/>
            <p:nvPr/>
          </p:nvSpPr>
          <p:spPr>
            <a:xfrm>
              <a:off x="1560444" y="6154534"/>
              <a:ext cx="2848900" cy="1578111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900"/>
            </a:p>
          </p:txBody>
        </p:sp>
        <p:sp>
          <p:nvSpPr>
            <p:cNvPr id="14" name="Cilindro 13">
              <a:extLst>
                <a:ext uri="{FF2B5EF4-FFF2-40B4-BE49-F238E27FC236}">
                  <a16:creationId xmlns:a16="http://schemas.microsoft.com/office/drawing/2014/main" id="{EB2FD3D9-8C14-41CE-7E23-DB3BA2CC10C6}"/>
                </a:ext>
              </a:extLst>
            </p:cNvPr>
            <p:cNvSpPr/>
            <p:nvPr/>
          </p:nvSpPr>
          <p:spPr>
            <a:xfrm>
              <a:off x="1859612" y="6237910"/>
              <a:ext cx="266605" cy="258028"/>
            </a:xfrm>
            <a:prstGeom prst="ca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900"/>
            </a:p>
          </p:txBody>
        </p:sp>
        <p:sp>
          <p:nvSpPr>
            <p:cNvPr id="16" name="Cilindro 15">
              <a:extLst>
                <a:ext uri="{FF2B5EF4-FFF2-40B4-BE49-F238E27FC236}">
                  <a16:creationId xmlns:a16="http://schemas.microsoft.com/office/drawing/2014/main" id="{294AF610-2B19-5234-BC07-203752E0850B}"/>
                </a:ext>
              </a:extLst>
            </p:cNvPr>
            <p:cNvSpPr/>
            <p:nvPr/>
          </p:nvSpPr>
          <p:spPr>
            <a:xfrm>
              <a:off x="2182951" y="6055142"/>
              <a:ext cx="266605" cy="258028"/>
            </a:xfrm>
            <a:prstGeom prst="ca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900"/>
            </a:p>
          </p:txBody>
        </p:sp>
        <p:sp>
          <p:nvSpPr>
            <p:cNvPr id="17" name="Cilindro 16">
              <a:extLst>
                <a:ext uri="{FF2B5EF4-FFF2-40B4-BE49-F238E27FC236}">
                  <a16:creationId xmlns:a16="http://schemas.microsoft.com/office/drawing/2014/main" id="{68DC2D6E-C1A4-F9F3-BB03-28D584D67997}"/>
                </a:ext>
              </a:extLst>
            </p:cNvPr>
            <p:cNvSpPr/>
            <p:nvPr/>
          </p:nvSpPr>
          <p:spPr>
            <a:xfrm>
              <a:off x="2702870" y="6237910"/>
              <a:ext cx="266605" cy="258028"/>
            </a:xfrm>
            <a:prstGeom prst="ca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900"/>
            </a:p>
          </p:txBody>
        </p:sp>
        <p:sp>
          <p:nvSpPr>
            <p:cNvPr id="18" name="Cilindro 17">
              <a:extLst>
                <a:ext uri="{FF2B5EF4-FFF2-40B4-BE49-F238E27FC236}">
                  <a16:creationId xmlns:a16="http://schemas.microsoft.com/office/drawing/2014/main" id="{A686CB53-EDFA-1C44-F63A-9C0DE65C2B6A}"/>
                </a:ext>
              </a:extLst>
            </p:cNvPr>
            <p:cNvSpPr/>
            <p:nvPr/>
          </p:nvSpPr>
          <p:spPr>
            <a:xfrm>
              <a:off x="3026209" y="6055142"/>
              <a:ext cx="266605" cy="258028"/>
            </a:xfrm>
            <a:prstGeom prst="ca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900"/>
            </a:p>
          </p:txBody>
        </p:sp>
        <p:sp>
          <p:nvSpPr>
            <p:cNvPr id="19" name="Cilindro 18">
              <a:extLst>
                <a:ext uri="{FF2B5EF4-FFF2-40B4-BE49-F238E27FC236}">
                  <a16:creationId xmlns:a16="http://schemas.microsoft.com/office/drawing/2014/main" id="{361AD961-96DD-8974-8AC0-6738BE4D8208}"/>
                </a:ext>
              </a:extLst>
            </p:cNvPr>
            <p:cNvSpPr/>
            <p:nvPr/>
          </p:nvSpPr>
          <p:spPr>
            <a:xfrm>
              <a:off x="3544498" y="6237910"/>
              <a:ext cx="266605" cy="258028"/>
            </a:xfrm>
            <a:prstGeom prst="ca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900"/>
            </a:p>
          </p:txBody>
        </p:sp>
        <p:sp>
          <p:nvSpPr>
            <p:cNvPr id="20" name="Cilindro 19">
              <a:extLst>
                <a:ext uri="{FF2B5EF4-FFF2-40B4-BE49-F238E27FC236}">
                  <a16:creationId xmlns:a16="http://schemas.microsoft.com/office/drawing/2014/main" id="{F3CAF3D2-8439-724F-A4DD-66BBD4DC5900}"/>
                </a:ext>
              </a:extLst>
            </p:cNvPr>
            <p:cNvSpPr/>
            <p:nvPr/>
          </p:nvSpPr>
          <p:spPr>
            <a:xfrm>
              <a:off x="3867837" y="6055142"/>
              <a:ext cx="266605" cy="258028"/>
            </a:xfrm>
            <a:prstGeom prst="ca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900"/>
            </a:p>
          </p:txBody>
        </p:sp>
      </p:grpSp>
    </p:spTree>
    <p:extLst>
      <p:ext uri="{BB962C8B-B14F-4D97-AF65-F5344CB8AC3E}">
        <p14:creationId xmlns:p14="http://schemas.microsoft.com/office/powerpoint/2010/main" val="23250473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1BCDC-2FA3-3B5A-16F1-74046E7B1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90119A4A-A41C-3CED-7A7F-4194F9DFA8ED}"/>
              </a:ext>
            </a:extLst>
          </p:cNvPr>
          <p:cNvSpPr/>
          <p:nvPr/>
        </p:nvSpPr>
        <p:spPr>
          <a:xfrm>
            <a:off x="5156017" y="1232750"/>
            <a:ext cx="5815355" cy="238120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200" dirty="0"/>
              <a:t>MICROSOFT AGENT FRAMEWORK</a:t>
            </a:r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4010A845-6E05-86B9-03B8-24C9753C8C26}"/>
              </a:ext>
            </a:extLst>
          </p:cNvPr>
          <p:cNvSpPr/>
          <p:nvPr/>
        </p:nvSpPr>
        <p:spPr>
          <a:xfrm>
            <a:off x="2017381" y="4449263"/>
            <a:ext cx="8599152" cy="1494008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200" dirty="0"/>
              <a:t>MICROSOFT EXTENSION AI ABSTRACTIONS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812887BD-F08D-790D-AABB-1170E543FF90}"/>
              </a:ext>
            </a:extLst>
          </p:cNvPr>
          <p:cNvSpPr txBox="1"/>
          <p:nvPr/>
        </p:nvSpPr>
        <p:spPr>
          <a:xfrm>
            <a:off x="2204385" y="1714629"/>
            <a:ext cx="173846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SEMANTIC  KERNEL</a:t>
            </a:r>
          </a:p>
          <a:p>
            <a:pPr algn="ctr"/>
            <a:endParaRPr lang="it-IT" sz="20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it-IT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AUTOGEN</a:t>
            </a:r>
          </a:p>
        </p:txBody>
      </p: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447AC9E0-6AE6-2402-7A96-793DC22EA21A}"/>
              </a:ext>
            </a:extLst>
          </p:cNvPr>
          <p:cNvCxnSpPr>
            <a:cxnSpLocks/>
          </p:cNvCxnSpPr>
          <p:nvPr/>
        </p:nvCxnSpPr>
        <p:spPr>
          <a:xfrm>
            <a:off x="3942851" y="1971472"/>
            <a:ext cx="1148226" cy="0"/>
          </a:xfrm>
          <a:prstGeom prst="straightConnector1">
            <a:avLst/>
          </a:prstGeom>
          <a:ln w="38100">
            <a:solidFill>
              <a:srgbClr val="EDEF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576B3646-9225-A75E-6C2D-9A728E656FE2}"/>
              </a:ext>
            </a:extLst>
          </p:cNvPr>
          <p:cNvCxnSpPr>
            <a:cxnSpLocks/>
          </p:cNvCxnSpPr>
          <p:nvPr/>
        </p:nvCxnSpPr>
        <p:spPr>
          <a:xfrm>
            <a:off x="4007791" y="2728733"/>
            <a:ext cx="1083285" cy="0"/>
          </a:xfrm>
          <a:prstGeom prst="straightConnector1">
            <a:avLst/>
          </a:prstGeom>
          <a:ln w="38100">
            <a:solidFill>
              <a:srgbClr val="EDEF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uppo 20">
            <a:extLst>
              <a:ext uri="{FF2B5EF4-FFF2-40B4-BE49-F238E27FC236}">
                <a16:creationId xmlns:a16="http://schemas.microsoft.com/office/drawing/2014/main" id="{7426E94D-939E-4CE4-815F-CCB402DC34B8}"/>
              </a:ext>
            </a:extLst>
          </p:cNvPr>
          <p:cNvGrpSpPr/>
          <p:nvPr/>
        </p:nvGrpSpPr>
        <p:grpSpPr>
          <a:xfrm>
            <a:off x="9465789" y="5071484"/>
            <a:ext cx="949063" cy="558832"/>
            <a:chOff x="1560444" y="6055142"/>
            <a:chExt cx="2848900" cy="1677503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7" name="Cubo 6">
              <a:extLst>
                <a:ext uri="{FF2B5EF4-FFF2-40B4-BE49-F238E27FC236}">
                  <a16:creationId xmlns:a16="http://schemas.microsoft.com/office/drawing/2014/main" id="{4EA72400-3867-5B05-2C68-2A4D80D9DC37}"/>
                </a:ext>
              </a:extLst>
            </p:cNvPr>
            <p:cNvSpPr/>
            <p:nvPr/>
          </p:nvSpPr>
          <p:spPr>
            <a:xfrm>
              <a:off x="1560444" y="6154534"/>
              <a:ext cx="2848900" cy="1578111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900"/>
            </a:p>
          </p:txBody>
        </p:sp>
        <p:sp>
          <p:nvSpPr>
            <p:cNvPr id="14" name="Cilindro 13">
              <a:extLst>
                <a:ext uri="{FF2B5EF4-FFF2-40B4-BE49-F238E27FC236}">
                  <a16:creationId xmlns:a16="http://schemas.microsoft.com/office/drawing/2014/main" id="{232E8899-6AFA-9102-E355-1E3B2E0FA159}"/>
                </a:ext>
              </a:extLst>
            </p:cNvPr>
            <p:cNvSpPr/>
            <p:nvPr/>
          </p:nvSpPr>
          <p:spPr>
            <a:xfrm>
              <a:off x="1859612" y="6237910"/>
              <a:ext cx="266605" cy="258028"/>
            </a:xfrm>
            <a:prstGeom prst="ca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900"/>
            </a:p>
          </p:txBody>
        </p:sp>
        <p:sp>
          <p:nvSpPr>
            <p:cNvPr id="16" name="Cilindro 15">
              <a:extLst>
                <a:ext uri="{FF2B5EF4-FFF2-40B4-BE49-F238E27FC236}">
                  <a16:creationId xmlns:a16="http://schemas.microsoft.com/office/drawing/2014/main" id="{79E820DB-BE7D-0448-A14B-8F4937151802}"/>
                </a:ext>
              </a:extLst>
            </p:cNvPr>
            <p:cNvSpPr/>
            <p:nvPr/>
          </p:nvSpPr>
          <p:spPr>
            <a:xfrm>
              <a:off x="2182951" y="6055142"/>
              <a:ext cx="266605" cy="258028"/>
            </a:xfrm>
            <a:prstGeom prst="ca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900"/>
            </a:p>
          </p:txBody>
        </p:sp>
        <p:sp>
          <p:nvSpPr>
            <p:cNvPr id="17" name="Cilindro 16">
              <a:extLst>
                <a:ext uri="{FF2B5EF4-FFF2-40B4-BE49-F238E27FC236}">
                  <a16:creationId xmlns:a16="http://schemas.microsoft.com/office/drawing/2014/main" id="{73E978A2-E86B-DA36-4076-C267ACDB98F0}"/>
                </a:ext>
              </a:extLst>
            </p:cNvPr>
            <p:cNvSpPr/>
            <p:nvPr/>
          </p:nvSpPr>
          <p:spPr>
            <a:xfrm>
              <a:off x="2702870" y="6237910"/>
              <a:ext cx="266605" cy="258028"/>
            </a:xfrm>
            <a:prstGeom prst="ca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900"/>
            </a:p>
          </p:txBody>
        </p:sp>
        <p:sp>
          <p:nvSpPr>
            <p:cNvPr id="18" name="Cilindro 17">
              <a:extLst>
                <a:ext uri="{FF2B5EF4-FFF2-40B4-BE49-F238E27FC236}">
                  <a16:creationId xmlns:a16="http://schemas.microsoft.com/office/drawing/2014/main" id="{1F551C32-34C9-4299-0051-0308844AFECF}"/>
                </a:ext>
              </a:extLst>
            </p:cNvPr>
            <p:cNvSpPr/>
            <p:nvPr/>
          </p:nvSpPr>
          <p:spPr>
            <a:xfrm>
              <a:off x="3026209" y="6055142"/>
              <a:ext cx="266605" cy="258028"/>
            </a:xfrm>
            <a:prstGeom prst="ca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900"/>
            </a:p>
          </p:txBody>
        </p:sp>
        <p:sp>
          <p:nvSpPr>
            <p:cNvPr id="19" name="Cilindro 18">
              <a:extLst>
                <a:ext uri="{FF2B5EF4-FFF2-40B4-BE49-F238E27FC236}">
                  <a16:creationId xmlns:a16="http://schemas.microsoft.com/office/drawing/2014/main" id="{690760B1-FC5E-5865-41A1-DD3C36CBD5F0}"/>
                </a:ext>
              </a:extLst>
            </p:cNvPr>
            <p:cNvSpPr/>
            <p:nvPr/>
          </p:nvSpPr>
          <p:spPr>
            <a:xfrm>
              <a:off x="3544498" y="6237910"/>
              <a:ext cx="266605" cy="258028"/>
            </a:xfrm>
            <a:prstGeom prst="ca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900"/>
            </a:p>
          </p:txBody>
        </p:sp>
        <p:sp>
          <p:nvSpPr>
            <p:cNvPr id="20" name="Cilindro 19">
              <a:extLst>
                <a:ext uri="{FF2B5EF4-FFF2-40B4-BE49-F238E27FC236}">
                  <a16:creationId xmlns:a16="http://schemas.microsoft.com/office/drawing/2014/main" id="{C313FAEC-0191-4FDD-14E8-39994FDA44E0}"/>
                </a:ext>
              </a:extLst>
            </p:cNvPr>
            <p:cNvSpPr/>
            <p:nvPr/>
          </p:nvSpPr>
          <p:spPr>
            <a:xfrm>
              <a:off x="3867837" y="6055142"/>
              <a:ext cx="266605" cy="258028"/>
            </a:xfrm>
            <a:prstGeom prst="ca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900"/>
            </a:p>
          </p:txBody>
        </p:sp>
      </p:grpSp>
      <p:grpSp>
        <p:nvGrpSpPr>
          <p:cNvPr id="22" name="Gruppo 21">
            <a:extLst>
              <a:ext uri="{FF2B5EF4-FFF2-40B4-BE49-F238E27FC236}">
                <a16:creationId xmlns:a16="http://schemas.microsoft.com/office/drawing/2014/main" id="{A1138149-4133-3871-B9FE-DF544F425FF9}"/>
              </a:ext>
            </a:extLst>
          </p:cNvPr>
          <p:cNvGrpSpPr/>
          <p:nvPr/>
        </p:nvGrpSpPr>
        <p:grpSpPr>
          <a:xfrm>
            <a:off x="6510940" y="2882251"/>
            <a:ext cx="949063" cy="558832"/>
            <a:chOff x="1560444" y="6055142"/>
            <a:chExt cx="2848900" cy="1677503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23" name="Cubo 22">
              <a:extLst>
                <a:ext uri="{FF2B5EF4-FFF2-40B4-BE49-F238E27FC236}">
                  <a16:creationId xmlns:a16="http://schemas.microsoft.com/office/drawing/2014/main" id="{05CAE6E6-5311-9F74-C922-8DA87235D720}"/>
                </a:ext>
              </a:extLst>
            </p:cNvPr>
            <p:cNvSpPr/>
            <p:nvPr/>
          </p:nvSpPr>
          <p:spPr>
            <a:xfrm>
              <a:off x="1560444" y="6154534"/>
              <a:ext cx="2848900" cy="1578111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900"/>
            </a:p>
          </p:txBody>
        </p:sp>
        <p:sp>
          <p:nvSpPr>
            <p:cNvPr id="24" name="Cilindro 23">
              <a:extLst>
                <a:ext uri="{FF2B5EF4-FFF2-40B4-BE49-F238E27FC236}">
                  <a16:creationId xmlns:a16="http://schemas.microsoft.com/office/drawing/2014/main" id="{966A2576-A803-51E6-A273-DA11D8E45BA4}"/>
                </a:ext>
              </a:extLst>
            </p:cNvPr>
            <p:cNvSpPr/>
            <p:nvPr/>
          </p:nvSpPr>
          <p:spPr>
            <a:xfrm>
              <a:off x="1859612" y="6237910"/>
              <a:ext cx="266605" cy="258028"/>
            </a:xfrm>
            <a:prstGeom prst="ca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900"/>
            </a:p>
          </p:txBody>
        </p:sp>
        <p:sp>
          <p:nvSpPr>
            <p:cNvPr id="25" name="Cilindro 24">
              <a:extLst>
                <a:ext uri="{FF2B5EF4-FFF2-40B4-BE49-F238E27FC236}">
                  <a16:creationId xmlns:a16="http://schemas.microsoft.com/office/drawing/2014/main" id="{BEA3C35A-F730-3297-2E5F-1B52C0EC5DDE}"/>
                </a:ext>
              </a:extLst>
            </p:cNvPr>
            <p:cNvSpPr/>
            <p:nvPr/>
          </p:nvSpPr>
          <p:spPr>
            <a:xfrm>
              <a:off x="2182951" y="6055142"/>
              <a:ext cx="266605" cy="258028"/>
            </a:xfrm>
            <a:prstGeom prst="ca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900"/>
            </a:p>
          </p:txBody>
        </p:sp>
        <p:sp>
          <p:nvSpPr>
            <p:cNvPr id="26" name="Cilindro 25">
              <a:extLst>
                <a:ext uri="{FF2B5EF4-FFF2-40B4-BE49-F238E27FC236}">
                  <a16:creationId xmlns:a16="http://schemas.microsoft.com/office/drawing/2014/main" id="{24C05762-E37A-3872-1315-0BE565C77B42}"/>
                </a:ext>
              </a:extLst>
            </p:cNvPr>
            <p:cNvSpPr/>
            <p:nvPr/>
          </p:nvSpPr>
          <p:spPr>
            <a:xfrm>
              <a:off x="2702870" y="6237910"/>
              <a:ext cx="266605" cy="258028"/>
            </a:xfrm>
            <a:prstGeom prst="ca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900"/>
            </a:p>
          </p:txBody>
        </p:sp>
        <p:sp>
          <p:nvSpPr>
            <p:cNvPr id="27" name="Cilindro 26">
              <a:extLst>
                <a:ext uri="{FF2B5EF4-FFF2-40B4-BE49-F238E27FC236}">
                  <a16:creationId xmlns:a16="http://schemas.microsoft.com/office/drawing/2014/main" id="{3372BCCB-AC45-FF0D-4927-AA36CCEEB75E}"/>
                </a:ext>
              </a:extLst>
            </p:cNvPr>
            <p:cNvSpPr/>
            <p:nvPr/>
          </p:nvSpPr>
          <p:spPr>
            <a:xfrm>
              <a:off x="3026209" y="6055142"/>
              <a:ext cx="266605" cy="258028"/>
            </a:xfrm>
            <a:prstGeom prst="ca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900"/>
            </a:p>
          </p:txBody>
        </p:sp>
        <p:sp>
          <p:nvSpPr>
            <p:cNvPr id="28" name="Cilindro 27">
              <a:extLst>
                <a:ext uri="{FF2B5EF4-FFF2-40B4-BE49-F238E27FC236}">
                  <a16:creationId xmlns:a16="http://schemas.microsoft.com/office/drawing/2014/main" id="{96E9E986-E884-4D3B-C820-9F809E5679E7}"/>
                </a:ext>
              </a:extLst>
            </p:cNvPr>
            <p:cNvSpPr/>
            <p:nvPr/>
          </p:nvSpPr>
          <p:spPr>
            <a:xfrm>
              <a:off x="3544498" y="6237910"/>
              <a:ext cx="266605" cy="258028"/>
            </a:xfrm>
            <a:prstGeom prst="ca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900"/>
            </a:p>
          </p:txBody>
        </p:sp>
        <p:sp>
          <p:nvSpPr>
            <p:cNvPr id="29" name="Cilindro 28">
              <a:extLst>
                <a:ext uri="{FF2B5EF4-FFF2-40B4-BE49-F238E27FC236}">
                  <a16:creationId xmlns:a16="http://schemas.microsoft.com/office/drawing/2014/main" id="{8B186CFB-7757-7401-1E4D-D3C515B3C49F}"/>
                </a:ext>
              </a:extLst>
            </p:cNvPr>
            <p:cNvSpPr/>
            <p:nvPr/>
          </p:nvSpPr>
          <p:spPr>
            <a:xfrm>
              <a:off x="3867837" y="6055142"/>
              <a:ext cx="266605" cy="258028"/>
            </a:xfrm>
            <a:prstGeom prst="ca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900"/>
            </a:p>
          </p:txBody>
        </p:sp>
      </p:grp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43F519D1-3D51-1B6D-6B82-DDADD5F6B138}"/>
              </a:ext>
            </a:extLst>
          </p:cNvPr>
          <p:cNvGrpSpPr/>
          <p:nvPr/>
        </p:nvGrpSpPr>
        <p:grpSpPr>
          <a:xfrm>
            <a:off x="9049428" y="2878930"/>
            <a:ext cx="949063" cy="558832"/>
            <a:chOff x="1560444" y="6055142"/>
            <a:chExt cx="2848900" cy="1677503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31" name="Cubo 30">
              <a:extLst>
                <a:ext uri="{FF2B5EF4-FFF2-40B4-BE49-F238E27FC236}">
                  <a16:creationId xmlns:a16="http://schemas.microsoft.com/office/drawing/2014/main" id="{55697858-27C6-8FE9-4FF5-666719D66BF8}"/>
                </a:ext>
              </a:extLst>
            </p:cNvPr>
            <p:cNvSpPr/>
            <p:nvPr/>
          </p:nvSpPr>
          <p:spPr>
            <a:xfrm>
              <a:off x="1560444" y="6154534"/>
              <a:ext cx="2848900" cy="1578111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900"/>
            </a:p>
          </p:txBody>
        </p:sp>
        <p:sp>
          <p:nvSpPr>
            <p:cNvPr id="32" name="Cilindro 31">
              <a:extLst>
                <a:ext uri="{FF2B5EF4-FFF2-40B4-BE49-F238E27FC236}">
                  <a16:creationId xmlns:a16="http://schemas.microsoft.com/office/drawing/2014/main" id="{B69FFFC7-163B-2A18-8C83-861B9C44F436}"/>
                </a:ext>
              </a:extLst>
            </p:cNvPr>
            <p:cNvSpPr/>
            <p:nvPr/>
          </p:nvSpPr>
          <p:spPr>
            <a:xfrm>
              <a:off x="1859612" y="6237910"/>
              <a:ext cx="266605" cy="258028"/>
            </a:xfrm>
            <a:prstGeom prst="ca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900"/>
            </a:p>
          </p:txBody>
        </p:sp>
        <p:sp>
          <p:nvSpPr>
            <p:cNvPr id="33" name="Cilindro 32">
              <a:extLst>
                <a:ext uri="{FF2B5EF4-FFF2-40B4-BE49-F238E27FC236}">
                  <a16:creationId xmlns:a16="http://schemas.microsoft.com/office/drawing/2014/main" id="{06539ED1-303C-1141-50BD-877427F57D6C}"/>
                </a:ext>
              </a:extLst>
            </p:cNvPr>
            <p:cNvSpPr/>
            <p:nvPr/>
          </p:nvSpPr>
          <p:spPr>
            <a:xfrm>
              <a:off x="2182951" y="6055142"/>
              <a:ext cx="266605" cy="258028"/>
            </a:xfrm>
            <a:prstGeom prst="ca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900"/>
            </a:p>
          </p:txBody>
        </p:sp>
        <p:sp>
          <p:nvSpPr>
            <p:cNvPr id="34" name="Cilindro 33">
              <a:extLst>
                <a:ext uri="{FF2B5EF4-FFF2-40B4-BE49-F238E27FC236}">
                  <a16:creationId xmlns:a16="http://schemas.microsoft.com/office/drawing/2014/main" id="{6FE61CCC-076F-3158-87FC-BA06DD19B354}"/>
                </a:ext>
              </a:extLst>
            </p:cNvPr>
            <p:cNvSpPr/>
            <p:nvPr/>
          </p:nvSpPr>
          <p:spPr>
            <a:xfrm>
              <a:off x="2702870" y="6237910"/>
              <a:ext cx="266605" cy="258028"/>
            </a:xfrm>
            <a:prstGeom prst="ca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900"/>
            </a:p>
          </p:txBody>
        </p:sp>
        <p:sp>
          <p:nvSpPr>
            <p:cNvPr id="35" name="Cilindro 34">
              <a:extLst>
                <a:ext uri="{FF2B5EF4-FFF2-40B4-BE49-F238E27FC236}">
                  <a16:creationId xmlns:a16="http://schemas.microsoft.com/office/drawing/2014/main" id="{39F25ABF-8112-9305-C99E-678D69451B53}"/>
                </a:ext>
              </a:extLst>
            </p:cNvPr>
            <p:cNvSpPr/>
            <p:nvPr/>
          </p:nvSpPr>
          <p:spPr>
            <a:xfrm>
              <a:off x="3026209" y="6055142"/>
              <a:ext cx="266605" cy="258028"/>
            </a:xfrm>
            <a:prstGeom prst="ca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900"/>
            </a:p>
          </p:txBody>
        </p:sp>
        <p:sp>
          <p:nvSpPr>
            <p:cNvPr id="36" name="Cilindro 35">
              <a:extLst>
                <a:ext uri="{FF2B5EF4-FFF2-40B4-BE49-F238E27FC236}">
                  <a16:creationId xmlns:a16="http://schemas.microsoft.com/office/drawing/2014/main" id="{BAD4DC39-770B-2607-6ADC-F6D7DD6BF829}"/>
                </a:ext>
              </a:extLst>
            </p:cNvPr>
            <p:cNvSpPr/>
            <p:nvPr/>
          </p:nvSpPr>
          <p:spPr>
            <a:xfrm>
              <a:off x="3544498" y="6237910"/>
              <a:ext cx="266605" cy="258028"/>
            </a:xfrm>
            <a:prstGeom prst="ca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900"/>
            </a:p>
          </p:txBody>
        </p:sp>
        <p:sp>
          <p:nvSpPr>
            <p:cNvPr id="37" name="Cilindro 36">
              <a:extLst>
                <a:ext uri="{FF2B5EF4-FFF2-40B4-BE49-F238E27FC236}">
                  <a16:creationId xmlns:a16="http://schemas.microsoft.com/office/drawing/2014/main" id="{47E9CDBE-7F5F-1D66-1336-FF0AC179136C}"/>
                </a:ext>
              </a:extLst>
            </p:cNvPr>
            <p:cNvSpPr/>
            <p:nvPr/>
          </p:nvSpPr>
          <p:spPr>
            <a:xfrm>
              <a:off x="3867837" y="6055142"/>
              <a:ext cx="266605" cy="258028"/>
            </a:xfrm>
            <a:prstGeom prst="can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900"/>
            </a:p>
          </p:txBody>
        </p:sp>
      </p:grpSp>
    </p:spTree>
    <p:extLst>
      <p:ext uri="{BB962C8B-B14F-4D97-AF65-F5344CB8AC3E}">
        <p14:creationId xmlns:p14="http://schemas.microsoft.com/office/powerpoint/2010/main" val="27675626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36CD0-9975-8550-8C50-DF2E159E2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7137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946D6-2550-3C56-2987-300B30CA1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ool0">
            <a:extLst>
              <a:ext uri="{FF2B5EF4-FFF2-40B4-BE49-F238E27FC236}">
                <a16:creationId xmlns:a16="http://schemas.microsoft.com/office/drawing/2014/main" id="{9E074C1B-5986-F6BF-430C-581DE8144F98}"/>
              </a:ext>
            </a:extLst>
          </p:cNvPr>
          <p:cNvSpPr/>
          <p:nvPr/>
        </p:nvSpPr>
        <p:spPr>
          <a:xfrm>
            <a:off x="201008" y="952500"/>
            <a:ext cx="11789983" cy="5021943"/>
          </a:xfrm>
          <a:prstGeom prst="roundRect">
            <a:avLst/>
          </a:prstGeom>
          <a:solidFill>
            <a:srgbClr val="2D2D2D"/>
          </a:solidFill>
          <a:ln w="0">
            <a:noFill/>
          </a:ln>
        </p:spPr>
        <p:txBody>
          <a:bodyPr wrap="square" lIns="127000" tIns="101600" rIns="127000" bIns="101600" anchor="ctr"/>
          <a:lstStyle/>
          <a:p>
            <a:r>
              <a:rPr lang="it-IT" sz="20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Monospac821 BT" panose="020B0609020202020204" pitchFamily="49" charset="0"/>
              </a:rPr>
              <a:t>using</a:t>
            </a:r>
            <a:r>
              <a:rPr lang="it-IT" sz="2000" dirty="0">
                <a:solidFill>
                  <a:schemeClr val="bg1"/>
                </a:solidFill>
                <a:latin typeface="Monospac821 BT" panose="020B0609020202020204" pitchFamily="49" charset="0"/>
              </a:rPr>
              <a:t> Microsoft.Extensions.AI; </a:t>
            </a:r>
          </a:p>
          <a:p>
            <a:r>
              <a:rPr lang="it-IT" sz="20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Monospac821 BT" panose="020B0609020202020204" pitchFamily="49" charset="0"/>
              </a:rPr>
              <a:t>using</a:t>
            </a:r>
            <a:r>
              <a:rPr lang="it-IT" sz="2000" dirty="0">
                <a:solidFill>
                  <a:schemeClr val="bg1"/>
                </a:solidFill>
                <a:latin typeface="Monospac821 BT" panose="020B0609020202020204" pitchFamily="49" charset="0"/>
              </a:rPr>
              <a:t> </a:t>
            </a:r>
            <a:r>
              <a:rPr lang="it-IT" sz="2000" dirty="0" err="1">
                <a:solidFill>
                  <a:schemeClr val="bg1"/>
                </a:solidFill>
                <a:latin typeface="Monospac821 BT" panose="020B0609020202020204" pitchFamily="49" charset="0"/>
              </a:rPr>
              <a:t>OllamaSharp</a:t>
            </a:r>
            <a:r>
              <a:rPr lang="it-IT" sz="2000" dirty="0">
                <a:solidFill>
                  <a:schemeClr val="bg1"/>
                </a:solidFill>
                <a:latin typeface="Monospac821 BT" panose="020B0609020202020204" pitchFamily="49" charset="0"/>
              </a:rPr>
              <a:t>; </a:t>
            </a:r>
          </a:p>
          <a:p>
            <a:endParaRPr lang="it-IT" sz="2000" dirty="0">
              <a:solidFill>
                <a:schemeClr val="bg1"/>
              </a:solidFill>
              <a:latin typeface="Monospac821 BT" panose="020B0609020202020204" pitchFamily="49" charset="0"/>
            </a:endParaRPr>
          </a:p>
          <a:p>
            <a:r>
              <a:rPr lang="it-IT" sz="2000" dirty="0" err="1">
                <a:solidFill>
                  <a:schemeClr val="accent2"/>
                </a:solidFill>
                <a:latin typeface="Monospac821 BT" panose="020B0609020202020204" pitchFamily="49" charset="0"/>
              </a:rPr>
              <a:t>IChatClient</a:t>
            </a:r>
            <a:r>
              <a:rPr lang="it-IT" sz="2000" dirty="0">
                <a:solidFill>
                  <a:schemeClr val="bg1"/>
                </a:solidFill>
                <a:latin typeface="Monospac821 BT" panose="020B0609020202020204" pitchFamily="49" charset="0"/>
              </a:rPr>
              <a:t> client = </a:t>
            </a:r>
            <a:r>
              <a:rPr lang="it-IT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Monospac821 BT" panose="020B0609020202020204" pitchFamily="49" charset="0"/>
              </a:rPr>
              <a:t>new</a:t>
            </a:r>
            <a:r>
              <a:rPr lang="it-IT" sz="2000" dirty="0">
                <a:solidFill>
                  <a:schemeClr val="bg1"/>
                </a:solidFill>
                <a:latin typeface="Monospac821 BT" panose="020B0609020202020204" pitchFamily="49" charset="0"/>
              </a:rPr>
              <a:t> </a:t>
            </a:r>
            <a:r>
              <a:rPr lang="it-IT" sz="2000" dirty="0" err="1">
                <a:solidFill>
                  <a:schemeClr val="accent2"/>
                </a:solidFill>
                <a:latin typeface="Monospac821 BT" panose="020B0609020202020204" pitchFamily="49" charset="0"/>
              </a:rPr>
              <a:t>OllamaApiClient</a:t>
            </a:r>
            <a:r>
              <a:rPr lang="it-IT" sz="2000" dirty="0">
                <a:solidFill>
                  <a:schemeClr val="bg1"/>
                </a:solidFill>
                <a:latin typeface="Monospac821 BT" panose="020B0609020202020204" pitchFamily="49" charset="0"/>
              </a:rPr>
              <a:t>( </a:t>
            </a:r>
          </a:p>
          <a:p>
            <a:r>
              <a:rPr lang="it-IT" sz="2000" dirty="0">
                <a:solidFill>
                  <a:schemeClr val="bg1"/>
                </a:solidFill>
                <a:latin typeface="Monospac821 BT" panose="020B0609020202020204" pitchFamily="49" charset="0"/>
              </a:rPr>
              <a:t>													</a:t>
            </a:r>
            <a:r>
              <a:rPr lang="it-IT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Monospac821 BT" panose="020B0609020202020204" pitchFamily="49" charset="0"/>
              </a:rPr>
              <a:t>new</a:t>
            </a:r>
            <a:r>
              <a:rPr lang="it-IT" sz="2000" dirty="0">
                <a:solidFill>
                  <a:schemeClr val="bg1"/>
                </a:solidFill>
                <a:latin typeface="Monospac821 BT" panose="020B0609020202020204" pitchFamily="49" charset="0"/>
              </a:rPr>
              <a:t> </a:t>
            </a:r>
            <a:r>
              <a:rPr lang="it-IT" sz="2000" dirty="0">
                <a:solidFill>
                  <a:schemeClr val="accent2"/>
                </a:solidFill>
                <a:latin typeface="Monospac821 BT" panose="020B0609020202020204" pitchFamily="49" charset="0"/>
              </a:rPr>
              <a:t>Uri</a:t>
            </a:r>
            <a:r>
              <a:rPr lang="it-IT" sz="2000" dirty="0">
                <a:solidFill>
                  <a:schemeClr val="bg1"/>
                </a:solidFill>
                <a:latin typeface="Monospac821 BT" panose="020B0609020202020204" pitchFamily="49" charset="0"/>
              </a:rPr>
              <a:t>(</a:t>
            </a:r>
            <a:r>
              <a:rPr lang="it-IT" sz="2000" dirty="0">
                <a:solidFill>
                  <a:schemeClr val="accent6"/>
                </a:solidFill>
                <a:latin typeface="Monospac821 BT" panose="020B0609020202020204" pitchFamily="49" charset="0"/>
              </a:rPr>
              <a:t>"http://localhost:11434/"</a:t>
            </a:r>
            <a:r>
              <a:rPr lang="it-IT" sz="2000" dirty="0">
                <a:solidFill>
                  <a:schemeClr val="bg1"/>
                </a:solidFill>
                <a:latin typeface="Monospac821 BT" panose="020B0609020202020204" pitchFamily="49" charset="0"/>
              </a:rPr>
              <a:t>), </a:t>
            </a:r>
            <a:r>
              <a:rPr lang="it-IT" sz="2000" dirty="0">
                <a:solidFill>
                  <a:schemeClr val="accent6"/>
                </a:solidFill>
                <a:latin typeface="Monospac821 BT" panose="020B0609020202020204" pitchFamily="49" charset="0"/>
              </a:rPr>
              <a:t>"phi3:mini"</a:t>
            </a:r>
            <a:r>
              <a:rPr lang="it-IT" sz="2000" dirty="0">
                <a:solidFill>
                  <a:schemeClr val="bg1"/>
                </a:solidFill>
                <a:latin typeface="Monospac821 BT" panose="020B0609020202020204" pitchFamily="49" charset="0"/>
              </a:rPr>
              <a:t>); </a:t>
            </a:r>
          </a:p>
          <a:p>
            <a:endParaRPr lang="it-IT" sz="2000" dirty="0">
              <a:solidFill>
                <a:schemeClr val="bg1"/>
              </a:solidFill>
              <a:latin typeface="Monospac821 BT" panose="020B0609020202020204" pitchFamily="49" charset="0"/>
            </a:endParaRPr>
          </a:p>
          <a:p>
            <a:r>
              <a:rPr lang="it-IT" sz="2000" dirty="0">
                <a:solidFill>
                  <a:schemeClr val="bg1"/>
                </a:solidFill>
                <a:latin typeface="Monospac821 BT" panose="020B0609020202020204" pitchFamily="49" charset="0"/>
              </a:rPr>
              <a:t>var </a:t>
            </a:r>
            <a:r>
              <a:rPr lang="it-IT" sz="2000" dirty="0" err="1">
                <a:solidFill>
                  <a:schemeClr val="bg1"/>
                </a:solidFill>
                <a:latin typeface="Monospac821 BT" panose="020B0609020202020204" pitchFamily="49" charset="0"/>
              </a:rPr>
              <a:t>result</a:t>
            </a:r>
            <a:r>
              <a:rPr lang="it-IT" sz="2000" dirty="0">
                <a:solidFill>
                  <a:schemeClr val="bg1"/>
                </a:solidFill>
                <a:latin typeface="Monospac821 BT" panose="020B0609020202020204" pitchFamily="49" charset="0"/>
              </a:rPr>
              <a:t> = </a:t>
            </a:r>
            <a:r>
              <a:rPr lang="it-IT" sz="20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Monospac821 BT" panose="020B0609020202020204" pitchFamily="49" charset="0"/>
              </a:rPr>
              <a:t>await</a:t>
            </a:r>
            <a:r>
              <a:rPr lang="it-IT" sz="2000" dirty="0">
                <a:solidFill>
                  <a:schemeClr val="bg1"/>
                </a:solidFill>
                <a:latin typeface="Monospac821 BT" panose="020B0609020202020204" pitchFamily="49" charset="0"/>
              </a:rPr>
              <a:t> </a:t>
            </a:r>
            <a:r>
              <a:rPr lang="it-IT" sz="2000" dirty="0" err="1">
                <a:solidFill>
                  <a:schemeClr val="bg1"/>
                </a:solidFill>
                <a:latin typeface="Monospac821 BT" panose="020B0609020202020204" pitchFamily="49" charset="0"/>
              </a:rPr>
              <a:t>client.GetResponseAsync</a:t>
            </a:r>
            <a:r>
              <a:rPr lang="it-IT" sz="2000" dirty="0">
                <a:solidFill>
                  <a:schemeClr val="bg1"/>
                </a:solidFill>
                <a:latin typeface="Monospac821 BT" panose="020B0609020202020204" pitchFamily="49" charset="0"/>
              </a:rPr>
              <a:t>(</a:t>
            </a:r>
            <a:r>
              <a:rPr lang="it-IT" sz="2000" dirty="0">
                <a:solidFill>
                  <a:schemeClr val="accent6"/>
                </a:solidFill>
                <a:latin typeface="Monospac821 BT" panose="020B0609020202020204" pitchFamily="49" charset="0"/>
              </a:rPr>
              <a:t>"</a:t>
            </a:r>
            <a:r>
              <a:rPr lang="it-IT" sz="2000" dirty="0" err="1">
                <a:solidFill>
                  <a:schemeClr val="accent6"/>
                </a:solidFill>
                <a:latin typeface="Monospac821 BT" panose="020B0609020202020204" pitchFamily="49" charset="0"/>
              </a:rPr>
              <a:t>What</a:t>
            </a:r>
            <a:r>
              <a:rPr lang="it-IT" sz="2000" dirty="0">
                <a:solidFill>
                  <a:schemeClr val="accent6"/>
                </a:solidFill>
                <a:latin typeface="Monospac821 BT" panose="020B0609020202020204" pitchFamily="49" charset="0"/>
              </a:rPr>
              <a:t> </a:t>
            </a:r>
            <a:r>
              <a:rPr lang="it-IT" sz="2000" dirty="0" err="1">
                <a:solidFill>
                  <a:schemeClr val="accent6"/>
                </a:solidFill>
                <a:latin typeface="Monospac821 BT" panose="020B0609020202020204" pitchFamily="49" charset="0"/>
              </a:rPr>
              <a:t>is</a:t>
            </a:r>
            <a:r>
              <a:rPr lang="it-IT" sz="2000" dirty="0">
                <a:solidFill>
                  <a:schemeClr val="accent6"/>
                </a:solidFill>
                <a:latin typeface="Monospac821 BT" panose="020B0609020202020204" pitchFamily="49" charset="0"/>
              </a:rPr>
              <a:t> AI?"</a:t>
            </a:r>
            <a:r>
              <a:rPr lang="it-IT" sz="2000" dirty="0">
                <a:solidFill>
                  <a:schemeClr val="bg1"/>
                </a:solidFill>
                <a:latin typeface="Monospac821 BT" panose="020B0609020202020204" pitchFamily="49" charset="0"/>
              </a:rPr>
              <a:t>);</a:t>
            </a:r>
          </a:p>
          <a:p>
            <a:r>
              <a:rPr lang="it-IT" sz="2000" dirty="0" err="1">
                <a:solidFill>
                  <a:schemeClr val="bg1"/>
                </a:solidFill>
                <a:latin typeface="Monospac821 BT" panose="020B0609020202020204" pitchFamily="49" charset="0"/>
              </a:rPr>
              <a:t>Console.WriteLine</a:t>
            </a:r>
            <a:r>
              <a:rPr lang="it-IT" sz="2000" dirty="0">
                <a:solidFill>
                  <a:schemeClr val="bg1"/>
                </a:solidFill>
                <a:latin typeface="Monospac821 BT" panose="020B0609020202020204" pitchFamily="49" charset="0"/>
              </a:rPr>
              <a:t>(</a:t>
            </a:r>
            <a:r>
              <a:rPr lang="it-IT" sz="2000" dirty="0" err="1">
                <a:solidFill>
                  <a:schemeClr val="bg1"/>
                </a:solidFill>
                <a:latin typeface="Monospac821 BT" panose="020B0609020202020204" pitchFamily="49" charset="0"/>
              </a:rPr>
              <a:t>result</a:t>
            </a:r>
            <a:r>
              <a:rPr lang="it-IT" sz="2000" dirty="0">
                <a:solidFill>
                  <a:schemeClr val="bg1"/>
                </a:solidFill>
                <a:latin typeface="Monospac821 BT" panose="020B060902020202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7960196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F8010699-4A95-B0E1-1F1F-45DD31D92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Quando usare </a:t>
            </a:r>
            <a:r>
              <a:rPr lang="it-IT" dirty="0" err="1"/>
              <a:t>IChatClient</a:t>
            </a:r>
            <a:r>
              <a:rPr lang="it-IT" dirty="0"/>
              <a:t>?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D211E5B-775F-168B-C22D-633C4617BB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it-IT" dirty="0"/>
              <a:t>Quando basta una chiamata </a:t>
            </a:r>
          </a:p>
          <a:p>
            <a:endParaRPr lang="it-IT" dirty="0"/>
          </a:p>
          <a:p>
            <a:r>
              <a:rPr lang="it-IT" dirty="0"/>
              <a:t>Hai bisogno di una singola interazione con un LLM</a:t>
            </a:r>
          </a:p>
          <a:p>
            <a:endParaRPr lang="it-IT" dirty="0"/>
          </a:p>
          <a:p>
            <a:r>
              <a:rPr lang="it-IT" dirty="0"/>
              <a:t>Non ti serve gestione dello stato/conversazione</a:t>
            </a:r>
          </a:p>
          <a:p>
            <a:endParaRPr lang="it-IT" dirty="0"/>
          </a:p>
          <a:p>
            <a:r>
              <a:rPr lang="it-IT" dirty="0"/>
              <a:t>Vuoi massima flessibilità e controllo basso livello</a:t>
            </a:r>
          </a:p>
          <a:p>
            <a:endParaRPr lang="it-IT" dirty="0"/>
          </a:p>
          <a:p>
            <a:r>
              <a:rPr lang="it-IT" dirty="0"/>
              <a:t>Stai costruendo le tue astrazioni sopra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066105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BB19921-BDDC-69C9-17F7-76DB08CFC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E40ABAE-06CC-B944-4367-45673EB86D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565341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2B6A6-15B2-F2E8-F6BE-1DDBE2109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4521660-BC72-0D31-B359-746DB4EE9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Microsoft Agent Framework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5D26B4B-DD51-0D31-0A75-4C4D5F37E9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/>
              <a:t>Framework open-source per sviluppare agenti AI e workflow multi-agente in .NET e Python</a:t>
            </a:r>
          </a:p>
          <a:p>
            <a:endParaRPr lang="it-IT" dirty="0"/>
          </a:p>
          <a:p>
            <a:pPr marL="0" indent="0">
              <a:buNone/>
            </a:pPr>
            <a:r>
              <a:rPr lang="it-IT" dirty="0"/>
              <a:t>Novità chiave:</a:t>
            </a:r>
          </a:p>
          <a:p>
            <a:r>
              <a:rPr lang="it-IT" dirty="0"/>
              <a:t>Controllo esplicito sui flussi di esecuzione multi-agente</a:t>
            </a:r>
          </a:p>
          <a:p>
            <a:r>
              <a:rPr lang="it-IT" dirty="0"/>
              <a:t>Sistema robusto di gestione dello stato per scenari long-running, human-in-the-loop e checkpoint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64428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7">
            <a:extLst>
              <a:ext uri="{FF2B5EF4-FFF2-40B4-BE49-F238E27FC236}">
                <a16:creationId xmlns:a16="http://schemas.microsoft.com/office/drawing/2014/main" id="{B8E01C3A-FCB5-494E-8C84-2D1B3DD134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75548" y="-75744"/>
            <a:ext cx="12543096" cy="7009487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D5421BE9-E462-DEE4-EE60-F918D8DE77B3}"/>
              </a:ext>
            </a:extLst>
          </p:cNvPr>
          <p:cNvSpPr txBox="1"/>
          <p:nvPr/>
        </p:nvSpPr>
        <p:spPr>
          <a:xfrm>
            <a:off x="9342809" y="6495651"/>
            <a:ext cx="30247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sz="1000" i="1" dirty="0">
                <a:solidFill>
                  <a:schemeClr val="bg1"/>
                </a:solidFill>
              </a:rPr>
              <a:t>Credits: Shawn Henry, Microsoft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EC8A4-82C6-466B-CB2B-E7F428A30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I Agent">
            <a:extLst>
              <a:ext uri="{FF2B5EF4-FFF2-40B4-BE49-F238E27FC236}">
                <a16:creationId xmlns:a16="http://schemas.microsoft.com/office/drawing/2014/main" id="{197BF8F6-EB18-3D8A-E742-071ECD8414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6000" y="1027906"/>
            <a:ext cx="5863330" cy="5467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olo 2">
            <a:extLst>
              <a:ext uri="{FF2B5EF4-FFF2-40B4-BE49-F238E27FC236}">
                <a16:creationId xmlns:a16="http://schemas.microsoft.com/office/drawing/2014/main" id="{7266F5FE-A785-4A98-4069-DB8F176FE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MAF – Modalità Agent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5774FE7-7B0A-1860-13F6-48ADF693AC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14900" cy="4351338"/>
          </a:xfrm>
        </p:spPr>
        <p:txBody>
          <a:bodyPr/>
          <a:lstStyle/>
          <a:p>
            <a:pPr marL="0" indent="0">
              <a:buNone/>
            </a:pPr>
            <a:r>
              <a:rPr lang="it-IT" dirty="0"/>
              <a:t>Agente è composto da LLM e da «connettori» verso il mondo esterno. </a:t>
            </a:r>
          </a:p>
          <a:p>
            <a:pPr marL="0" indent="0">
              <a:buNone/>
            </a:pPr>
            <a:br>
              <a:rPr lang="it-IT" dirty="0"/>
            </a:br>
            <a:r>
              <a:rPr lang="it-IT" dirty="0"/>
              <a:t>Adatti per decisioni autonome e pianificazione ad-hoc e task non strutturati e imprevedibili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0320461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5539F56-E59D-967A-187C-CC34F1A4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6525"/>
            <a:ext cx="11990991" cy="1325563"/>
          </a:xfrm>
        </p:spPr>
        <p:txBody>
          <a:bodyPr>
            <a:normAutofit/>
          </a:bodyPr>
          <a:lstStyle/>
          <a:p>
            <a:r>
              <a:rPr lang="it-IT" sz="2800" dirty="0"/>
              <a:t>Esempio: agente in Microsoft Agent Framework</a:t>
            </a:r>
            <a:br>
              <a:rPr lang="it-IT" sz="2800" dirty="0"/>
            </a:br>
            <a:endParaRPr lang="it-IT" sz="2800" dirty="0"/>
          </a:p>
        </p:txBody>
      </p:sp>
      <p:sp>
        <p:nvSpPr>
          <p:cNvPr id="4" name="Tool0">
            <a:extLst>
              <a:ext uri="{FF2B5EF4-FFF2-40B4-BE49-F238E27FC236}">
                <a16:creationId xmlns:a16="http://schemas.microsoft.com/office/drawing/2014/main" id="{FA79383B-0FCB-5055-5426-42245282909C}"/>
              </a:ext>
            </a:extLst>
          </p:cNvPr>
          <p:cNvSpPr/>
          <p:nvPr/>
        </p:nvSpPr>
        <p:spPr>
          <a:xfrm>
            <a:off x="201008" y="952500"/>
            <a:ext cx="11789983" cy="5021943"/>
          </a:xfrm>
          <a:prstGeom prst="roundRect">
            <a:avLst/>
          </a:prstGeom>
          <a:solidFill>
            <a:srgbClr val="2D2D2D"/>
          </a:solidFill>
          <a:ln w="0">
            <a:noFill/>
          </a:ln>
        </p:spPr>
        <p:txBody>
          <a:bodyPr wrap="square" lIns="127000" tIns="101600" rIns="127000" bIns="101600" anchor="ctr"/>
          <a:lstStyle/>
          <a:p>
            <a:r>
              <a:rPr lang="it-IT" sz="2000" dirty="0" err="1">
                <a:solidFill>
                  <a:srgbClr val="B4009E"/>
                </a:solidFill>
                <a:latin typeface="Monospac821 BT" panose="020B0609020202020204" pitchFamily="49" charset="0"/>
              </a:rPr>
              <a:t>using</a:t>
            </a:r>
            <a:r>
              <a:rPr lang="it-IT" sz="2000" dirty="0">
                <a:latin typeface="Monospac821 BT" panose="020B0609020202020204" pitchFamily="49" charset="0"/>
              </a:rPr>
              <a:t> </a:t>
            </a:r>
            <a:r>
              <a:rPr lang="it-IT" sz="2000" dirty="0">
                <a:solidFill>
                  <a:schemeClr val="bg1"/>
                </a:solidFill>
                <a:latin typeface="Monospac821 BT" panose="020B0609020202020204" pitchFamily="49" charset="0"/>
              </a:rPr>
              <a:t>Microsoft.Agents.AI;</a:t>
            </a:r>
          </a:p>
          <a:p>
            <a:endParaRPr lang="it-IT" sz="2000" dirty="0">
              <a:latin typeface="Monospac821 BT" panose="020B0609020202020204" pitchFamily="49" charset="0"/>
            </a:endParaRPr>
          </a:p>
          <a:p>
            <a:r>
              <a:rPr lang="it-IT" sz="2000" dirty="0" err="1">
                <a:solidFill>
                  <a:schemeClr val="accent1"/>
                </a:solidFill>
                <a:latin typeface="Monospac821 BT" panose="020B0609020202020204" pitchFamily="49" charset="0"/>
              </a:rPr>
              <a:t>AIAgent</a:t>
            </a:r>
            <a:r>
              <a:rPr lang="it-IT" sz="2000" dirty="0">
                <a:latin typeface="Monospac821 BT" panose="020B0609020202020204" pitchFamily="49" charset="0"/>
              </a:rPr>
              <a:t> </a:t>
            </a:r>
            <a:r>
              <a:rPr lang="it-IT" sz="2000" dirty="0">
                <a:solidFill>
                  <a:schemeClr val="bg1"/>
                </a:solidFill>
                <a:latin typeface="Monospac821 BT" panose="020B0609020202020204" pitchFamily="49" charset="0"/>
              </a:rPr>
              <a:t>agent = new </a:t>
            </a:r>
            <a:r>
              <a:rPr lang="it-IT" sz="2000" dirty="0" err="1">
                <a:solidFill>
                  <a:schemeClr val="accent1"/>
                </a:solidFill>
                <a:latin typeface="Monospac821 BT" panose="020B0609020202020204" pitchFamily="49" charset="0"/>
              </a:rPr>
              <a:t>AzureOpenAIClient</a:t>
            </a:r>
            <a:r>
              <a:rPr lang="it-IT" sz="2000" dirty="0">
                <a:solidFill>
                  <a:schemeClr val="accent1"/>
                </a:solidFill>
                <a:latin typeface="Monospac821 BT" panose="020B0609020202020204" pitchFamily="49" charset="0"/>
              </a:rPr>
              <a:t> </a:t>
            </a:r>
            <a:r>
              <a:rPr lang="it-IT" sz="2000" dirty="0">
                <a:solidFill>
                  <a:schemeClr val="bg1"/>
                </a:solidFill>
                <a:latin typeface="Monospac821 BT" panose="020B0609020202020204" pitchFamily="49" charset="0"/>
              </a:rPr>
              <a:t>(</a:t>
            </a:r>
          </a:p>
          <a:p>
            <a:r>
              <a:rPr lang="it-IT" sz="2000" dirty="0">
                <a:latin typeface="Monospac821 BT" panose="020B0609020202020204" pitchFamily="49" charset="0"/>
              </a:rPr>
              <a:t>        </a:t>
            </a:r>
            <a:r>
              <a:rPr lang="it-IT" sz="2000" dirty="0">
                <a:solidFill>
                  <a:srgbClr val="B4009E"/>
                </a:solidFill>
                <a:latin typeface="Monospac821 BT" panose="020B0609020202020204" pitchFamily="49" charset="0"/>
              </a:rPr>
              <a:t>new</a:t>
            </a:r>
            <a:r>
              <a:rPr lang="it-IT" sz="2000" dirty="0">
                <a:latin typeface="Monospac821 BT" panose="020B0609020202020204" pitchFamily="49" charset="0"/>
              </a:rPr>
              <a:t> </a:t>
            </a:r>
            <a:r>
              <a:rPr lang="it-IT" sz="2000" dirty="0">
                <a:solidFill>
                  <a:schemeClr val="accent1"/>
                </a:solidFill>
                <a:latin typeface="Monospac821 BT" panose="020B0609020202020204" pitchFamily="49" charset="0"/>
              </a:rPr>
              <a:t>Uri</a:t>
            </a:r>
            <a:r>
              <a:rPr lang="it-IT" sz="2000" dirty="0">
                <a:solidFill>
                  <a:srgbClr val="00B050"/>
                </a:solidFill>
                <a:latin typeface="Monospac821 BT" panose="020B0609020202020204" pitchFamily="49" charset="0"/>
              </a:rPr>
              <a:t>("https://your.services.ai.azure.com/api/projects/</a:t>
            </a:r>
            <a:r>
              <a:rPr lang="it-IT" sz="2000" dirty="0" err="1">
                <a:solidFill>
                  <a:srgbClr val="00B050"/>
                </a:solidFill>
                <a:latin typeface="Monospac821 BT" panose="020B0609020202020204" pitchFamily="49" charset="0"/>
              </a:rPr>
              <a:t>your-pjt</a:t>
            </a:r>
            <a:r>
              <a:rPr lang="it-IT" sz="2000" dirty="0">
                <a:solidFill>
                  <a:srgbClr val="00B050"/>
                </a:solidFill>
                <a:latin typeface="Monospac821 BT" panose="020B0609020202020204" pitchFamily="49" charset="0"/>
              </a:rPr>
              <a:t>"</a:t>
            </a:r>
            <a:r>
              <a:rPr lang="it-IT" sz="2000" dirty="0">
                <a:solidFill>
                  <a:schemeClr val="bg1"/>
                </a:solidFill>
                <a:latin typeface="Monospac821 BT" panose="020B0609020202020204" pitchFamily="49" charset="0"/>
              </a:rPr>
              <a:t>),</a:t>
            </a:r>
          </a:p>
          <a:p>
            <a:r>
              <a:rPr lang="it-IT" sz="2000" dirty="0">
                <a:latin typeface="Monospac821 BT" panose="020B0609020202020204" pitchFamily="49" charset="0"/>
              </a:rPr>
              <a:t>        </a:t>
            </a:r>
            <a:r>
              <a:rPr lang="it-IT" sz="2000" dirty="0">
                <a:solidFill>
                  <a:srgbClr val="B4009E"/>
                </a:solidFill>
                <a:latin typeface="Monospac821 BT" panose="020B0609020202020204" pitchFamily="49" charset="0"/>
              </a:rPr>
              <a:t>new</a:t>
            </a:r>
            <a:r>
              <a:rPr lang="it-IT" sz="2000" dirty="0">
                <a:latin typeface="Monospac821 BT" panose="020B0609020202020204" pitchFamily="49" charset="0"/>
              </a:rPr>
              <a:t> </a:t>
            </a:r>
            <a:r>
              <a:rPr lang="it-IT" sz="2000" dirty="0" err="1">
                <a:solidFill>
                  <a:schemeClr val="accent1"/>
                </a:solidFill>
                <a:latin typeface="Monospac821 BT" panose="020B0609020202020204" pitchFamily="49" charset="0"/>
              </a:rPr>
              <a:t>AzureCliCredential</a:t>
            </a:r>
            <a:r>
              <a:rPr lang="it-IT" sz="2000" dirty="0">
                <a:solidFill>
                  <a:schemeClr val="bg1"/>
                </a:solidFill>
                <a:latin typeface="Monospac821 BT" panose="020B0609020202020204" pitchFamily="49" charset="0"/>
              </a:rPr>
              <a:t>())</a:t>
            </a:r>
          </a:p>
          <a:p>
            <a:r>
              <a:rPr lang="it-IT" sz="2000" dirty="0">
                <a:latin typeface="Monospac821 BT" panose="020B0609020202020204" pitchFamily="49" charset="0"/>
              </a:rPr>
              <a:t>    </a:t>
            </a:r>
            <a:r>
              <a:rPr lang="it-IT" sz="2000" dirty="0">
                <a:solidFill>
                  <a:schemeClr val="bg1"/>
                </a:solidFill>
                <a:latin typeface="Monospac821 BT" panose="020B0609020202020204" pitchFamily="49" charset="0"/>
              </a:rPr>
              <a:t>.</a:t>
            </a:r>
            <a:r>
              <a:rPr lang="it-IT" sz="2000" dirty="0" err="1">
                <a:solidFill>
                  <a:schemeClr val="bg1"/>
                </a:solidFill>
                <a:latin typeface="Monospac821 BT" panose="020B0609020202020204" pitchFamily="49" charset="0"/>
              </a:rPr>
              <a:t>GetChatClient</a:t>
            </a:r>
            <a:r>
              <a:rPr lang="it-IT" sz="2000" dirty="0">
                <a:solidFill>
                  <a:schemeClr val="bg1"/>
                </a:solidFill>
                <a:latin typeface="Monospac821 BT" panose="020B0609020202020204" pitchFamily="49" charset="0"/>
              </a:rPr>
              <a:t>(</a:t>
            </a:r>
            <a:r>
              <a:rPr lang="it-IT" sz="2000" dirty="0" err="1">
                <a:solidFill>
                  <a:schemeClr val="bg1"/>
                </a:solidFill>
                <a:latin typeface="Monospac821 BT" panose="020B0609020202020204" pitchFamily="49" charset="0"/>
              </a:rPr>
              <a:t>deploymentName</a:t>
            </a:r>
            <a:r>
              <a:rPr lang="it-IT" sz="2000" dirty="0">
                <a:solidFill>
                  <a:schemeClr val="bg1"/>
                </a:solidFill>
                <a:latin typeface="Monospac821 BT" panose="020B0609020202020204" pitchFamily="49" charset="0"/>
              </a:rPr>
              <a:t>)</a:t>
            </a:r>
          </a:p>
          <a:p>
            <a:r>
              <a:rPr lang="it-IT" sz="2000" dirty="0">
                <a:solidFill>
                  <a:schemeClr val="bg1"/>
                </a:solidFill>
                <a:latin typeface="Monospac821 BT" panose="020B0609020202020204" pitchFamily="49" charset="0"/>
              </a:rPr>
              <a:t>    .</a:t>
            </a:r>
            <a:r>
              <a:rPr lang="it-IT" sz="2000" dirty="0" err="1">
                <a:solidFill>
                  <a:schemeClr val="bg1"/>
                </a:solidFill>
                <a:latin typeface="Monospac821 BT" panose="020B0609020202020204" pitchFamily="49" charset="0"/>
              </a:rPr>
              <a:t>AsAIAgent</a:t>
            </a:r>
            <a:r>
              <a:rPr lang="it-IT" sz="2000" dirty="0">
                <a:solidFill>
                  <a:schemeClr val="bg1"/>
                </a:solidFill>
                <a:latin typeface="Monospac821 BT" panose="020B0609020202020204" pitchFamily="49" charset="0"/>
              </a:rPr>
              <a:t>(</a:t>
            </a:r>
          </a:p>
          <a:p>
            <a:r>
              <a:rPr lang="it-IT" sz="2000" dirty="0">
                <a:solidFill>
                  <a:schemeClr val="bg1"/>
                </a:solidFill>
                <a:latin typeface="Monospac821 BT" panose="020B0609020202020204" pitchFamily="49" charset="0"/>
              </a:rPr>
              <a:t>        name: </a:t>
            </a:r>
            <a:r>
              <a:rPr lang="it-IT" sz="2000" dirty="0">
                <a:solidFill>
                  <a:srgbClr val="00B050"/>
                </a:solidFill>
                <a:latin typeface="Monospac821 BT" panose="020B0609020202020204" pitchFamily="49" charset="0"/>
              </a:rPr>
              <a:t>"</a:t>
            </a:r>
            <a:r>
              <a:rPr lang="it-IT" sz="2000" dirty="0" err="1">
                <a:solidFill>
                  <a:srgbClr val="00B050"/>
                </a:solidFill>
                <a:latin typeface="Monospac821 BT" panose="020B0609020202020204" pitchFamily="49" charset="0"/>
              </a:rPr>
              <a:t>TravelAgent</a:t>
            </a:r>
            <a:r>
              <a:rPr lang="it-IT" sz="2000" dirty="0">
                <a:solidFill>
                  <a:srgbClr val="00B050"/>
                </a:solidFill>
                <a:latin typeface="Monospac821 BT" panose="020B0609020202020204" pitchFamily="49" charset="0"/>
              </a:rPr>
              <a:t>"</a:t>
            </a:r>
            <a:r>
              <a:rPr lang="it-IT" sz="2000" dirty="0">
                <a:solidFill>
                  <a:schemeClr val="bg1"/>
                </a:solidFill>
                <a:latin typeface="Monospac821 BT" panose="020B0609020202020204" pitchFamily="49" charset="0"/>
              </a:rPr>
              <a:t>,</a:t>
            </a:r>
          </a:p>
          <a:p>
            <a:r>
              <a:rPr lang="it-IT" sz="2000" dirty="0">
                <a:solidFill>
                  <a:schemeClr val="bg1"/>
                </a:solidFill>
                <a:latin typeface="Monospac821 BT" panose="020B0609020202020204" pitchFamily="49" charset="0"/>
              </a:rPr>
              <a:t>        </a:t>
            </a:r>
            <a:r>
              <a:rPr lang="it-IT" sz="2000" dirty="0" err="1">
                <a:solidFill>
                  <a:schemeClr val="bg1"/>
                </a:solidFill>
                <a:latin typeface="Monospac821 BT" panose="020B0609020202020204" pitchFamily="49" charset="0"/>
              </a:rPr>
              <a:t>instructions</a:t>
            </a:r>
            <a:r>
              <a:rPr lang="it-IT" sz="2000" dirty="0">
                <a:solidFill>
                  <a:schemeClr val="bg1"/>
                </a:solidFill>
                <a:latin typeface="Monospac821 BT" panose="020B0609020202020204" pitchFamily="49" charset="0"/>
              </a:rPr>
              <a:t>: </a:t>
            </a:r>
            <a:r>
              <a:rPr lang="it-IT" sz="2000" dirty="0">
                <a:solidFill>
                  <a:srgbClr val="00B050"/>
                </a:solidFill>
                <a:latin typeface="Monospac821 BT" panose="020B0609020202020204" pitchFamily="49" charset="0"/>
              </a:rPr>
              <a:t>"</a:t>
            </a:r>
            <a:r>
              <a:rPr lang="it-IT" sz="2000" dirty="0" err="1">
                <a:solidFill>
                  <a:srgbClr val="00B050"/>
                </a:solidFill>
                <a:latin typeface="Monospac821 BT" panose="020B0609020202020204" pitchFamily="49" charset="0"/>
              </a:rPr>
              <a:t>You</a:t>
            </a:r>
            <a:r>
              <a:rPr lang="it-IT" sz="2000" dirty="0">
                <a:solidFill>
                  <a:srgbClr val="00B050"/>
                </a:solidFill>
                <a:latin typeface="Monospac821 BT" panose="020B0609020202020204" pitchFamily="49" charset="0"/>
              </a:rPr>
              <a:t> are a </a:t>
            </a:r>
            <a:r>
              <a:rPr lang="it-IT" sz="2000" dirty="0" err="1">
                <a:solidFill>
                  <a:srgbClr val="00B050"/>
                </a:solidFill>
                <a:latin typeface="Monospac821 BT" panose="020B0609020202020204" pitchFamily="49" charset="0"/>
              </a:rPr>
              <a:t>helpful</a:t>
            </a:r>
            <a:r>
              <a:rPr lang="it-IT" sz="2000" dirty="0">
                <a:solidFill>
                  <a:srgbClr val="00B050"/>
                </a:solidFill>
                <a:latin typeface="Monospac821 BT" panose="020B0609020202020204" pitchFamily="49" charset="0"/>
              </a:rPr>
              <a:t> travel </a:t>
            </a:r>
            <a:r>
              <a:rPr lang="it-IT" sz="2000" dirty="0" err="1">
                <a:solidFill>
                  <a:srgbClr val="00B050"/>
                </a:solidFill>
                <a:latin typeface="Monospac821 BT" panose="020B0609020202020204" pitchFamily="49" charset="0"/>
              </a:rPr>
              <a:t>assistant</a:t>
            </a:r>
            <a:r>
              <a:rPr lang="it-IT" sz="2000" dirty="0">
                <a:solidFill>
                  <a:srgbClr val="00B050"/>
                </a:solidFill>
                <a:latin typeface="Monospac821 BT" panose="020B0609020202020204" pitchFamily="49" charset="0"/>
              </a:rPr>
              <a:t>."</a:t>
            </a:r>
            <a:r>
              <a:rPr lang="it-IT" sz="2000" dirty="0">
                <a:solidFill>
                  <a:schemeClr val="bg1"/>
                </a:solidFill>
                <a:latin typeface="Monospac821 BT" panose="020B0609020202020204" pitchFamily="49" charset="0"/>
              </a:rPr>
              <a:t>);</a:t>
            </a:r>
          </a:p>
          <a:p>
            <a:endParaRPr lang="it-IT" sz="2000" dirty="0">
              <a:latin typeface="Monospac821 BT" panose="020B0609020202020204" pitchFamily="49" charset="0"/>
            </a:endParaRPr>
          </a:p>
          <a:p>
            <a:r>
              <a:rPr lang="it-IT" sz="2000" dirty="0" err="1">
                <a:solidFill>
                  <a:schemeClr val="bg1"/>
                </a:solidFill>
                <a:latin typeface="Monospac821 BT" panose="020B0609020202020204" pitchFamily="49" charset="0"/>
              </a:rPr>
              <a:t>Console.WriteLine</a:t>
            </a:r>
            <a:r>
              <a:rPr lang="it-IT" sz="2000" dirty="0">
                <a:solidFill>
                  <a:schemeClr val="bg1"/>
                </a:solidFill>
                <a:latin typeface="Monospac821 BT" panose="020B0609020202020204" pitchFamily="49" charset="0"/>
              </a:rPr>
              <a:t>(</a:t>
            </a:r>
            <a:r>
              <a:rPr lang="it-IT" sz="2000" dirty="0" err="1">
                <a:solidFill>
                  <a:srgbClr val="B4009E"/>
                </a:solidFill>
                <a:latin typeface="Monospac821 BT" panose="020B0609020202020204" pitchFamily="49" charset="0"/>
              </a:rPr>
              <a:t>await</a:t>
            </a:r>
            <a:r>
              <a:rPr lang="it-IT" sz="2000" dirty="0">
                <a:latin typeface="Monospac821 BT" panose="020B0609020202020204" pitchFamily="49" charset="0"/>
              </a:rPr>
              <a:t> </a:t>
            </a:r>
            <a:r>
              <a:rPr lang="it-IT" sz="2000" dirty="0" err="1">
                <a:solidFill>
                  <a:schemeClr val="bg1"/>
                </a:solidFill>
                <a:latin typeface="Monospac821 BT" panose="020B0609020202020204" pitchFamily="49" charset="0"/>
              </a:rPr>
              <a:t>agent.RunAsync</a:t>
            </a:r>
            <a:r>
              <a:rPr lang="it-IT" sz="2000" dirty="0">
                <a:solidFill>
                  <a:schemeClr val="bg1"/>
                </a:solidFill>
                <a:latin typeface="Monospac821 BT" panose="020B0609020202020204" pitchFamily="49" charset="0"/>
              </a:rPr>
              <a:t>(</a:t>
            </a:r>
            <a:r>
              <a:rPr lang="it-IT" sz="2000" dirty="0">
                <a:solidFill>
                  <a:srgbClr val="00B050"/>
                </a:solidFill>
                <a:latin typeface="Monospac821 BT" panose="020B0609020202020204" pitchFamily="49" charset="0"/>
              </a:rPr>
              <a:t>"Ciao, cosa sai fare?"</a:t>
            </a:r>
            <a:r>
              <a:rPr lang="it-IT" sz="2000" dirty="0">
                <a:solidFill>
                  <a:schemeClr val="bg1"/>
                </a:solidFill>
                <a:latin typeface="Monospac821 BT" panose="020B0609020202020204" pitchFamily="49" charset="0"/>
              </a:rPr>
              <a:t>));</a:t>
            </a:r>
          </a:p>
        </p:txBody>
      </p:sp>
    </p:spTree>
    <p:extLst>
      <p:ext uri="{BB962C8B-B14F-4D97-AF65-F5344CB8AC3E}">
        <p14:creationId xmlns:p14="http://schemas.microsoft.com/office/powerpoint/2010/main" val="7838925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5D2D7-7392-88C4-B6B9-99D747BAD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E8C580CB-0901-A2B9-0C39-CA9AFE1305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1967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8B7A9-D6F4-66AA-8D49-38712F66E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AEDF98A-EADE-3F23-E69D-CEB3A03A6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Tool 1: cerca i voli</a:t>
            </a:r>
          </a:p>
        </p:txBody>
      </p:sp>
      <p:sp>
        <p:nvSpPr>
          <p:cNvPr id="5" name="Tool0">
            <a:extLst>
              <a:ext uri="{FF2B5EF4-FFF2-40B4-BE49-F238E27FC236}">
                <a16:creationId xmlns:a16="http://schemas.microsoft.com/office/drawing/2014/main" id="{74436722-75C9-684F-AD4F-87ACFFF0B6A8}"/>
              </a:ext>
            </a:extLst>
          </p:cNvPr>
          <p:cNvSpPr/>
          <p:nvPr/>
        </p:nvSpPr>
        <p:spPr>
          <a:xfrm>
            <a:off x="504190" y="1791607"/>
            <a:ext cx="11183620" cy="3744686"/>
          </a:xfrm>
          <a:prstGeom prst="roundRect">
            <a:avLst/>
          </a:prstGeom>
          <a:solidFill>
            <a:srgbClr val="2D2D2D"/>
          </a:solidFill>
          <a:ln w="0">
            <a:noFill/>
          </a:ln>
        </p:spPr>
        <p:txBody>
          <a:bodyPr wrap="square" lIns="127000" tIns="101600" rIns="127000" bIns="101600" anchor="ctr"/>
          <a:lstStyle/>
          <a:p>
            <a:r>
              <a:rPr lang="en-US" dirty="0">
                <a:latin typeface="Monospac821 BT" panose="020B0609020202020204" pitchFamily="49" charset="0"/>
              </a:rPr>
              <a:t>[</a:t>
            </a:r>
            <a:r>
              <a:rPr lang="en-US" dirty="0">
                <a:solidFill>
                  <a:schemeClr val="accent2"/>
                </a:solidFill>
                <a:latin typeface="Monospac821 BT" panose="020B0609020202020204" pitchFamily="49" charset="0"/>
              </a:rPr>
              <a:t>Description</a:t>
            </a:r>
            <a:r>
              <a:rPr lang="en-US" dirty="0">
                <a:latin typeface="Monospac821 BT" panose="020B0609020202020204" pitchFamily="49" charset="0"/>
              </a:rPr>
              <a:t>(</a:t>
            </a:r>
            <a:r>
              <a:rPr lang="en-US" dirty="0">
                <a:solidFill>
                  <a:srgbClr val="00B050"/>
                </a:solidFill>
                <a:latin typeface="Monospac821 BT" panose="020B0609020202020204" pitchFamily="49" charset="0"/>
              </a:rPr>
              <a:t>"Searches available flights to a destination."</a:t>
            </a:r>
            <a:r>
              <a:rPr lang="en-US" dirty="0">
                <a:latin typeface="Monospac821 BT" panose="020B0609020202020204" pitchFamily="49" charset="0"/>
              </a:rPr>
              <a:t>)]</a:t>
            </a:r>
          </a:p>
          <a:p>
            <a:r>
              <a:rPr lang="en-US" dirty="0">
                <a:solidFill>
                  <a:srgbClr val="B4009E"/>
                </a:solidFill>
                <a:latin typeface="Monospac821 BT" panose="020B0609020202020204" pitchFamily="49" charset="0"/>
              </a:rPr>
              <a:t>static</a:t>
            </a:r>
            <a:r>
              <a:rPr lang="en-US" dirty="0">
                <a:latin typeface="Monospac821 BT" panose="020B0609020202020204" pitchFamily="49" charset="0"/>
              </a:rPr>
              <a:t> </a:t>
            </a:r>
            <a:r>
              <a:rPr lang="en-US" dirty="0">
                <a:solidFill>
                  <a:srgbClr val="B4009E"/>
                </a:solidFill>
                <a:latin typeface="Monospac821 BT" panose="020B0609020202020204" pitchFamily="49" charset="0"/>
              </a:rPr>
              <a:t>string</a:t>
            </a:r>
            <a:r>
              <a:rPr lang="en-US" dirty="0">
                <a:latin typeface="Monospac821 BT" panose="020B0609020202020204" pitchFamily="49" charset="0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Monospac821 BT" panose="020B0609020202020204" pitchFamily="49" charset="0"/>
              </a:rPr>
              <a:t>SearchFlights</a:t>
            </a:r>
            <a:r>
              <a:rPr lang="en-US" dirty="0">
                <a:latin typeface="Monospac821 BT" panose="020B0609020202020204" pitchFamily="49" charset="0"/>
              </a:rPr>
              <a:t>(</a:t>
            </a:r>
            <a:r>
              <a:rPr lang="en-US" dirty="0">
                <a:solidFill>
                  <a:srgbClr val="B4009E"/>
                </a:solidFill>
                <a:latin typeface="Monospac821 BT" panose="020B0609020202020204" pitchFamily="49" charset="0"/>
              </a:rPr>
              <a:t>string</a:t>
            </a:r>
            <a:r>
              <a:rPr lang="en-US" dirty="0">
                <a:latin typeface="Monospac821 BT" panose="020B0609020202020204" pitchFamily="49" charset="0"/>
              </a:rPr>
              <a:t> destination)</a:t>
            </a:r>
          </a:p>
          <a:p>
            <a:r>
              <a:rPr lang="en-US" dirty="0">
                <a:latin typeface="Monospac821 BT" panose="020B0609020202020204" pitchFamily="49" charset="0"/>
              </a:rPr>
              <a:t>{</a:t>
            </a:r>
          </a:p>
          <a:p>
            <a:r>
              <a:rPr lang="en-US" dirty="0">
                <a:latin typeface="Monospac821 BT" panose="020B0609020202020204" pitchFamily="49" charset="0"/>
              </a:rPr>
              <a:t>    </a:t>
            </a:r>
            <a:r>
              <a:rPr lang="en-US" dirty="0">
                <a:solidFill>
                  <a:srgbClr val="B4009E"/>
                </a:solidFill>
                <a:latin typeface="Monospac821 BT" panose="020B0609020202020204" pitchFamily="49" charset="0"/>
              </a:rPr>
              <a:t>return</a:t>
            </a:r>
            <a:r>
              <a:rPr lang="en-US" dirty="0">
                <a:latin typeface="Monospac821 BT" panose="020B0609020202020204" pitchFamily="49" charset="0"/>
              </a:rPr>
              <a:t> </a:t>
            </a:r>
            <a:r>
              <a:rPr lang="en-US" dirty="0">
                <a:solidFill>
                  <a:srgbClr val="00B050"/>
                </a:solidFill>
                <a:latin typeface="Monospac821 BT" panose="020B0609020202020204" pitchFamily="49" charset="0"/>
              </a:rPr>
              <a:t>$"Found 3 flights to </a:t>
            </a:r>
            <a:r>
              <a:rPr lang="en-US" dirty="0">
                <a:latin typeface="Monospac821 BT" panose="020B0609020202020204" pitchFamily="49" charset="0"/>
              </a:rPr>
              <a:t>{destination}</a:t>
            </a:r>
            <a:r>
              <a:rPr lang="en-US" dirty="0">
                <a:solidFill>
                  <a:srgbClr val="00B050"/>
                </a:solidFill>
                <a:latin typeface="Monospac821 BT" panose="020B0609020202020204" pitchFamily="49" charset="0"/>
              </a:rPr>
              <a:t>: AZ123 €120, LH456 €180, FR789 €95</a:t>
            </a:r>
            <a:r>
              <a:rPr lang="en-US" dirty="0">
                <a:latin typeface="Monospac821 BT" panose="020B0609020202020204" pitchFamily="49" charset="0"/>
              </a:rPr>
              <a:t>";</a:t>
            </a:r>
          </a:p>
          <a:p>
            <a:r>
              <a:rPr lang="en-US" dirty="0">
                <a:latin typeface="Monospac821 BT" panose="020B0609020202020204" pitchFamily="49" charset="0"/>
              </a:rPr>
              <a:t>}</a:t>
            </a:r>
            <a:endParaRPr lang="it-IT" dirty="0">
              <a:latin typeface="Monospac821 BT" panose="020B060902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05860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68B7C-6523-54B6-1931-CEF0CA953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FC11080-35ED-A491-36AB-4128557A3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Tool 2: email cliente</a:t>
            </a:r>
          </a:p>
        </p:txBody>
      </p:sp>
      <p:sp>
        <p:nvSpPr>
          <p:cNvPr id="3" name="Tool0">
            <a:extLst>
              <a:ext uri="{FF2B5EF4-FFF2-40B4-BE49-F238E27FC236}">
                <a16:creationId xmlns:a16="http://schemas.microsoft.com/office/drawing/2014/main" id="{58FB8DBD-3495-DABB-BEB9-7009BADCF8C4}"/>
              </a:ext>
            </a:extLst>
          </p:cNvPr>
          <p:cNvSpPr/>
          <p:nvPr/>
        </p:nvSpPr>
        <p:spPr>
          <a:xfrm>
            <a:off x="561340" y="1817688"/>
            <a:ext cx="11183620" cy="3744686"/>
          </a:xfrm>
          <a:prstGeom prst="roundRect">
            <a:avLst/>
          </a:prstGeom>
          <a:solidFill>
            <a:srgbClr val="2D2D2D"/>
          </a:solidFill>
          <a:ln w="0">
            <a:noFill/>
          </a:ln>
        </p:spPr>
        <p:txBody>
          <a:bodyPr wrap="square" lIns="127000" tIns="101600" rIns="127000" bIns="101600" anchor="ctr"/>
          <a:lstStyle/>
          <a:p>
            <a:r>
              <a:rPr lang="en-US" dirty="0">
                <a:latin typeface="Monospac821 BT" panose="020B0609020202020204" pitchFamily="49" charset="0"/>
              </a:rPr>
              <a:t>[</a:t>
            </a:r>
            <a:r>
              <a:rPr lang="en-US" dirty="0">
                <a:solidFill>
                  <a:schemeClr val="accent2"/>
                </a:solidFill>
                <a:latin typeface="Monospac821 BT" panose="020B0609020202020204" pitchFamily="49" charset="0"/>
              </a:rPr>
              <a:t>Description</a:t>
            </a:r>
            <a:r>
              <a:rPr lang="en-US" dirty="0">
                <a:latin typeface="Monospac821 BT" panose="020B0609020202020204" pitchFamily="49" charset="0"/>
              </a:rPr>
              <a:t>(</a:t>
            </a:r>
            <a:r>
              <a:rPr lang="en-US" dirty="0">
                <a:solidFill>
                  <a:srgbClr val="00B050"/>
                </a:solidFill>
                <a:latin typeface="Monospac821 BT" panose="020B0609020202020204" pitchFamily="49" charset="0"/>
              </a:rPr>
              <a:t>"Gets a customer's email address from our CRM."</a:t>
            </a:r>
            <a:r>
              <a:rPr lang="en-US" dirty="0">
                <a:latin typeface="Monospac821 BT" panose="020B0609020202020204" pitchFamily="49" charset="0"/>
              </a:rPr>
              <a:t>)]</a:t>
            </a:r>
          </a:p>
          <a:p>
            <a:r>
              <a:rPr lang="en-US" dirty="0">
                <a:solidFill>
                  <a:srgbClr val="B4009E"/>
                </a:solidFill>
                <a:latin typeface="Monospac821 BT" panose="020B0609020202020204" pitchFamily="49" charset="0"/>
              </a:rPr>
              <a:t>static</a:t>
            </a:r>
            <a:r>
              <a:rPr lang="en-US" dirty="0">
                <a:latin typeface="Monospac821 BT" panose="020B0609020202020204" pitchFamily="49" charset="0"/>
              </a:rPr>
              <a:t> </a:t>
            </a:r>
            <a:r>
              <a:rPr lang="en-US" dirty="0">
                <a:solidFill>
                  <a:srgbClr val="B4009E"/>
                </a:solidFill>
                <a:latin typeface="Monospac821 BT" panose="020B0609020202020204" pitchFamily="49" charset="0"/>
              </a:rPr>
              <a:t>string</a:t>
            </a:r>
            <a:r>
              <a:rPr lang="en-US" dirty="0">
                <a:latin typeface="Monospac821 BT" panose="020B0609020202020204" pitchFamily="49" charset="0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Monospac821 BT" panose="020B0609020202020204" pitchFamily="49" charset="0"/>
              </a:rPr>
              <a:t>GetCustomerEmail</a:t>
            </a:r>
            <a:r>
              <a:rPr lang="en-US" dirty="0">
                <a:solidFill>
                  <a:srgbClr val="00B0F0"/>
                </a:solidFill>
                <a:latin typeface="Monospac821 BT" panose="020B0609020202020204" pitchFamily="49" charset="0"/>
              </a:rPr>
              <a:t> </a:t>
            </a:r>
            <a:r>
              <a:rPr lang="en-US" dirty="0">
                <a:latin typeface="Monospac821 BT" panose="020B0609020202020204" pitchFamily="49" charset="0"/>
              </a:rPr>
              <a:t>(</a:t>
            </a:r>
            <a:r>
              <a:rPr lang="en-US" dirty="0">
                <a:solidFill>
                  <a:srgbClr val="B4009E"/>
                </a:solidFill>
                <a:latin typeface="Monospac821 BT" panose="020B0609020202020204" pitchFamily="49" charset="0"/>
              </a:rPr>
              <a:t>string </a:t>
            </a:r>
            <a:r>
              <a:rPr lang="en-US" dirty="0" err="1">
                <a:solidFill>
                  <a:schemeClr val="bg1"/>
                </a:solidFill>
                <a:latin typeface="Monospac821 BT" panose="020B0609020202020204" pitchFamily="49" charset="0"/>
              </a:rPr>
              <a:t>customerId</a:t>
            </a:r>
            <a:r>
              <a:rPr lang="en-US" dirty="0">
                <a:latin typeface="Monospac821 BT" panose="020B0609020202020204" pitchFamily="49" charset="0"/>
              </a:rPr>
              <a:t>)</a:t>
            </a:r>
          </a:p>
          <a:p>
            <a:r>
              <a:rPr lang="en-US" dirty="0">
                <a:latin typeface="Monospac821 BT" panose="020B0609020202020204" pitchFamily="49" charset="0"/>
              </a:rPr>
              <a:t>{</a:t>
            </a:r>
          </a:p>
          <a:p>
            <a:r>
              <a:rPr lang="en-US" dirty="0">
                <a:latin typeface="Monospac821 BT" panose="020B0609020202020204" pitchFamily="49" charset="0"/>
              </a:rPr>
              <a:t>    </a:t>
            </a:r>
            <a:r>
              <a:rPr lang="en-US" dirty="0">
                <a:solidFill>
                  <a:srgbClr val="B4009E"/>
                </a:solidFill>
                <a:latin typeface="Monospac821 BT" panose="020B0609020202020204" pitchFamily="49" charset="0"/>
              </a:rPr>
              <a:t>return</a:t>
            </a:r>
            <a:r>
              <a:rPr lang="en-US" dirty="0">
                <a:latin typeface="Monospac821 BT" panose="020B0609020202020204" pitchFamily="49" charset="0"/>
              </a:rPr>
              <a:t> </a:t>
            </a:r>
            <a:r>
              <a:rPr lang="en-US" dirty="0">
                <a:solidFill>
                  <a:srgbClr val="00B050"/>
                </a:solidFill>
                <a:latin typeface="Monospac821 BT" panose="020B0609020202020204" pitchFamily="49" charset="0"/>
              </a:rPr>
              <a:t>$“Customer. </a:t>
            </a:r>
            <a:r>
              <a:rPr lang="en-US" dirty="0">
                <a:latin typeface="Monospac821 BT" panose="020B0609020202020204" pitchFamily="49" charset="0"/>
              </a:rPr>
              <a:t>{</a:t>
            </a:r>
            <a:r>
              <a:rPr lang="en-US" dirty="0" err="1">
                <a:solidFill>
                  <a:schemeClr val="bg1"/>
                </a:solidFill>
                <a:latin typeface="Monospac821 BT" panose="020B0609020202020204" pitchFamily="49" charset="0"/>
              </a:rPr>
              <a:t>customerId</a:t>
            </a:r>
            <a:r>
              <a:rPr lang="en-US" dirty="0">
                <a:latin typeface="Monospac821 BT" panose="020B0609020202020204" pitchFamily="49" charset="0"/>
              </a:rPr>
              <a:t>}</a:t>
            </a:r>
            <a:r>
              <a:rPr lang="en-US" dirty="0">
                <a:solidFill>
                  <a:srgbClr val="00B050"/>
                </a:solidFill>
                <a:latin typeface="Monospac821 BT" panose="020B0609020202020204" pitchFamily="49" charset="0"/>
              </a:rPr>
              <a:t>@example.com</a:t>
            </a:r>
            <a:r>
              <a:rPr lang="en-US" dirty="0">
                <a:latin typeface="Monospac821 BT" panose="020B0609020202020204" pitchFamily="49" charset="0"/>
              </a:rPr>
              <a:t>";</a:t>
            </a:r>
          </a:p>
          <a:p>
            <a:r>
              <a:rPr lang="en-US" dirty="0">
                <a:latin typeface="Monospac821 BT" panose="020B0609020202020204" pitchFamily="49" charset="0"/>
              </a:rPr>
              <a:t>}</a:t>
            </a:r>
            <a:endParaRPr lang="it-IT" dirty="0">
              <a:latin typeface="Monospac821 BT" panose="020B060902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00072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12198-F170-C38A-AAFE-72CA2DB25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6ADA515-40D3-CF2E-2D26-31E80E412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Tool 3: prenota i voli</a:t>
            </a:r>
          </a:p>
        </p:txBody>
      </p:sp>
      <p:sp>
        <p:nvSpPr>
          <p:cNvPr id="4" name="Tool0">
            <a:extLst>
              <a:ext uri="{FF2B5EF4-FFF2-40B4-BE49-F238E27FC236}">
                <a16:creationId xmlns:a16="http://schemas.microsoft.com/office/drawing/2014/main" id="{4C84E1E7-4FD2-D58E-99B4-B3AEE6884CAA}"/>
              </a:ext>
            </a:extLst>
          </p:cNvPr>
          <p:cNvSpPr/>
          <p:nvPr/>
        </p:nvSpPr>
        <p:spPr>
          <a:xfrm>
            <a:off x="504190" y="1886857"/>
            <a:ext cx="11183620" cy="3744686"/>
          </a:xfrm>
          <a:prstGeom prst="roundRect">
            <a:avLst/>
          </a:prstGeom>
          <a:solidFill>
            <a:srgbClr val="2D2D2D"/>
          </a:solidFill>
          <a:ln w="0">
            <a:noFill/>
          </a:ln>
        </p:spPr>
        <p:txBody>
          <a:bodyPr wrap="square" lIns="127000" tIns="101600" rIns="127000" bIns="101600" anchor="ctr"/>
          <a:lstStyle/>
          <a:p>
            <a:r>
              <a:rPr lang="en-US" dirty="0">
                <a:latin typeface="Monospac821 BT" panose="020B0609020202020204" pitchFamily="49" charset="0"/>
              </a:rPr>
              <a:t>[</a:t>
            </a:r>
            <a:r>
              <a:rPr lang="en-US" dirty="0">
                <a:solidFill>
                  <a:schemeClr val="accent2"/>
                </a:solidFill>
                <a:latin typeface="Monospac821 BT" panose="020B0609020202020204" pitchFamily="49" charset="0"/>
              </a:rPr>
              <a:t>Description</a:t>
            </a:r>
            <a:r>
              <a:rPr lang="en-US" dirty="0">
                <a:latin typeface="Monospac821 BT" panose="020B0609020202020204" pitchFamily="49" charset="0"/>
              </a:rPr>
              <a:t>(</a:t>
            </a:r>
            <a:r>
              <a:rPr lang="en-US" dirty="0">
                <a:solidFill>
                  <a:srgbClr val="00B050"/>
                </a:solidFill>
                <a:latin typeface="Monospac821 BT" panose="020B0609020202020204" pitchFamily="49" charset="0"/>
              </a:rPr>
              <a:t>"Books a flight. Charges the saved payment method."</a:t>
            </a:r>
            <a:r>
              <a:rPr lang="en-US" dirty="0">
                <a:latin typeface="Monospac821 BT" panose="020B0609020202020204" pitchFamily="49" charset="0"/>
              </a:rPr>
              <a:t>)]</a:t>
            </a:r>
          </a:p>
          <a:p>
            <a:r>
              <a:rPr lang="en-US" dirty="0">
                <a:solidFill>
                  <a:srgbClr val="B4009E"/>
                </a:solidFill>
                <a:latin typeface="Monospac821 BT" panose="020B0609020202020204" pitchFamily="49" charset="0"/>
              </a:rPr>
              <a:t>static</a:t>
            </a:r>
            <a:r>
              <a:rPr lang="en-US" dirty="0">
                <a:latin typeface="Monospac821 BT" panose="020B0609020202020204" pitchFamily="49" charset="0"/>
              </a:rPr>
              <a:t> </a:t>
            </a:r>
            <a:r>
              <a:rPr lang="en-US" dirty="0">
                <a:solidFill>
                  <a:srgbClr val="B4009E"/>
                </a:solidFill>
                <a:latin typeface="Monospac821 BT" panose="020B0609020202020204" pitchFamily="49" charset="0"/>
              </a:rPr>
              <a:t>string</a:t>
            </a:r>
            <a:r>
              <a:rPr lang="en-US" dirty="0">
                <a:latin typeface="Monospac821 BT" panose="020B0609020202020204" pitchFamily="49" charset="0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Monospac821 BT" panose="020B0609020202020204" pitchFamily="49" charset="0"/>
              </a:rPr>
              <a:t>BookFlight</a:t>
            </a:r>
            <a:r>
              <a:rPr lang="en-US" dirty="0">
                <a:solidFill>
                  <a:srgbClr val="00B0F0"/>
                </a:solidFill>
                <a:latin typeface="Monospac821 BT" panose="020B0609020202020204" pitchFamily="49" charset="0"/>
              </a:rPr>
              <a:t> </a:t>
            </a:r>
            <a:r>
              <a:rPr lang="en-US" dirty="0">
                <a:latin typeface="Monospac821 BT" panose="020B0609020202020204" pitchFamily="49" charset="0"/>
              </a:rPr>
              <a:t>(</a:t>
            </a:r>
            <a:r>
              <a:rPr lang="en-US" dirty="0">
                <a:solidFill>
                  <a:srgbClr val="B4009E"/>
                </a:solidFill>
                <a:latin typeface="Monospac821 BT" panose="020B0609020202020204" pitchFamily="49" charset="0"/>
              </a:rPr>
              <a:t>string</a:t>
            </a:r>
            <a:r>
              <a:rPr lang="en-US" dirty="0">
                <a:latin typeface="Monospac821 BT" panose="020B0609020202020204" pitchFamily="49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Monospac821 BT" panose="020B0609020202020204" pitchFamily="49" charset="0"/>
              </a:rPr>
              <a:t>flightId</a:t>
            </a:r>
            <a:r>
              <a:rPr lang="en-US" dirty="0">
                <a:latin typeface="Monospac821 BT" panose="020B0609020202020204" pitchFamily="49" charset="0"/>
              </a:rPr>
              <a:t>, </a:t>
            </a:r>
            <a:r>
              <a:rPr lang="en-US" dirty="0">
                <a:solidFill>
                  <a:srgbClr val="B4009E"/>
                </a:solidFill>
                <a:latin typeface="Monospac821 BT" panose="020B0609020202020204" pitchFamily="49" charset="0"/>
              </a:rPr>
              <a:t>string </a:t>
            </a:r>
            <a:r>
              <a:rPr lang="en-US" dirty="0" err="1">
                <a:solidFill>
                  <a:schemeClr val="bg1"/>
                </a:solidFill>
                <a:latin typeface="Monospac821 BT" panose="020B0609020202020204" pitchFamily="49" charset="0"/>
              </a:rPr>
              <a:t>customerId</a:t>
            </a:r>
            <a:r>
              <a:rPr lang="en-US" dirty="0">
                <a:latin typeface="Monospac821 BT" panose="020B0609020202020204" pitchFamily="49" charset="0"/>
              </a:rPr>
              <a:t>)</a:t>
            </a:r>
          </a:p>
          <a:p>
            <a:r>
              <a:rPr lang="en-US" dirty="0">
                <a:latin typeface="Monospac821 BT" panose="020B0609020202020204" pitchFamily="49" charset="0"/>
              </a:rPr>
              <a:t>{</a:t>
            </a:r>
          </a:p>
          <a:p>
            <a:r>
              <a:rPr lang="en-US" dirty="0">
                <a:latin typeface="Monospac821 BT" panose="020B0609020202020204" pitchFamily="49" charset="0"/>
              </a:rPr>
              <a:t>    </a:t>
            </a:r>
            <a:r>
              <a:rPr lang="en-US" dirty="0">
                <a:solidFill>
                  <a:srgbClr val="B4009E"/>
                </a:solidFill>
                <a:latin typeface="Monospac821 BT" panose="020B0609020202020204" pitchFamily="49" charset="0"/>
              </a:rPr>
              <a:t>return</a:t>
            </a:r>
            <a:r>
              <a:rPr lang="en-US" dirty="0">
                <a:latin typeface="Monospac821 BT" panose="020B0609020202020204" pitchFamily="49" charset="0"/>
              </a:rPr>
              <a:t> </a:t>
            </a:r>
            <a:r>
              <a:rPr lang="en-US" dirty="0">
                <a:solidFill>
                  <a:srgbClr val="00B050"/>
                </a:solidFill>
                <a:latin typeface="Monospac821 BT" panose="020B0609020202020204" pitchFamily="49" charset="0"/>
              </a:rPr>
              <a:t>$"Flight </a:t>
            </a:r>
            <a:r>
              <a:rPr lang="en-US" dirty="0">
                <a:latin typeface="Monospac821 BT" panose="020B0609020202020204" pitchFamily="49" charset="0"/>
              </a:rPr>
              <a:t>{</a:t>
            </a:r>
            <a:r>
              <a:rPr lang="en-US" dirty="0" err="1">
                <a:solidFill>
                  <a:schemeClr val="bg1"/>
                </a:solidFill>
                <a:latin typeface="Monospac821 BT" panose="020B0609020202020204" pitchFamily="49" charset="0"/>
              </a:rPr>
              <a:t>flightId</a:t>
            </a:r>
            <a:r>
              <a:rPr lang="en-US" dirty="0">
                <a:latin typeface="Monospac821 BT" panose="020B0609020202020204" pitchFamily="49" charset="0"/>
              </a:rPr>
              <a:t>}</a:t>
            </a:r>
            <a:r>
              <a:rPr lang="en-US" dirty="0">
                <a:solidFill>
                  <a:srgbClr val="00B050"/>
                </a:solidFill>
                <a:latin typeface="Monospac821 BT" panose="020B0609020202020204" pitchFamily="49" charset="0"/>
              </a:rPr>
              <a:t> booked for customer </a:t>
            </a:r>
            <a:r>
              <a:rPr lang="en-US" dirty="0">
                <a:latin typeface="Monospac821 BT" panose="020B0609020202020204" pitchFamily="49" charset="0"/>
              </a:rPr>
              <a:t>{</a:t>
            </a:r>
            <a:r>
              <a:rPr lang="en-US" dirty="0" err="1">
                <a:solidFill>
                  <a:schemeClr val="bg1"/>
                </a:solidFill>
                <a:latin typeface="Monospac821 BT" panose="020B0609020202020204" pitchFamily="49" charset="0"/>
              </a:rPr>
              <a:t>customerId</a:t>
            </a:r>
            <a:r>
              <a:rPr lang="en-US" dirty="0">
                <a:latin typeface="Monospac821 BT" panose="020B0609020202020204" pitchFamily="49" charset="0"/>
              </a:rPr>
              <a:t>}</a:t>
            </a:r>
            <a:r>
              <a:rPr lang="en-US" dirty="0">
                <a:solidFill>
                  <a:srgbClr val="00B050"/>
                </a:solidFill>
                <a:latin typeface="Monospac821 BT" panose="020B0609020202020204" pitchFamily="49" charset="0"/>
              </a:rPr>
              <a:t> €299 charged.</a:t>
            </a:r>
            <a:r>
              <a:rPr lang="en-US" dirty="0">
                <a:latin typeface="Monospac821 BT" panose="020B0609020202020204" pitchFamily="49" charset="0"/>
              </a:rPr>
              <a:t>";</a:t>
            </a:r>
          </a:p>
          <a:p>
            <a:r>
              <a:rPr lang="en-US" dirty="0">
                <a:latin typeface="Monospac821 BT" panose="020B0609020202020204" pitchFamily="49" charset="0"/>
              </a:rPr>
              <a:t>}</a:t>
            </a:r>
            <a:endParaRPr lang="it-IT" dirty="0">
              <a:latin typeface="Monospac821 BT" panose="020B060902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92749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2B051-B68B-0C28-CC95-2EBA8AC07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4194334-DB77-62B2-DFA3-DFD782C2C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Dare tool ad agente</a:t>
            </a:r>
          </a:p>
        </p:txBody>
      </p:sp>
      <p:sp>
        <p:nvSpPr>
          <p:cNvPr id="5" name="Tool0">
            <a:extLst>
              <a:ext uri="{FF2B5EF4-FFF2-40B4-BE49-F238E27FC236}">
                <a16:creationId xmlns:a16="http://schemas.microsoft.com/office/drawing/2014/main" id="{836C885B-B89E-54AF-CF8F-6C7E1A161854}"/>
              </a:ext>
            </a:extLst>
          </p:cNvPr>
          <p:cNvSpPr/>
          <p:nvPr/>
        </p:nvSpPr>
        <p:spPr>
          <a:xfrm>
            <a:off x="504190" y="1804307"/>
            <a:ext cx="11368496" cy="4506686"/>
          </a:xfrm>
          <a:prstGeom prst="roundRect">
            <a:avLst/>
          </a:prstGeom>
          <a:solidFill>
            <a:srgbClr val="2D2D2D"/>
          </a:solidFill>
          <a:ln w="0">
            <a:noFill/>
          </a:ln>
        </p:spPr>
        <p:txBody>
          <a:bodyPr wrap="square" lIns="127000" tIns="101600" rIns="127000" bIns="101600" anchor="ctr"/>
          <a:lstStyle/>
          <a:p>
            <a:r>
              <a:rPr lang="en-US" dirty="0" err="1">
                <a:solidFill>
                  <a:schemeClr val="accent2"/>
                </a:solidFill>
                <a:latin typeface="Monospac821 BT" panose="020B0609020202020204" pitchFamily="49" charset="0"/>
              </a:rPr>
              <a:t>AIAgent</a:t>
            </a:r>
            <a:r>
              <a:rPr lang="en-US" dirty="0">
                <a:latin typeface="Monospac821 BT" panose="020B0609020202020204" pitchFamily="49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Monospac821 BT" panose="020B0609020202020204" pitchFamily="49" charset="0"/>
              </a:rPr>
              <a:t>agent</a:t>
            </a:r>
            <a:r>
              <a:rPr lang="en-US" dirty="0">
                <a:latin typeface="Monospac821 BT" panose="020B0609020202020204" pitchFamily="49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Monospac821 BT" panose="020B0609020202020204" pitchFamily="49" charset="0"/>
              </a:rPr>
              <a:t>= new (/*...*/)</a:t>
            </a:r>
          </a:p>
          <a:p>
            <a:r>
              <a:rPr lang="en-US" dirty="0">
                <a:latin typeface="Monospac821 BT" panose="020B0609020202020204" pitchFamily="49" charset="0"/>
              </a:rPr>
              <a:t>    .</a:t>
            </a:r>
            <a:r>
              <a:rPr lang="en-US" dirty="0" err="1">
                <a:solidFill>
                  <a:srgbClr val="00B0F0"/>
                </a:solidFill>
                <a:latin typeface="Monospac821 BT" panose="020B0609020202020204" pitchFamily="49" charset="0"/>
              </a:rPr>
              <a:t>AsAIAgent</a:t>
            </a:r>
            <a:r>
              <a:rPr lang="en-US" dirty="0">
                <a:latin typeface="Monospac821 BT" panose="020B0609020202020204" pitchFamily="49" charset="0"/>
              </a:rPr>
              <a:t>(</a:t>
            </a:r>
          </a:p>
          <a:p>
            <a:r>
              <a:rPr lang="en-US" dirty="0">
                <a:latin typeface="Monospac821 BT" panose="020B0609020202020204" pitchFamily="49" charset="0"/>
              </a:rPr>
              <a:t>        </a:t>
            </a:r>
            <a:r>
              <a:rPr lang="en-US" dirty="0">
                <a:solidFill>
                  <a:schemeClr val="bg1"/>
                </a:solidFill>
                <a:latin typeface="Monospac821 BT" panose="020B0609020202020204" pitchFamily="49" charset="0"/>
              </a:rPr>
              <a:t>name</a:t>
            </a:r>
            <a:r>
              <a:rPr lang="en-US" dirty="0">
                <a:latin typeface="Monospac821 BT" panose="020B0609020202020204" pitchFamily="49" charset="0"/>
              </a:rPr>
              <a:t>: </a:t>
            </a:r>
            <a:r>
              <a:rPr lang="en-US" dirty="0">
                <a:solidFill>
                  <a:srgbClr val="00B050"/>
                </a:solidFill>
                <a:latin typeface="Monospac821 BT" panose="020B0609020202020204" pitchFamily="49" charset="0"/>
              </a:rPr>
              <a:t>“</a:t>
            </a:r>
            <a:r>
              <a:rPr lang="en-US" dirty="0" err="1">
                <a:solidFill>
                  <a:srgbClr val="00B050"/>
                </a:solidFill>
                <a:latin typeface="Monospac821 BT" panose="020B0609020202020204" pitchFamily="49" charset="0"/>
              </a:rPr>
              <a:t>TravelAgent</a:t>
            </a:r>
            <a:r>
              <a:rPr lang="en-US" dirty="0">
                <a:solidFill>
                  <a:srgbClr val="00B050"/>
                </a:solidFill>
                <a:latin typeface="Monospac821 BT" panose="020B0609020202020204" pitchFamily="49" charset="0"/>
              </a:rPr>
              <a:t>"</a:t>
            </a:r>
            <a:r>
              <a:rPr lang="en-US" dirty="0">
                <a:latin typeface="Monospac821 BT" panose="020B0609020202020204" pitchFamily="49" charset="0"/>
              </a:rPr>
              <a:t>,</a:t>
            </a:r>
          </a:p>
          <a:p>
            <a:r>
              <a:rPr lang="en-US" dirty="0">
                <a:latin typeface="Monospac821 BT" panose="020B0609020202020204" pitchFamily="49" charset="0"/>
              </a:rPr>
              <a:t>        </a:t>
            </a:r>
            <a:r>
              <a:rPr lang="en-US" dirty="0">
                <a:solidFill>
                  <a:schemeClr val="bg1"/>
                </a:solidFill>
                <a:latin typeface="Monospac821 BT" panose="020B0609020202020204" pitchFamily="49" charset="0"/>
              </a:rPr>
              <a:t>instructions</a:t>
            </a:r>
            <a:r>
              <a:rPr lang="en-US" dirty="0">
                <a:latin typeface="Monospac821 BT" panose="020B0609020202020204" pitchFamily="49" charset="0"/>
              </a:rPr>
              <a:t>: </a:t>
            </a:r>
            <a:r>
              <a:rPr lang="en-US" dirty="0">
                <a:solidFill>
                  <a:srgbClr val="00B050"/>
                </a:solidFill>
                <a:latin typeface="Monospac821 BT" panose="020B0609020202020204" pitchFamily="49" charset="0"/>
              </a:rPr>
              <a:t>"You are a travel assistant."</a:t>
            </a:r>
            <a:r>
              <a:rPr lang="en-US" dirty="0">
                <a:latin typeface="Monospac821 BT" panose="020B0609020202020204" pitchFamily="49" charset="0"/>
              </a:rPr>
              <a:t>,</a:t>
            </a:r>
          </a:p>
          <a:p>
            <a:r>
              <a:rPr lang="en-US" dirty="0">
                <a:latin typeface="Monospac821 BT" panose="020B0609020202020204" pitchFamily="49" charset="0"/>
              </a:rPr>
              <a:t>        </a:t>
            </a:r>
            <a:r>
              <a:rPr lang="en-US" dirty="0">
                <a:solidFill>
                  <a:schemeClr val="bg1"/>
                </a:solidFill>
                <a:latin typeface="Monospac821 BT" panose="020B0609020202020204" pitchFamily="49" charset="0"/>
              </a:rPr>
              <a:t>tools:</a:t>
            </a:r>
          </a:p>
          <a:p>
            <a:r>
              <a:rPr lang="en-US" dirty="0">
                <a:solidFill>
                  <a:schemeClr val="bg1"/>
                </a:solidFill>
                <a:latin typeface="Monospac821 BT" panose="020B0609020202020204" pitchFamily="49" charset="0"/>
              </a:rPr>
              <a:t>        [</a:t>
            </a:r>
          </a:p>
          <a:p>
            <a:r>
              <a:rPr lang="en-US" dirty="0">
                <a:latin typeface="Monospac821 BT" panose="020B0609020202020204" pitchFamily="49" charset="0"/>
              </a:rPr>
              <a:t>            </a:t>
            </a:r>
            <a:r>
              <a:rPr lang="en-US" dirty="0" err="1">
                <a:solidFill>
                  <a:schemeClr val="accent2"/>
                </a:solidFill>
                <a:latin typeface="Monospac821 BT" panose="020B0609020202020204" pitchFamily="49" charset="0"/>
              </a:rPr>
              <a:t>AIFunctionFactory</a:t>
            </a:r>
            <a:r>
              <a:rPr lang="en-US" dirty="0" err="1">
                <a:latin typeface="Monospac821 BT" panose="020B0609020202020204" pitchFamily="49" charset="0"/>
              </a:rPr>
              <a:t>.</a:t>
            </a:r>
            <a:r>
              <a:rPr lang="en-US" dirty="0" err="1">
                <a:solidFill>
                  <a:schemeClr val="accent2"/>
                </a:solidFill>
                <a:latin typeface="Monospac821 BT" panose="020B0609020202020204" pitchFamily="49" charset="0"/>
              </a:rPr>
              <a:t>Create</a:t>
            </a:r>
            <a:r>
              <a:rPr lang="en-US" dirty="0">
                <a:solidFill>
                  <a:schemeClr val="bg1"/>
                </a:solidFill>
                <a:latin typeface="Monospac821 BT" panose="020B0609020202020204" pitchFamily="49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Monospac821 BT" panose="020B0609020202020204" pitchFamily="49" charset="0"/>
              </a:rPr>
              <a:t>SearchFlights</a:t>
            </a:r>
            <a:r>
              <a:rPr lang="en-US" dirty="0">
                <a:solidFill>
                  <a:schemeClr val="bg1"/>
                </a:solidFill>
                <a:latin typeface="Monospac821 BT" panose="020B0609020202020204" pitchFamily="49" charset="0"/>
              </a:rPr>
              <a:t>),</a:t>
            </a:r>
          </a:p>
          <a:p>
            <a:r>
              <a:rPr lang="en-US" dirty="0">
                <a:latin typeface="Monospac821 BT" panose="020B0609020202020204" pitchFamily="49" charset="0"/>
              </a:rPr>
              <a:t>            </a:t>
            </a:r>
            <a:r>
              <a:rPr lang="en-US" dirty="0" err="1">
                <a:solidFill>
                  <a:schemeClr val="accent2"/>
                </a:solidFill>
                <a:latin typeface="Monospac821 BT" panose="020B0609020202020204" pitchFamily="49" charset="0"/>
              </a:rPr>
              <a:t>AIFunctionFactory</a:t>
            </a:r>
            <a:r>
              <a:rPr lang="en-US" dirty="0" err="1">
                <a:latin typeface="Monospac821 BT" panose="020B0609020202020204" pitchFamily="49" charset="0"/>
              </a:rPr>
              <a:t>.</a:t>
            </a:r>
            <a:r>
              <a:rPr lang="en-US" dirty="0" err="1">
                <a:solidFill>
                  <a:schemeClr val="accent2"/>
                </a:solidFill>
                <a:latin typeface="Monospac821 BT" panose="020B0609020202020204" pitchFamily="49" charset="0"/>
              </a:rPr>
              <a:t>Create</a:t>
            </a:r>
            <a:r>
              <a:rPr lang="en-US" dirty="0">
                <a:solidFill>
                  <a:schemeClr val="bg1"/>
                </a:solidFill>
                <a:latin typeface="Monospac821 BT" panose="020B0609020202020204" pitchFamily="49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Monospac821 BT" panose="020B0609020202020204" pitchFamily="49" charset="0"/>
              </a:rPr>
              <a:t>GetCustomerEmail</a:t>
            </a:r>
            <a:r>
              <a:rPr lang="en-US" dirty="0">
                <a:solidFill>
                  <a:schemeClr val="bg1"/>
                </a:solidFill>
                <a:latin typeface="Monospac821 BT" panose="020B0609020202020204" pitchFamily="49" charset="0"/>
              </a:rPr>
              <a:t>),</a:t>
            </a:r>
          </a:p>
          <a:p>
            <a:r>
              <a:rPr lang="en-US" dirty="0">
                <a:latin typeface="Monospac821 BT" panose="020B0609020202020204" pitchFamily="49" charset="0"/>
              </a:rPr>
              <a:t>            </a:t>
            </a:r>
            <a:r>
              <a:rPr lang="en-US" dirty="0" err="1">
                <a:solidFill>
                  <a:schemeClr val="accent2"/>
                </a:solidFill>
                <a:latin typeface="Monospac821 BT" panose="020B0609020202020204" pitchFamily="49" charset="0"/>
              </a:rPr>
              <a:t>AIFunctionFactory</a:t>
            </a:r>
            <a:r>
              <a:rPr lang="en-US" dirty="0" err="1">
                <a:latin typeface="Monospac821 BT" panose="020B0609020202020204" pitchFamily="49" charset="0"/>
              </a:rPr>
              <a:t>.</a:t>
            </a:r>
            <a:r>
              <a:rPr lang="en-US" dirty="0" err="1">
                <a:solidFill>
                  <a:schemeClr val="accent2"/>
                </a:solidFill>
                <a:latin typeface="Monospac821 BT" panose="020B0609020202020204" pitchFamily="49" charset="0"/>
              </a:rPr>
              <a:t>Create</a:t>
            </a:r>
            <a:r>
              <a:rPr lang="en-US" dirty="0">
                <a:solidFill>
                  <a:schemeClr val="bg1"/>
                </a:solidFill>
                <a:latin typeface="Monospac821 BT" panose="020B0609020202020204" pitchFamily="49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Monospac821 BT" panose="020B0609020202020204" pitchFamily="49" charset="0"/>
              </a:rPr>
              <a:t>BookFlight</a:t>
            </a:r>
            <a:r>
              <a:rPr lang="en-US" dirty="0">
                <a:solidFill>
                  <a:schemeClr val="bg1"/>
                </a:solidFill>
                <a:latin typeface="Monospac821 BT" panose="020B0609020202020204" pitchFamily="49" charset="0"/>
              </a:rPr>
              <a:t>)</a:t>
            </a:r>
          </a:p>
          <a:p>
            <a:r>
              <a:rPr lang="en-US" dirty="0">
                <a:solidFill>
                  <a:schemeClr val="bg1"/>
                </a:solidFill>
                <a:latin typeface="Monospac821 BT" panose="020B0609020202020204" pitchFamily="49" charset="0"/>
              </a:rPr>
              <a:t>        ]);</a:t>
            </a:r>
            <a:endParaRPr lang="it-IT" dirty="0">
              <a:solidFill>
                <a:schemeClr val="bg1"/>
              </a:solidFill>
              <a:latin typeface="Monospac821 BT" panose="020B060902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38490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B761B-E38F-955B-1718-D9AF3FFB4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7DCBC83-9EA4-6EE9-86C2-6A8C9E78E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2319BBD-398E-6CB3-6CAE-374750CB96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B4EADA2C-FE25-0DD3-5CEA-94E8ECB327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5159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4546E-4B39-3375-0051-CBD4B7BE9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827D3B-D788-4168-9175-BD24EC977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C28E0E4-185F-9733-6489-41B17027EA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FA14AC38-2179-3162-1D38-C2C229E05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3539"/>
            <a:ext cx="12191999" cy="6985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8411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A5049-330D-90A8-4E91-89D6918E9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D7636B0-D493-6B31-6759-90BC96C53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466A2C9-33C0-295E-D5F7-ADEF0611047A}"/>
              </a:ext>
            </a:extLst>
          </p:cNvPr>
          <p:cNvSpPr>
            <a:spLocks noGrp="1"/>
          </p:cNvSpPr>
          <p:nvPr>
            <p:ph type="body" idx="7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97DC3B06-CF4B-F00D-1BE3-4A66252FF7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3539"/>
            <a:ext cx="12191999" cy="6985078"/>
          </a:xfrm>
          <a:prstGeom prst="rect">
            <a:avLst/>
          </a:prstGeom>
        </p:spPr>
      </p:pic>
      <p:sp>
        <p:nvSpPr>
          <p:cNvPr id="6" name="Tool0">
            <a:extLst>
              <a:ext uri="{FF2B5EF4-FFF2-40B4-BE49-F238E27FC236}">
                <a16:creationId xmlns:a16="http://schemas.microsoft.com/office/drawing/2014/main" id="{5CD96D4D-6DED-88BF-D9B0-F5A354F944A8}"/>
              </a:ext>
            </a:extLst>
          </p:cNvPr>
          <p:cNvSpPr/>
          <p:nvPr/>
        </p:nvSpPr>
        <p:spPr>
          <a:xfrm>
            <a:off x="1104933" y="1401963"/>
            <a:ext cx="2540000" cy="571500"/>
          </a:xfrm>
          <a:prstGeom prst="roundRect">
            <a:avLst/>
          </a:prstGeom>
          <a:solidFill>
            <a:srgbClr val="2D2D2D"/>
          </a:solidFill>
          <a:ln w="0">
            <a:noFill/>
          </a:ln>
        </p:spPr>
        <p:txBody>
          <a:bodyPr wrap="square" lIns="127000" tIns="101600" rIns="127000" bIns="101600" anchor="ctr"/>
          <a:lstStyle/>
          <a:p>
            <a:pPr algn="ctr">
              <a:buNone/>
            </a:pPr>
            <a:r>
              <a:rPr lang="it-IT" sz="1400" b="1" dirty="0">
                <a:solidFill>
                  <a:srgbClr val="4FC978"/>
                </a:solidFill>
              </a:rPr>
              <a:t>Tool: </a:t>
            </a:r>
            <a:r>
              <a:rPr lang="it-IT" sz="1400" b="1" dirty="0" err="1">
                <a:solidFill>
                  <a:srgbClr val="4FC978"/>
                </a:solidFill>
              </a:rPr>
              <a:t>search_docs</a:t>
            </a:r>
            <a:r>
              <a:rPr lang="it-IT" sz="1400" b="1" dirty="0">
                <a:solidFill>
                  <a:srgbClr val="4FC978"/>
                </a:solidFill>
              </a:rPr>
              <a:t>()</a:t>
            </a:r>
          </a:p>
        </p:txBody>
      </p:sp>
      <p:sp>
        <p:nvSpPr>
          <p:cNvPr id="7" name="Tool1">
            <a:extLst>
              <a:ext uri="{FF2B5EF4-FFF2-40B4-BE49-F238E27FC236}">
                <a16:creationId xmlns:a16="http://schemas.microsoft.com/office/drawing/2014/main" id="{5E4A5E72-915E-6B0F-011B-DB2151E5663E}"/>
              </a:ext>
            </a:extLst>
          </p:cNvPr>
          <p:cNvSpPr/>
          <p:nvPr/>
        </p:nvSpPr>
        <p:spPr>
          <a:xfrm>
            <a:off x="256540" y="2425710"/>
            <a:ext cx="2540000" cy="571500"/>
          </a:xfrm>
          <a:prstGeom prst="roundRect">
            <a:avLst/>
          </a:prstGeom>
          <a:solidFill>
            <a:srgbClr val="2D2D2D"/>
          </a:solidFill>
          <a:ln w="0">
            <a:noFill/>
          </a:ln>
        </p:spPr>
        <p:txBody>
          <a:bodyPr wrap="square" lIns="127000" tIns="101600" rIns="127000" bIns="101600" anchor="ctr"/>
          <a:lstStyle/>
          <a:p>
            <a:pPr algn="ctr">
              <a:buNone/>
            </a:pPr>
            <a:r>
              <a:rPr lang="it-IT" sz="1400" b="1" dirty="0">
                <a:solidFill>
                  <a:srgbClr val="4FC978"/>
                </a:solidFill>
              </a:rPr>
              <a:t>Tool: </a:t>
            </a:r>
            <a:r>
              <a:rPr lang="it-IT" sz="1400" b="1" dirty="0" err="1">
                <a:solidFill>
                  <a:srgbClr val="4FC978"/>
                </a:solidFill>
              </a:rPr>
              <a:t>query_db</a:t>
            </a:r>
            <a:r>
              <a:rPr lang="it-IT" sz="1400" b="1" dirty="0">
                <a:solidFill>
                  <a:srgbClr val="4FC978"/>
                </a:solidFill>
              </a:rPr>
              <a:t>()</a:t>
            </a:r>
          </a:p>
        </p:txBody>
      </p:sp>
      <p:sp>
        <p:nvSpPr>
          <p:cNvPr id="8" name="Tool2">
            <a:extLst>
              <a:ext uri="{FF2B5EF4-FFF2-40B4-BE49-F238E27FC236}">
                <a16:creationId xmlns:a16="http://schemas.microsoft.com/office/drawing/2014/main" id="{D2F70F5D-C627-E718-F380-4472F0F1C80C}"/>
              </a:ext>
            </a:extLst>
          </p:cNvPr>
          <p:cNvSpPr/>
          <p:nvPr/>
        </p:nvSpPr>
        <p:spPr>
          <a:xfrm>
            <a:off x="1104933" y="4735941"/>
            <a:ext cx="2540000" cy="571500"/>
          </a:xfrm>
          <a:prstGeom prst="roundRect">
            <a:avLst/>
          </a:prstGeom>
          <a:solidFill>
            <a:srgbClr val="2D2D2D"/>
          </a:solidFill>
          <a:ln w="0">
            <a:noFill/>
          </a:ln>
        </p:spPr>
        <p:txBody>
          <a:bodyPr wrap="square" lIns="127000" tIns="101600" rIns="127000" bIns="101600" anchor="ctr"/>
          <a:lstStyle/>
          <a:p>
            <a:pPr algn="ctr">
              <a:buNone/>
            </a:pPr>
            <a:r>
              <a:rPr lang="it-IT" sz="1400" b="1" dirty="0">
                <a:solidFill>
                  <a:srgbClr val="4FC978"/>
                </a:solidFill>
              </a:rPr>
              <a:t>Tool: </a:t>
            </a:r>
            <a:r>
              <a:rPr lang="it-IT" sz="1400" b="1" dirty="0" err="1">
                <a:solidFill>
                  <a:srgbClr val="4FC978"/>
                </a:solidFill>
              </a:rPr>
              <a:t>send_email</a:t>
            </a:r>
            <a:r>
              <a:rPr lang="it-IT" sz="1400" b="1" dirty="0">
                <a:solidFill>
                  <a:srgbClr val="4FC978"/>
                </a:solidFill>
              </a:rPr>
              <a:t>()</a:t>
            </a:r>
          </a:p>
        </p:txBody>
      </p:sp>
      <p:sp>
        <p:nvSpPr>
          <p:cNvPr id="9" name="Tool3">
            <a:extLst>
              <a:ext uri="{FF2B5EF4-FFF2-40B4-BE49-F238E27FC236}">
                <a16:creationId xmlns:a16="http://schemas.microsoft.com/office/drawing/2014/main" id="{CEE745D9-6F96-DE2D-DF09-1C0F7222A4B9}"/>
              </a:ext>
            </a:extLst>
          </p:cNvPr>
          <p:cNvSpPr/>
          <p:nvPr/>
        </p:nvSpPr>
        <p:spPr>
          <a:xfrm>
            <a:off x="9189338" y="1368720"/>
            <a:ext cx="2540000" cy="571500"/>
          </a:xfrm>
          <a:prstGeom prst="roundRect">
            <a:avLst/>
          </a:prstGeom>
          <a:solidFill>
            <a:srgbClr val="2D2D2D"/>
          </a:solidFill>
          <a:ln w="0">
            <a:noFill/>
          </a:ln>
        </p:spPr>
        <p:txBody>
          <a:bodyPr wrap="square" lIns="127000" tIns="101600" rIns="127000" bIns="101600" anchor="ctr"/>
          <a:lstStyle/>
          <a:p>
            <a:pPr algn="ctr">
              <a:buNone/>
            </a:pPr>
            <a:r>
              <a:rPr lang="it-IT" sz="1400" b="1" dirty="0">
                <a:solidFill>
                  <a:srgbClr val="4FC978"/>
                </a:solidFill>
              </a:rPr>
              <a:t>Tool: </a:t>
            </a:r>
            <a:r>
              <a:rPr lang="it-IT" sz="1400" b="1" dirty="0" err="1">
                <a:solidFill>
                  <a:srgbClr val="4FC978"/>
                </a:solidFill>
              </a:rPr>
              <a:t>create_ticket</a:t>
            </a:r>
            <a:r>
              <a:rPr lang="it-IT" sz="1400" b="1" dirty="0">
                <a:solidFill>
                  <a:srgbClr val="4FC978"/>
                </a:solidFill>
              </a:rPr>
              <a:t>()</a:t>
            </a:r>
          </a:p>
        </p:txBody>
      </p:sp>
      <p:sp>
        <p:nvSpPr>
          <p:cNvPr id="10" name="Tool4">
            <a:extLst>
              <a:ext uri="{FF2B5EF4-FFF2-40B4-BE49-F238E27FC236}">
                <a16:creationId xmlns:a16="http://schemas.microsoft.com/office/drawing/2014/main" id="{8D945336-306E-7964-8144-C87059EEBFAA}"/>
              </a:ext>
            </a:extLst>
          </p:cNvPr>
          <p:cNvSpPr/>
          <p:nvPr/>
        </p:nvSpPr>
        <p:spPr>
          <a:xfrm>
            <a:off x="9189338" y="2384720"/>
            <a:ext cx="2540000" cy="571500"/>
          </a:xfrm>
          <a:prstGeom prst="roundRect">
            <a:avLst/>
          </a:prstGeom>
          <a:solidFill>
            <a:srgbClr val="2D2D2D"/>
          </a:solidFill>
          <a:ln w="0">
            <a:noFill/>
          </a:ln>
        </p:spPr>
        <p:txBody>
          <a:bodyPr wrap="square" lIns="127000" tIns="101600" rIns="127000" bIns="101600" anchor="ctr"/>
          <a:lstStyle/>
          <a:p>
            <a:pPr algn="ctr">
              <a:buNone/>
            </a:pPr>
            <a:r>
              <a:rPr lang="it-IT" sz="1400" b="1" dirty="0">
                <a:solidFill>
                  <a:srgbClr val="4FC978"/>
                </a:solidFill>
              </a:rPr>
              <a:t>Tool: </a:t>
            </a:r>
            <a:r>
              <a:rPr lang="it-IT" sz="1400" b="1" dirty="0" err="1">
                <a:solidFill>
                  <a:srgbClr val="4FC978"/>
                </a:solidFill>
              </a:rPr>
              <a:t>read_calendar</a:t>
            </a:r>
            <a:r>
              <a:rPr lang="it-IT" sz="1400" b="1" dirty="0">
                <a:solidFill>
                  <a:srgbClr val="4FC978"/>
                </a:solidFill>
              </a:rPr>
              <a:t>()</a:t>
            </a:r>
          </a:p>
        </p:txBody>
      </p:sp>
      <p:sp>
        <p:nvSpPr>
          <p:cNvPr id="11" name="Tool5">
            <a:extLst>
              <a:ext uri="{FF2B5EF4-FFF2-40B4-BE49-F238E27FC236}">
                <a16:creationId xmlns:a16="http://schemas.microsoft.com/office/drawing/2014/main" id="{42B1B80D-0CDE-BA14-027C-C3B4EEDC6B19}"/>
              </a:ext>
            </a:extLst>
          </p:cNvPr>
          <p:cNvSpPr/>
          <p:nvPr/>
        </p:nvSpPr>
        <p:spPr>
          <a:xfrm>
            <a:off x="9471278" y="4968240"/>
            <a:ext cx="2540000" cy="571500"/>
          </a:xfrm>
          <a:prstGeom prst="roundRect">
            <a:avLst/>
          </a:prstGeom>
          <a:solidFill>
            <a:srgbClr val="2D2D2D"/>
          </a:solidFill>
          <a:ln w="0">
            <a:noFill/>
          </a:ln>
        </p:spPr>
        <p:txBody>
          <a:bodyPr wrap="square" lIns="127000" tIns="101600" rIns="127000" bIns="101600" anchor="ctr"/>
          <a:lstStyle/>
          <a:p>
            <a:pPr algn="ctr">
              <a:buNone/>
            </a:pPr>
            <a:r>
              <a:rPr lang="it-IT" sz="1400" b="1" dirty="0">
                <a:solidFill>
                  <a:srgbClr val="4FC978"/>
                </a:solidFill>
              </a:rPr>
              <a:t>Tool: </a:t>
            </a:r>
            <a:r>
              <a:rPr lang="it-IT" sz="1400" b="1" dirty="0" err="1">
                <a:solidFill>
                  <a:srgbClr val="4FC978"/>
                </a:solidFill>
              </a:rPr>
              <a:t>analyze_data</a:t>
            </a:r>
            <a:r>
              <a:rPr lang="it-IT" sz="1400" b="1" dirty="0">
                <a:solidFill>
                  <a:srgbClr val="4FC978"/>
                </a:solidFill>
              </a:rPr>
              <a:t>()</a:t>
            </a:r>
          </a:p>
        </p:txBody>
      </p:sp>
      <p:sp>
        <p:nvSpPr>
          <p:cNvPr id="12" name="Tool6">
            <a:extLst>
              <a:ext uri="{FF2B5EF4-FFF2-40B4-BE49-F238E27FC236}">
                <a16:creationId xmlns:a16="http://schemas.microsoft.com/office/drawing/2014/main" id="{142959DD-EE70-46F9-5846-AC98F00FD9B6}"/>
              </a:ext>
            </a:extLst>
          </p:cNvPr>
          <p:cNvSpPr/>
          <p:nvPr/>
        </p:nvSpPr>
        <p:spPr>
          <a:xfrm>
            <a:off x="3574610" y="5971615"/>
            <a:ext cx="2540000" cy="571500"/>
          </a:xfrm>
          <a:prstGeom prst="roundRect">
            <a:avLst/>
          </a:prstGeom>
          <a:solidFill>
            <a:srgbClr val="2D2D2D"/>
          </a:solidFill>
          <a:ln w="0">
            <a:noFill/>
          </a:ln>
        </p:spPr>
        <p:txBody>
          <a:bodyPr wrap="square" lIns="127000" tIns="101600" rIns="127000" bIns="101600" anchor="ctr"/>
          <a:lstStyle/>
          <a:p>
            <a:pPr algn="ctr">
              <a:buNone/>
            </a:pPr>
            <a:r>
              <a:rPr lang="it-IT" sz="1400" b="1" dirty="0">
                <a:solidFill>
                  <a:srgbClr val="4FC978"/>
                </a:solidFill>
              </a:rPr>
              <a:t>Tool: </a:t>
            </a:r>
            <a:r>
              <a:rPr lang="it-IT" sz="1400" b="1" dirty="0" err="1">
                <a:solidFill>
                  <a:srgbClr val="4FC978"/>
                </a:solidFill>
              </a:rPr>
              <a:t>call_api</a:t>
            </a:r>
            <a:r>
              <a:rPr lang="it-IT" sz="1400" b="1" dirty="0">
                <a:solidFill>
                  <a:srgbClr val="4FC978"/>
                </a:solidFill>
              </a:rPr>
              <a:t>()</a:t>
            </a:r>
          </a:p>
        </p:txBody>
      </p:sp>
      <p:sp>
        <p:nvSpPr>
          <p:cNvPr id="13" name="Tool7">
            <a:extLst>
              <a:ext uri="{FF2B5EF4-FFF2-40B4-BE49-F238E27FC236}">
                <a16:creationId xmlns:a16="http://schemas.microsoft.com/office/drawing/2014/main" id="{25CC6D52-0F73-E872-F8CF-59CBEABC38A3}"/>
              </a:ext>
            </a:extLst>
          </p:cNvPr>
          <p:cNvSpPr/>
          <p:nvPr/>
        </p:nvSpPr>
        <p:spPr>
          <a:xfrm>
            <a:off x="6837680" y="5732202"/>
            <a:ext cx="2540000" cy="571500"/>
          </a:xfrm>
          <a:prstGeom prst="roundRect">
            <a:avLst/>
          </a:prstGeom>
          <a:solidFill>
            <a:srgbClr val="2D2D2D"/>
          </a:solidFill>
          <a:ln w="0">
            <a:noFill/>
          </a:ln>
        </p:spPr>
        <p:txBody>
          <a:bodyPr wrap="square" lIns="127000" tIns="101600" rIns="127000" bIns="101600" anchor="ctr"/>
          <a:lstStyle/>
          <a:p>
            <a:pPr algn="ctr">
              <a:buNone/>
            </a:pPr>
            <a:r>
              <a:rPr lang="it-IT" sz="1400" b="1" dirty="0">
                <a:solidFill>
                  <a:srgbClr val="4FC978"/>
                </a:solidFill>
              </a:rPr>
              <a:t>Tool: </a:t>
            </a:r>
            <a:r>
              <a:rPr lang="it-IT" sz="1400" b="1" dirty="0" err="1">
                <a:solidFill>
                  <a:srgbClr val="4FC978"/>
                </a:solidFill>
              </a:rPr>
              <a:t>generate_report</a:t>
            </a:r>
            <a:r>
              <a:rPr lang="it-IT" sz="1400" b="1" dirty="0">
                <a:solidFill>
                  <a:srgbClr val="4FC978"/>
                </a:solidFill>
              </a:rPr>
              <a:t>()</a:t>
            </a:r>
          </a:p>
        </p:txBody>
      </p:sp>
      <p:sp>
        <p:nvSpPr>
          <p:cNvPr id="4" name="Tool0">
            <a:extLst>
              <a:ext uri="{FF2B5EF4-FFF2-40B4-BE49-F238E27FC236}">
                <a16:creationId xmlns:a16="http://schemas.microsoft.com/office/drawing/2014/main" id="{B319F048-FF80-729B-2ECA-0BF1CC8978DA}"/>
              </a:ext>
            </a:extLst>
          </p:cNvPr>
          <p:cNvSpPr/>
          <p:nvPr/>
        </p:nvSpPr>
        <p:spPr>
          <a:xfrm>
            <a:off x="3121660" y="212626"/>
            <a:ext cx="2540000" cy="571500"/>
          </a:xfrm>
          <a:prstGeom prst="roundRect">
            <a:avLst/>
          </a:prstGeom>
          <a:solidFill>
            <a:srgbClr val="2D2D2D"/>
          </a:solidFill>
          <a:ln w="0">
            <a:noFill/>
          </a:ln>
        </p:spPr>
        <p:txBody>
          <a:bodyPr wrap="square" lIns="127000" tIns="101600" rIns="127000" bIns="101600" anchor="ctr"/>
          <a:lstStyle/>
          <a:p>
            <a:pPr algn="ctr"/>
            <a:r>
              <a:rPr lang="it-IT" sz="1400" b="1" dirty="0">
                <a:solidFill>
                  <a:srgbClr val="4FC978"/>
                </a:solidFill>
              </a:rPr>
              <a:t>Session </a:t>
            </a:r>
            <a:r>
              <a:rPr lang="it-IT" sz="1400" b="1" dirty="0" err="1">
                <a:solidFill>
                  <a:srgbClr val="4FC978"/>
                </a:solidFill>
              </a:rPr>
              <a:t>memory</a:t>
            </a:r>
            <a:endParaRPr lang="it-IT" sz="1400" b="1" dirty="0">
              <a:solidFill>
                <a:srgbClr val="4FC978"/>
              </a:solidFill>
            </a:endParaRPr>
          </a:p>
        </p:txBody>
      </p:sp>
      <p:sp>
        <p:nvSpPr>
          <p:cNvPr id="14" name="Tool0">
            <a:extLst>
              <a:ext uri="{FF2B5EF4-FFF2-40B4-BE49-F238E27FC236}">
                <a16:creationId xmlns:a16="http://schemas.microsoft.com/office/drawing/2014/main" id="{953BDA71-B173-7302-DF31-06A36EACD54F}"/>
              </a:ext>
            </a:extLst>
          </p:cNvPr>
          <p:cNvSpPr/>
          <p:nvPr/>
        </p:nvSpPr>
        <p:spPr>
          <a:xfrm>
            <a:off x="6215380" y="254000"/>
            <a:ext cx="2540000" cy="571500"/>
          </a:xfrm>
          <a:prstGeom prst="roundRect">
            <a:avLst/>
          </a:prstGeom>
          <a:solidFill>
            <a:srgbClr val="2D2D2D"/>
          </a:solidFill>
          <a:ln w="0">
            <a:noFill/>
          </a:ln>
        </p:spPr>
        <p:txBody>
          <a:bodyPr wrap="square" lIns="127000" tIns="101600" rIns="127000" bIns="101600" anchor="ctr"/>
          <a:lstStyle/>
          <a:p>
            <a:pPr algn="ctr"/>
            <a:r>
              <a:rPr lang="it-IT" sz="1400" b="1" dirty="0">
                <a:solidFill>
                  <a:srgbClr val="4FC978"/>
                </a:solidFill>
              </a:rPr>
              <a:t>RAG</a:t>
            </a:r>
          </a:p>
        </p:txBody>
      </p:sp>
    </p:spTree>
    <p:extLst>
      <p:ext uri="{BB962C8B-B14F-4D97-AF65-F5344CB8AC3E}">
        <p14:creationId xmlns:p14="http://schemas.microsoft.com/office/powerpoint/2010/main" val="22405050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377FFA8-A0C3-15EF-4A1D-1D89E696B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35F052B-7CFA-DEDD-6F88-3490507640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678688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BBADF-9346-AD07-B38D-0925EFD4D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DAF81D9-1173-D320-7606-61F3F0FD9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F4BBFDC-0D1B-78E6-51BE-558E5F7E0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69035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E3B3F-057C-8BF8-9060-C310A585F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92313C73-26EA-39FE-1AEA-E94AD0239F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62" y="642726"/>
            <a:ext cx="12099376" cy="5605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7687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05EA5-DA99-70A9-7BD7-2F943227F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E07E5846-F18C-BB3F-68B6-1541C75B1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MAF – Modalità Workflow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E9F7203-A53A-3C40-54F7-2F14CFA5E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825625"/>
            <a:ext cx="3797300" cy="4351338"/>
          </a:xfrm>
        </p:spPr>
        <p:txBody>
          <a:bodyPr/>
          <a:lstStyle/>
          <a:p>
            <a:pPr marL="0" indent="0">
              <a:buNone/>
            </a:pPr>
            <a:r>
              <a:rPr lang="it-IT" dirty="0"/>
              <a:t>Sequenze predefinite basate su grafi che connettono agenti, funzioni e sistemi esterni. </a:t>
            </a:r>
          </a:p>
          <a:p>
            <a:pPr marL="0" indent="0">
              <a:buNone/>
            </a:pPr>
            <a:r>
              <a:rPr lang="it-IT" dirty="0"/>
              <a:t>Aggiunge orchestrazione, HITL, Checkpoint</a:t>
            </a:r>
          </a:p>
        </p:txBody>
      </p:sp>
      <p:pic>
        <p:nvPicPr>
          <p:cNvPr id="5" name="Picture 2" descr="Workflows Overview">
            <a:extLst>
              <a:ext uri="{FF2B5EF4-FFF2-40B4-BE49-F238E27FC236}">
                <a16:creationId xmlns:a16="http://schemas.microsoft.com/office/drawing/2014/main" id="{05A2E027-BFDF-687B-9941-6EA4208911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18521" y="2240349"/>
            <a:ext cx="7217880" cy="2977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61897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55750-AA1E-C708-8B61-0DF2C332E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C99B375-FA08-9975-B262-A0F1D734A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Workflows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A1C63F5-85B2-6B9B-7EDD-C8F8FC7864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it-IT" dirty="0"/>
              <a:t>Modularità: componenti riutilizzabili</a:t>
            </a:r>
          </a:p>
          <a:p>
            <a:endParaRPr lang="it-IT" dirty="0"/>
          </a:p>
          <a:p>
            <a:r>
              <a:rPr lang="it-IT" dirty="0" err="1"/>
              <a:t>Type</a:t>
            </a:r>
            <a:r>
              <a:rPr lang="it-IT" dirty="0"/>
              <a:t> </a:t>
            </a:r>
            <a:r>
              <a:rPr lang="it-IT" dirty="0" err="1"/>
              <a:t>Safety</a:t>
            </a:r>
            <a:r>
              <a:rPr lang="it-IT" dirty="0"/>
              <a:t>: validazione completa dei messaggi</a:t>
            </a:r>
          </a:p>
          <a:p>
            <a:endParaRPr lang="it-IT" dirty="0"/>
          </a:p>
          <a:p>
            <a:r>
              <a:rPr lang="it-IT" dirty="0"/>
              <a:t>Flessibilità: </a:t>
            </a:r>
            <a:r>
              <a:rPr lang="it-IT" dirty="0" err="1"/>
              <a:t>routing</a:t>
            </a:r>
            <a:r>
              <a:rPr lang="it-IT" dirty="0"/>
              <a:t> condizionale, esecuzione parallela</a:t>
            </a:r>
          </a:p>
          <a:p>
            <a:endParaRPr lang="it-IT" dirty="0"/>
          </a:p>
          <a:p>
            <a:r>
              <a:rPr lang="it-IT" dirty="0" err="1"/>
              <a:t>Checkpointing</a:t>
            </a:r>
            <a:r>
              <a:rPr lang="it-IT" dirty="0"/>
              <a:t>: salvataggio stato per processi long-running</a:t>
            </a:r>
          </a:p>
          <a:p>
            <a:endParaRPr lang="it-IT" dirty="0"/>
          </a:p>
          <a:p>
            <a:r>
              <a:rPr lang="it-IT" dirty="0"/>
              <a:t>Human-in-the-loop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158426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697CB58-CDF9-5485-CB08-FD00AC46D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EEA1F0E-9C2C-4739-7733-CE2B1C268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8899620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125C2-55C0-3B16-BAD4-CAF611730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po 8">
            <a:extLst>
              <a:ext uri="{FF2B5EF4-FFF2-40B4-BE49-F238E27FC236}">
                <a16:creationId xmlns:a16="http://schemas.microsoft.com/office/drawing/2014/main" id="{718A746A-FB42-E32D-1D39-B80C2F5105B0}"/>
              </a:ext>
            </a:extLst>
          </p:cNvPr>
          <p:cNvGrpSpPr/>
          <p:nvPr/>
        </p:nvGrpSpPr>
        <p:grpSpPr>
          <a:xfrm>
            <a:off x="4011516" y="759978"/>
            <a:ext cx="4702368" cy="5338043"/>
            <a:chOff x="1602683" y="0"/>
            <a:chExt cx="9203359" cy="10447486"/>
          </a:xfrm>
        </p:grpSpPr>
        <p:sp>
          <p:nvSpPr>
            <p:cNvPr id="4" name="Rettangolo con angoli arrotondati 3">
              <a:extLst>
                <a:ext uri="{FF2B5EF4-FFF2-40B4-BE49-F238E27FC236}">
                  <a16:creationId xmlns:a16="http://schemas.microsoft.com/office/drawing/2014/main" id="{E63BCB6D-356D-7080-082D-E846E66BA1F4}"/>
                </a:ext>
              </a:extLst>
            </p:cNvPr>
            <p:cNvSpPr/>
            <p:nvPr/>
          </p:nvSpPr>
          <p:spPr>
            <a:xfrm>
              <a:off x="1615797" y="0"/>
              <a:ext cx="9190245" cy="2097653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4400" dirty="0" err="1"/>
                <a:t>IChatClient</a:t>
              </a:r>
              <a:endParaRPr lang="it-IT" sz="4400" dirty="0"/>
            </a:p>
            <a:p>
              <a:pPr algn="ctr"/>
              <a:r>
                <a:rPr lang="it-IT" sz="2000" i="1" dirty="0"/>
                <a:t>Microsoft.Extensions.AI</a:t>
              </a:r>
            </a:p>
          </p:txBody>
        </p:sp>
        <p:sp>
          <p:nvSpPr>
            <p:cNvPr id="5" name="Rettangolo con angoli arrotondati 4">
              <a:extLst>
                <a:ext uri="{FF2B5EF4-FFF2-40B4-BE49-F238E27FC236}">
                  <a16:creationId xmlns:a16="http://schemas.microsoft.com/office/drawing/2014/main" id="{12A0BDC4-2E31-DBCE-6D68-98D123650B59}"/>
                </a:ext>
              </a:extLst>
            </p:cNvPr>
            <p:cNvSpPr/>
            <p:nvPr/>
          </p:nvSpPr>
          <p:spPr>
            <a:xfrm>
              <a:off x="1602683" y="4110638"/>
              <a:ext cx="9190244" cy="2097654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4400" dirty="0" err="1"/>
                <a:t>AIAgent</a:t>
              </a:r>
              <a:endParaRPr lang="it-IT" sz="4400" dirty="0"/>
            </a:p>
            <a:p>
              <a:pPr algn="ctr"/>
              <a:r>
                <a:rPr lang="it-IT" sz="2000" i="1" dirty="0"/>
                <a:t>MAF – Microsoft.Agents.AI</a:t>
              </a:r>
            </a:p>
          </p:txBody>
        </p:sp>
        <p:sp>
          <p:nvSpPr>
            <p:cNvPr id="6" name="Rettangolo con angoli arrotondati 5">
              <a:extLst>
                <a:ext uri="{FF2B5EF4-FFF2-40B4-BE49-F238E27FC236}">
                  <a16:creationId xmlns:a16="http://schemas.microsoft.com/office/drawing/2014/main" id="{C0A768D3-9735-16A1-E653-4E4E92591E61}"/>
                </a:ext>
              </a:extLst>
            </p:cNvPr>
            <p:cNvSpPr/>
            <p:nvPr/>
          </p:nvSpPr>
          <p:spPr>
            <a:xfrm>
              <a:off x="1602683" y="8349833"/>
              <a:ext cx="9190244" cy="2097653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4400" dirty="0"/>
                <a:t>Workflow</a:t>
              </a:r>
            </a:p>
            <a:p>
              <a:pPr algn="ctr"/>
              <a:r>
                <a:rPr lang="it-IT" sz="2000" i="1" dirty="0"/>
                <a:t>MAF – </a:t>
              </a:r>
              <a:r>
                <a:rPr lang="it-IT" sz="2000" i="1" dirty="0" err="1"/>
                <a:t>Microsoft.Agents.AI.Workflows</a:t>
              </a:r>
              <a:endParaRPr lang="it-IT" sz="4400" i="1" dirty="0"/>
            </a:p>
          </p:txBody>
        </p:sp>
        <p:sp>
          <p:nvSpPr>
            <p:cNvPr id="7" name="Freccia in giù 6">
              <a:extLst>
                <a:ext uri="{FF2B5EF4-FFF2-40B4-BE49-F238E27FC236}">
                  <a16:creationId xmlns:a16="http://schemas.microsoft.com/office/drawing/2014/main" id="{07893BE8-8011-AAB4-6C0B-2552A5C00F27}"/>
                </a:ext>
              </a:extLst>
            </p:cNvPr>
            <p:cNvSpPr/>
            <p:nvPr/>
          </p:nvSpPr>
          <p:spPr>
            <a:xfrm>
              <a:off x="5765520" y="2397079"/>
              <a:ext cx="864567" cy="1314747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400"/>
            </a:p>
          </p:txBody>
        </p:sp>
        <p:sp>
          <p:nvSpPr>
            <p:cNvPr id="8" name="Freccia in giù 7">
              <a:extLst>
                <a:ext uri="{FF2B5EF4-FFF2-40B4-BE49-F238E27FC236}">
                  <a16:creationId xmlns:a16="http://schemas.microsoft.com/office/drawing/2014/main" id="{EA8A1FBB-EBF1-CE2F-0CE6-36039ECB3EED}"/>
                </a:ext>
              </a:extLst>
            </p:cNvPr>
            <p:cNvSpPr/>
            <p:nvPr/>
          </p:nvSpPr>
          <p:spPr>
            <a:xfrm>
              <a:off x="5765521" y="6873928"/>
              <a:ext cx="864567" cy="1314747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400"/>
            </a:p>
          </p:txBody>
        </p:sp>
      </p:grpSp>
    </p:spTree>
    <p:extLst>
      <p:ext uri="{BB962C8B-B14F-4D97-AF65-F5344CB8AC3E}">
        <p14:creationId xmlns:p14="http://schemas.microsoft.com/office/powerpoint/2010/main" val="217822012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7CA2D-4737-2EBA-E269-DF5BE4184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po 8">
            <a:extLst>
              <a:ext uri="{FF2B5EF4-FFF2-40B4-BE49-F238E27FC236}">
                <a16:creationId xmlns:a16="http://schemas.microsoft.com/office/drawing/2014/main" id="{750D13A1-601F-05F7-B9A4-8576EEE933B8}"/>
              </a:ext>
            </a:extLst>
          </p:cNvPr>
          <p:cNvGrpSpPr/>
          <p:nvPr/>
        </p:nvGrpSpPr>
        <p:grpSpPr>
          <a:xfrm>
            <a:off x="747616" y="759978"/>
            <a:ext cx="4702368" cy="5338043"/>
            <a:chOff x="1602683" y="0"/>
            <a:chExt cx="9203359" cy="10447486"/>
          </a:xfrm>
        </p:grpSpPr>
        <p:sp>
          <p:nvSpPr>
            <p:cNvPr id="4" name="Rettangolo con angoli arrotondati 3">
              <a:extLst>
                <a:ext uri="{FF2B5EF4-FFF2-40B4-BE49-F238E27FC236}">
                  <a16:creationId xmlns:a16="http://schemas.microsoft.com/office/drawing/2014/main" id="{569DB921-98D2-DE89-413C-8BA399F19001}"/>
                </a:ext>
              </a:extLst>
            </p:cNvPr>
            <p:cNvSpPr/>
            <p:nvPr/>
          </p:nvSpPr>
          <p:spPr>
            <a:xfrm>
              <a:off x="1615797" y="0"/>
              <a:ext cx="9190245" cy="2097653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4400" dirty="0" err="1"/>
                <a:t>IChatClient</a:t>
              </a:r>
              <a:endParaRPr lang="it-IT" sz="4400" dirty="0"/>
            </a:p>
            <a:p>
              <a:pPr algn="ctr"/>
              <a:r>
                <a:rPr lang="it-IT" sz="2000" i="1" dirty="0"/>
                <a:t>Microsoft.Extensions.AI</a:t>
              </a:r>
            </a:p>
          </p:txBody>
        </p:sp>
        <p:sp>
          <p:nvSpPr>
            <p:cNvPr id="5" name="Rettangolo con angoli arrotondati 4">
              <a:extLst>
                <a:ext uri="{FF2B5EF4-FFF2-40B4-BE49-F238E27FC236}">
                  <a16:creationId xmlns:a16="http://schemas.microsoft.com/office/drawing/2014/main" id="{BA1D52A3-2CBD-85CB-181C-B03C11D6C1E1}"/>
                </a:ext>
              </a:extLst>
            </p:cNvPr>
            <p:cNvSpPr/>
            <p:nvPr/>
          </p:nvSpPr>
          <p:spPr>
            <a:xfrm>
              <a:off x="1602683" y="4110638"/>
              <a:ext cx="9190244" cy="2097654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4400" dirty="0" err="1"/>
                <a:t>AIAgent</a:t>
              </a:r>
              <a:endParaRPr lang="it-IT" sz="4400" dirty="0"/>
            </a:p>
            <a:p>
              <a:pPr algn="ctr"/>
              <a:r>
                <a:rPr lang="it-IT" sz="2000" i="1" dirty="0"/>
                <a:t>MAF – Microsoft.Agents.AI</a:t>
              </a:r>
            </a:p>
          </p:txBody>
        </p:sp>
        <p:sp>
          <p:nvSpPr>
            <p:cNvPr id="6" name="Rettangolo con angoli arrotondati 5">
              <a:extLst>
                <a:ext uri="{FF2B5EF4-FFF2-40B4-BE49-F238E27FC236}">
                  <a16:creationId xmlns:a16="http://schemas.microsoft.com/office/drawing/2014/main" id="{18791850-A5D2-80B9-DC37-B6CB04A39617}"/>
                </a:ext>
              </a:extLst>
            </p:cNvPr>
            <p:cNvSpPr/>
            <p:nvPr/>
          </p:nvSpPr>
          <p:spPr>
            <a:xfrm>
              <a:off x="1602683" y="8349833"/>
              <a:ext cx="9190244" cy="2097653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4400" dirty="0"/>
                <a:t>Workflow</a:t>
              </a:r>
            </a:p>
            <a:p>
              <a:pPr algn="ctr"/>
              <a:r>
                <a:rPr lang="it-IT" sz="2000" i="1" dirty="0"/>
                <a:t>MAF – </a:t>
              </a:r>
              <a:r>
                <a:rPr lang="it-IT" sz="2000" i="1" dirty="0" err="1"/>
                <a:t>Microsoft.Agents.AI.Workflows</a:t>
              </a:r>
              <a:endParaRPr lang="it-IT" sz="4400" i="1" dirty="0"/>
            </a:p>
          </p:txBody>
        </p:sp>
        <p:sp>
          <p:nvSpPr>
            <p:cNvPr id="7" name="Freccia in giù 6">
              <a:extLst>
                <a:ext uri="{FF2B5EF4-FFF2-40B4-BE49-F238E27FC236}">
                  <a16:creationId xmlns:a16="http://schemas.microsoft.com/office/drawing/2014/main" id="{E0519658-337F-90C3-88A2-D2930DDD277B}"/>
                </a:ext>
              </a:extLst>
            </p:cNvPr>
            <p:cNvSpPr/>
            <p:nvPr/>
          </p:nvSpPr>
          <p:spPr>
            <a:xfrm>
              <a:off x="5765520" y="2397079"/>
              <a:ext cx="864567" cy="1314747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400"/>
            </a:p>
          </p:txBody>
        </p:sp>
        <p:sp>
          <p:nvSpPr>
            <p:cNvPr id="8" name="Freccia in giù 7">
              <a:extLst>
                <a:ext uri="{FF2B5EF4-FFF2-40B4-BE49-F238E27FC236}">
                  <a16:creationId xmlns:a16="http://schemas.microsoft.com/office/drawing/2014/main" id="{72C32633-DB97-DDE8-2515-67B560FE37A9}"/>
                </a:ext>
              </a:extLst>
            </p:cNvPr>
            <p:cNvSpPr/>
            <p:nvPr/>
          </p:nvSpPr>
          <p:spPr>
            <a:xfrm>
              <a:off x="5765521" y="6873928"/>
              <a:ext cx="864567" cy="1314747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400"/>
            </a:p>
          </p:txBody>
        </p:sp>
      </p:grp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78277750-805C-5A00-C9D7-30F125B79587}"/>
              </a:ext>
            </a:extLst>
          </p:cNvPr>
          <p:cNvSpPr txBox="1"/>
          <p:nvPr/>
        </p:nvSpPr>
        <p:spPr>
          <a:xfrm>
            <a:off x="5799647" y="873460"/>
            <a:ext cx="39461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dirty="0"/>
              <a:t>Due dritte/idee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780DE47F-2D90-FC59-5A55-26F359404C1F}"/>
              </a:ext>
            </a:extLst>
          </p:cNvPr>
          <p:cNvSpPr txBox="1"/>
          <p:nvPr/>
        </p:nvSpPr>
        <p:spPr>
          <a:xfrm>
            <a:off x="5799647" y="3072991"/>
            <a:ext cx="74518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dirty="0"/>
              <a:t>Tuttofare o singolo esperto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50C96AD5-59B0-A46A-9645-5CB6BC1416AC}"/>
              </a:ext>
            </a:extLst>
          </p:cNvPr>
          <p:cNvSpPr txBox="1"/>
          <p:nvPr/>
        </p:nvSpPr>
        <p:spPr>
          <a:xfrm>
            <a:off x="5799647" y="5272522"/>
            <a:ext cx="64380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dirty="0"/>
              <a:t>Team di professionisti</a:t>
            </a:r>
          </a:p>
        </p:txBody>
      </p:sp>
    </p:spTree>
    <p:extLst>
      <p:ext uri="{BB962C8B-B14F-4D97-AF65-F5344CB8AC3E}">
        <p14:creationId xmlns:p14="http://schemas.microsoft.com/office/powerpoint/2010/main" val="228107504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F53A2-C376-1593-1F1C-C89C35209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1A9A7A2-DEE3-3D6F-E963-DD0C8B4B1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Building </a:t>
            </a:r>
            <a:r>
              <a:rPr lang="it-IT" dirty="0" err="1"/>
              <a:t>blocks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2ECFE75-3022-29E0-1FC2-502FF93A9D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b="1" dirty="0" err="1"/>
              <a:t>Executors</a:t>
            </a:r>
            <a:r>
              <a:rPr lang="it-IT" dirty="0"/>
              <a:t>: unità di elaborazione (agenti AI o logica custom). Ricevono input, eseguono task, producono output</a:t>
            </a:r>
          </a:p>
          <a:p>
            <a:r>
              <a:rPr lang="it-IT" b="1" dirty="0" err="1"/>
              <a:t>Edges</a:t>
            </a:r>
            <a:r>
              <a:rPr lang="it-IT" dirty="0"/>
              <a:t>: connessioni tra </a:t>
            </a:r>
            <a:r>
              <a:rPr lang="it-IT" dirty="0" err="1"/>
              <a:t>executors</a:t>
            </a:r>
            <a:r>
              <a:rPr lang="it-IT" dirty="0"/>
              <a:t>, definiscono il flusso dei messaggi. Possono includere condizioni</a:t>
            </a:r>
          </a:p>
          <a:p>
            <a:r>
              <a:rPr lang="it-IT" b="1" dirty="0"/>
              <a:t>Workflows</a:t>
            </a:r>
            <a:r>
              <a:rPr lang="it-IT" dirty="0"/>
              <a:t>: grafi diretti che orchestrano </a:t>
            </a:r>
            <a:r>
              <a:rPr lang="it-IT" dirty="0" err="1"/>
              <a:t>executors</a:t>
            </a:r>
            <a:r>
              <a:rPr lang="it-IT" dirty="0"/>
              <a:t> e </a:t>
            </a:r>
            <a:r>
              <a:rPr lang="it-IT" dirty="0" err="1"/>
              <a:t>edges</a:t>
            </a:r>
            <a:endParaRPr lang="it-IT" dirty="0"/>
          </a:p>
          <a:p>
            <a:r>
              <a:rPr lang="it-IT" b="1" dirty="0"/>
              <a:t>Events</a:t>
            </a:r>
            <a:r>
              <a:rPr lang="it-IT" dirty="0"/>
              <a:t>: permettono di rendere osservabile il comportamento. Eventi di inizio, fine, errori  e risposte degli </a:t>
            </a:r>
            <a:r>
              <a:rPr lang="it-IT" dirty="0" err="1"/>
              <a:t>executors</a:t>
            </a:r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8495596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2975E-9BA5-44B2-61A8-2ADBEEC2E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82CE5B3-14A5-4349-5E34-862D52C7A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80707F6-7114-A1B1-7B34-D1C08C4648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8737412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A4860-DCD1-718C-A8EC-29DB598D2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308FC255-9D3A-EC69-A872-57C86BAD02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7907" y="675295"/>
            <a:ext cx="8456186" cy="5507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4165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2CF9D-2223-1E76-E4B5-752ADC76D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784111D9-C510-68E8-DFEC-CB25EBE301D7}"/>
              </a:ext>
            </a:extLst>
          </p:cNvPr>
          <p:cNvSpPr/>
          <p:nvPr/>
        </p:nvSpPr>
        <p:spPr>
          <a:xfrm>
            <a:off x="0" y="0"/>
            <a:ext cx="501396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7A1BD8A-091B-17D2-2BA1-612D6DEC4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3435625" cy="1325563"/>
          </a:xfrm>
        </p:spPr>
        <p:txBody>
          <a:bodyPr>
            <a:normAutofit/>
          </a:bodyPr>
          <a:lstStyle/>
          <a:p>
            <a:r>
              <a:rPr lang="it-IT" sz="4000" dirty="0" err="1">
                <a:gradFill flip="none" rotWithShape="1">
                  <a:gsLst>
                    <a:gs pos="28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  <a:tileRect/>
                </a:gradFill>
              </a:rPr>
              <a:t>Sequential</a:t>
            </a:r>
            <a:endParaRPr lang="it-IT" sz="4000" dirty="0">
              <a:gradFill flip="none" rotWithShape="1">
                <a:gsLst>
                  <a:gs pos="28000">
                    <a:srgbClr val="EDEDED"/>
                  </a:gs>
                  <a:gs pos="0">
                    <a:srgbClr val="BFBFBF"/>
                  </a:gs>
                  <a:gs pos="100000">
                    <a:srgbClr val="FFFFFF"/>
                  </a:gs>
                </a:gsLst>
                <a:lin ang="4800000" scaled="0"/>
                <a:tileRect/>
              </a:gradFill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4A7E167-C768-76B9-D714-FDD34F18BB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200" y="1454150"/>
            <a:ext cx="4032250" cy="472281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it-IT" sz="2000" dirty="0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Caratteristiche</a:t>
            </a:r>
          </a:p>
          <a:p>
            <a:r>
              <a:rPr lang="it-IT" sz="2000" dirty="0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Ogni agente riceve l'intera storia della conversazione precedente</a:t>
            </a:r>
          </a:p>
          <a:p>
            <a:r>
              <a:rPr lang="it-IT" sz="2000" dirty="0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L'ordine è strettamente rispettato</a:t>
            </a:r>
          </a:p>
          <a:p>
            <a:r>
              <a:rPr lang="it-IT" sz="2000" dirty="0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Puoi mixare agenti AI con </a:t>
            </a:r>
            <a:r>
              <a:rPr lang="it-IT" sz="2000" dirty="0" err="1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executor</a:t>
            </a:r>
            <a:r>
              <a:rPr lang="it-IT" sz="2000" dirty="0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 custom (logica non-AI)</a:t>
            </a:r>
          </a:p>
          <a:p>
            <a:pPr marL="0" indent="0">
              <a:buNone/>
            </a:pPr>
            <a:endParaRPr lang="it-IT" sz="2000" dirty="0">
              <a:gradFill>
                <a:gsLst>
                  <a:gs pos="34000">
                    <a:srgbClr val="EDEDED"/>
                  </a:gs>
                  <a:gs pos="0">
                    <a:srgbClr val="BFBFBF"/>
                  </a:gs>
                  <a:gs pos="100000">
                    <a:srgbClr val="FFFFFF"/>
                  </a:gs>
                </a:gsLst>
                <a:lin ang="4800000" scaled="0"/>
              </a:gradFill>
            </a:endParaRPr>
          </a:p>
          <a:p>
            <a:pPr marL="0" indent="0">
              <a:buNone/>
            </a:pPr>
            <a:r>
              <a:rPr lang="it-IT" sz="2000" dirty="0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Quando usarlo</a:t>
            </a:r>
          </a:p>
          <a:p>
            <a:r>
              <a:rPr lang="it-IT" sz="2000" dirty="0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Task con dipendenze lineari (ogni step dipende dal precedente)</a:t>
            </a:r>
          </a:p>
          <a:p>
            <a:r>
              <a:rPr lang="it-IT" sz="2000" dirty="0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Pipeline di trasformazione dati</a:t>
            </a:r>
          </a:p>
          <a:p>
            <a:r>
              <a:rPr lang="it-IT" sz="2000" dirty="0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Workflow "</a:t>
            </a:r>
            <a:r>
              <a:rPr lang="it-IT" sz="2000" dirty="0" err="1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draft→review→polish</a:t>
            </a:r>
            <a:r>
              <a:rPr lang="it-IT" sz="2000" dirty="0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 "</a:t>
            </a:r>
          </a:p>
          <a:p>
            <a:r>
              <a:rPr lang="it-IT" sz="2000" dirty="0" err="1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Document</a:t>
            </a:r>
            <a:r>
              <a:rPr lang="it-IT" sz="2000" dirty="0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 processing multi-stage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B6E3A0C2-3D9B-EDF3-0C92-4BF3F58D9C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44027" y="643464"/>
            <a:ext cx="3175510" cy="5571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028782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0087F-755A-4886-0424-12FC4C755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20687134-D1DD-C234-C0D9-EE7923379DC4}"/>
              </a:ext>
            </a:extLst>
          </p:cNvPr>
          <p:cNvSpPr/>
          <p:nvPr/>
        </p:nvSpPr>
        <p:spPr>
          <a:xfrm>
            <a:off x="0" y="0"/>
            <a:ext cx="501396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3B24245-AC61-1BD2-D47B-7652D6E7E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3435625" cy="1325563"/>
          </a:xfrm>
        </p:spPr>
        <p:txBody>
          <a:bodyPr>
            <a:normAutofit/>
          </a:bodyPr>
          <a:lstStyle/>
          <a:p>
            <a:r>
              <a:rPr lang="it-IT" sz="4000">
                <a:gradFill flip="none" rotWithShape="1">
                  <a:gsLst>
                    <a:gs pos="28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  <a:tileRect/>
                </a:gradFill>
              </a:rPr>
              <a:t>Concurrent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52358E1-6B59-9214-30C8-7464662342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752" y="1455723"/>
            <a:ext cx="4038600" cy="471932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it-IT" sz="2000" dirty="0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Caratteristiche</a:t>
            </a:r>
          </a:p>
          <a:p>
            <a:r>
              <a:rPr lang="it-IT" sz="2000" dirty="0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Tutti gli agenti lavorano contemporaneamente sullo stesso input</a:t>
            </a:r>
          </a:p>
          <a:p>
            <a:r>
              <a:rPr lang="it-IT" sz="2000" dirty="0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I risultati sono aggregati (default: lista di messaggi)</a:t>
            </a:r>
          </a:p>
          <a:p>
            <a:r>
              <a:rPr lang="it-IT" sz="2000" dirty="0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Puoi fornire un </a:t>
            </a:r>
            <a:r>
              <a:rPr lang="it-IT" sz="2000" dirty="0" err="1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aggregator</a:t>
            </a:r>
            <a:r>
              <a:rPr lang="it-IT" sz="2000" dirty="0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 custom</a:t>
            </a:r>
          </a:p>
          <a:p>
            <a:pPr marL="0" indent="0">
              <a:buNone/>
            </a:pPr>
            <a:r>
              <a:rPr lang="it-IT" sz="2000" dirty="0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Quando usarlo</a:t>
            </a:r>
          </a:p>
          <a:p>
            <a:r>
              <a:rPr lang="it-IT" sz="2000" dirty="0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Analisi da prospettive diverse (legale, marketing, tecnico)</a:t>
            </a:r>
          </a:p>
          <a:p>
            <a:r>
              <a:rPr lang="it-IT" sz="2000" dirty="0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Ensemble </a:t>
            </a:r>
            <a:r>
              <a:rPr lang="it-IT" sz="2000" dirty="0" err="1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reasoning</a:t>
            </a:r>
            <a:r>
              <a:rPr lang="it-IT" sz="2000" dirty="0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 / </a:t>
            </a:r>
            <a:r>
              <a:rPr lang="it-IT" sz="2000" dirty="0" err="1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voting</a:t>
            </a:r>
            <a:endParaRPr lang="it-IT" sz="2000" dirty="0">
              <a:gradFill>
                <a:gsLst>
                  <a:gs pos="34000">
                    <a:srgbClr val="EDEDED"/>
                  </a:gs>
                  <a:gs pos="0">
                    <a:srgbClr val="BFBFBF"/>
                  </a:gs>
                  <a:gs pos="100000">
                    <a:srgbClr val="FFFFFF"/>
                  </a:gs>
                </a:gsLst>
                <a:lin ang="4800000" scaled="0"/>
              </a:gradFill>
            </a:endParaRPr>
          </a:p>
          <a:p>
            <a:r>
              <a:rPr lang="it-IT" sz="2000" dirty="0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Brainstorming parallelo</a:t>
            </a:r>
          </a:p>
          <a:p>
            <a:r>
              <a:rPr lang="it-IT" sz="2000" dirty="0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Raccolta dati da fonti indipendenti</a:t>
            </a:r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532F0CAF-0955-3A04-E703-BB23DEB307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74539" y="1455723"/>
            <a:ext cx="6314487" cy="3946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872270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AF154-642B-75B6-FCA5-5568170F5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72E8A2E7-5D24-1722-176C-AD1A8B48BFFD}"/>
              </a:ext>
            </a:extLst>
          </p:cNvPr>
          <p:cNvSpPr/>
          <p:nvPr/>
        </p:nvSpPr>
        <p:spPr>
          <a:xfrm>
            <a:off x="0" y="0"/>
            <a:ext cx="501396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D57E4D0-17FC-AE94-CE2C-CEC0DEEF6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3435625" cy="1325563"/>
          </a:xfrm>
        </p:spPr>
        <p:txBody>
          <a:bodyPr>
            <a:normAutofit/>
          </a:bodyPr>
          <a:lstStyle/>
          <a:p>
            <a:r>
              <a:rPr lang="it-IT" sz="4000">
                <a:gradFill flip="none" rotWithShape="1">
                  <a:gsLst>
                    <a:gs pos="28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  <a:tileRect/>
                </a:gradFill>
              </a:rPr>
              <a:t>GroupChat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522E3C7-ED74-3A13-5098-A12131B36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0" y="1428750"/>
            <a:ext cx="4095750" cy="494665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it-IT" sz="2000" dirty="0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Caratteristiche</a:t>
            </a:r>
          </a:p>
          <a:p>
            <a:r>
              <a:rPr lang="it-IT" sz="2000" dirty="0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Topologia star: un orchestrator centrale </a:t>
            </a:r>
            <a:r>
              <a:rPr lang="it-IT" sz="2000" dirty="0" err="1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coordinaIl</a:t>
            </a:r>
            <a:r>
              <a:rPr lang="it-IT" sz="2000" dirty="0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 manager decide chi parla dopo (round-</a:t>
            </a:r>
            <a:r>
              <a:rPr lang="it-IT" sz="2000" dirty="0" err="1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robin</a:t>
            </a:r>
            <a:r>
              <a:rPr lang="it-IT" sz="2000" dirty="0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, prompt-</a:t>
            </a:r>
            <a:r>
              <a:rPr lang="it-IT" sz="2000" dirty="0" err="1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based</a:t>
            </a:r>
            <a:r>
              <a:rPr lang="it-IT" sz="2000" dirty="0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, o custom)</a:t>
            </a:r>
          </a:p>
          <a:p>
            <a:r>
              <a:rPr lang="it-IT" sz="2000" dirty="0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Iterazione: gli agenti possono parlare più volte</a:t>
            </a:r>
          </a:p>
          <a:p>
            <a:r>
              <a:rPr lang="it-IT" sz="2000" dirty="0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Contesto condiviso: tutti vedono l'intera conversazione</a:t>
            </a:r>
          </a:p>
          <a:p>
            <a:endParaRPr lang="it-IT" sz="2000" dirty="0">
              <a:gradFill>
                <a:gsLst>
                  <a:gs pos="34000">
                    <a:srgbClr val="EDEDED"/>
                  </a:gs>
                  <a:gs pos="0">
                    <a:srgbClr val="BFBFBF"/>
                  </a:gs>
                  <a:gs pos="100000">
                    <a:srgbClr val="FFFFFF"/>
                  </a:gs>
                </a:gsLst>
                <a:lin ang="4800000" scaled="0"/>
              </a:gradFill>
            </a:endParaRPr>
          </a:p>
          <a:p>
            <a:pPr marL="0" indent="0">
              <a:buNone/>
            </a:pPr>
            <a:r>
              <a:rPr lang="it-IT" sz="2000" dirty="0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Quando usarlo</a:t>
            </a:r>
          </a:p>
          <a:p>
            <a:r>
              <a:rPr lang="it-IT" sz="2000" dirty="0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Revisione iterativa (writer ↔ </a:t>
            </a:r>
            <a:r>
              <a:rPr lang="it-IT" sz="2000" dirty="0" err="1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reviewer</a:t>
            </a:r>
            <a:r>
              <a:rPr lang="it-IT" sz="2000" dirty="0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 in loop)</a:t>
            </a:r>
          </a:p>
          <a:p>
            <a:r>
              <a:rPr lang="it-IT" sz="2000" dirty="0" err="1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Problem</a:t>
            </a:r>
            <a:r>
              <a:rPr lang="it-IT" sz="2000" dirty="0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-solving collaborativo</a:t>
            </a:r>
          </a:p>
          <a:p>
            <a:r>
              <a:rPr lang="it-IT" sz="2000" dirty="0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Content </a:t>
            </a:r>
            <a:r>
              <a:rPr lang="it-IT" sz="2000" dirty="0" err="1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creation</a:t>
            </a:r>
            <a:r>
              <a:rPr lang="it-IT" sz="2000" dirty="0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 con feedback multipli</a:t>
            </a:r>
          </a:p>
          <a:p>
            <a:r>
              <a:rPr lang="it-IT" sz="2000" dirty="0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Quality </a:t>
            </a:r>
            <a:r>
              <a:rPr lang="it-IT" sz="2000" dirty="0" err="1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assurance</a:t>
            </a:r>
            <a:r>
              <a:rPr lang="it-IT" sz="2000" dirty="0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 automatizzata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59F05F29-EA48-D74E-84A9-BE50DFAEE3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74539" y="1731982"/>
            <a:ext cx="6314487" cy="3394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562708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52326-3CF1-B220-9EF1-039D67D26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36C75CD5-BD34-7A5B-7B94-46503B12A052}"/>
              </a:ext>
            </a:extLst>
          </p:cNvPr>
          <p:cNvSpPr/>
          <p:nvPr/>
        </p:nvSpPr>
        <p:spPr>
          <a:xfrm>
            <a:off x="0" y="0"/>
            <a:ext cx="501396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2C367CD-B512-09FA-6349-99678AC8C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3435625" cy="1325563"/>
          </a:xfrm>
        </p:spPr>
        <p:txBody>
          <a:bodyPr>
            <a:normAutofit/>
          </a:bodyPr>
          <a:lstStyle/>
          <a:p>
            <a:r>
              <a:rPr lang="it-IT" sz="4000">
                <a:gradFill flip="none" rotWithShape="1">
                  <a:gsLst>
                    <a:gs pos="28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  <a:tileRect/>
                </a:gradFill>
              </a:rPr>
              <a:t>Handoff</a:t>
            </a:r>
          </a:p>
        </p:txBody>
      </p:sp>
      <p:pic>
        <p:nvPicPr>
          <p:cNvPr id="4098" name="Picture 2" descr="Immagine che contiene linea, diagramma, testo, Parallelo&#10;&#10;Il contenuto generato dall'IA potrebbe non essere corretto.">
            <a:extLst>
              <a:ext uri="{FF2B5EF4-FFF2-40B4-BE49-F238E27FC236}">
                <a16:creationId xmlns:a16="http://schemas.microsoft.com/office/drawing/2014/main" id="{2AC13C7E-B9F6-221D-7125-45A9343315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74539" y="1605692"/>
            <a:ext cx="6314487" cy="3646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BAC51CF5-201B-7E5E-A434-CD48C3E6F3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0" y="1428750"/>
            <a:ext cx="4095750" cy="51943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it-IT" sz="2000" dirty="0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Caratteristiche</a:t>
            </a:r>
          </a:p>
          <a:p>
            <a:r>
              <a:rPr lang="it-IT" sz="2000" dirty="0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Topologia mesh: agenti connessi direttamente, nessun orchestrator centrale</a:t>
            </a:r>
          </a:p>
          <a:p>
            <a:r>
              <a:rPr lang="it-IT" sz="2000" dirty="0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Ogni agente decide quando e a chi passare il </a:t>
            </a:r>
            <a:r>
              <a:rPr lang="it-IT" sz="2000" dirty="0" err="1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controlloIl</a:t>
            </a:r>
            <a:r>
              <a:rPr lang="it-IT" sz="2000" dirty="0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 ricevente ha ownership completa del task</a:t>
            </a:r>
          </a:p>
          <a:p>
            <a:r>
              <a:rPr lang="it-IT" sz="2000" dirty="0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Contesto completo passato ad ogni </a:t>
            </a:r>
            <a:r>
              <a:rPr lang="it-IT" sz="2000" dirty="0" err="1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handoff</a:t>
            </a:r>
            <a:endParaRPr lang="it-IT" sz="2000" dirty="0">
              <a:gradFill>
                <a:gsLst>
                  <a:gs pos="34000">
                    <a:srgbClr val="EDEDED"/>
                  </a:gs>
                  <a:gs pos="0">
                    <a:srgbClr val="BFBFBF"/>
                  </a:gs>
                  <a:gs pos="100000">
                    <a:srgbClr val="FFFFFF"/>
                  </a:gs>
                </a:gsLst>
                <a:lin ang="4800000" scaled="0"/>
              </a:gradFill>
            </a:endParaRPr>
          </a:p>
          <a:p>
            <a:endParaRPr lang="it-IT" sz="2000" dirty="0">
              <a:gradFill>
                <a:gsLst>
                  <a:gs pos="34000">
                    <a:srgbClr val="EDEDED"/>
                  </a:gs>
                  <a:gs pos="0">
                    <a:srgbClr val="BFBFBF"/>
                  </a:gs>
                  <a:gs pos="100000">
                    <a:srgbClr val="FFFFFF"/>
                  </a:gs>
                </a:gsLst>
                <a:lin ang="4800000" scaled="0"/>
              </a:gradFill>
            </a:endParaRPr>
          </a:p>
          <a:p>
            <a:pPr marL="0" indent="0">
              <a:buNone/>
            </a:pPr>
            <a:r>
              <a:rPr lang="it-IT" sz="2000" dirty="0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Quando usarlo</a:t>
            </a:r>
          </a:p>
          <a:p>
            <a:r>
              <a:rPr lang="it-IT" sz="2000" dirty="0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Customer support multi-specialista</a:t>
            </a:r>
          </a:p>
          <a:p>
            <a:r>
              <a:rPr lang="it-IT" sz="2000" dirty="0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Escalation e </a:t>
            </a:r>
            <a:r>
              <a:rPr lang="it-IT" sz="2000" dirty="0" err="1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fallback</a:t>
            </a:r>
            <a:endParaRPr lang="it-IT" sz="2000" dirty="0">
              <a:gradFill>
                <a:gsLst>
                  <a:gs pos="34000">
                    <a:srgbClr val="EDEDED"/>
                  </a:gs>
                  <a:gs pos="0">
                    <a:srgbClr val="BFBFBF"/>
                  </a:gs>
                  <a:gs pos="100000">
                    <a:srgbClr val="FFFFFF"/>
                  </a:gs>
                </a:gsLst>
                <a:lin ang="4800000" scaled="0"/>
              </a:gradFill>
            </a:endParaRPr>
          </a:p>
          <a:p>
            <a:r>
              <a:rPr lang="it-IT" sz="2000" dirty="0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Expert </a:t>
            </a:r>
            <a:r>
              <a:rPr lang="it-IT" sz="2000" dirty="0" err="1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routing</a:t>
            </a:r>
            <a:r>
              <a:rPr lang="it-IT" sz="2000" dirty="0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 dinamico</a:t>
            </a:r>
          </a:p>
          <a:p>
            <a:r>
              <a:rPr lang="it-IT" sz="2000" dirty="0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Workflow dove il percorso dipende dal contenuto della conversazione</a:t>
            </a:r>
          </a:p>
        </p:txBody>
      </p:sp>
    </p:spTree>
    <p:extLst>
      <p:ext uri="{BB962C8B-B14F-4D97-AF65-F5344CB8AC3E}">
        <p14:creationId xmlns:p14="http://schemas.microsoft.com/office/powerpoint/2010/main" val="282490553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48D3C-EBBF-27D4-7106-7BD9990B9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3DCC2897-CA8F-9473-7314-AB0DF9D275D8}"/>
              </a:ext>
            </a:extLst>
          </p:cNvPr>
          <p:cNvSpPr/>
          <p:nvPr/>
        </p:nvSpPr>
        <p:spPr>
          <a:xfrm>
            <a:off x="410309" y="1957753"/>
            <a:ext cx="2485292" cy="8088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Agente mail</a:t>
            </a:r>
          </a:p>
        </p:txBody>
      </p:sp>
      <p:sp>
        <p:nvSpPr>
          <p:cNvPr id="5" name="Decisione 4">
            <a:extLst>
              <a:ext uri="{FF2B5EF4-FFF2-40B4-BE49-F238E27FC236}">
                <a16:creationId xmlns:a16="http://schemas.microsoft.com/office/drawing/2014/main" id="{01E7FA65-C3A8-F903-99CB-E3997BBC2B18}"/>
              </a:ext>
            </a:extLst>
          </p:cNvPr>
          <p:cNvSpPr/>
          <p:nvPr/>
        </p:nvSpPr>
        <p:spPr>
          <a:xfrm>
            <a:off x="3727938" y="1811214"/>
            <a:ext cx="1781908" cy="1101970"/>
          </a:xfrm>
          <a:prstGeom prst="flowChartDecision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/>
              <a:t>È cliente?</a:t>
            </a:r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AC1353DA-A2CF-1212-F594-3A5E3079462C}"/>
              </a:ext>
            </a:extLst>
          </p:cNvPr>
          <p:cNvSpPr/>
          <p:nvPr/>
        </p:nvSpPr>
        <p:spPr>
          <a:xfrm>
            <a:off x="6377354" y="498229"/>
            <a:ext cx="2485292" cy="8088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Agente marketing</a:t>
            </a:r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E87F2E43-52AB-F880-B85F-59FDA4020999}"/>
              </a:ext>
            </a:extLst>
          </p:cNvPr>
          <p:cNvSpPr/>
          <p:nvPr/>
        </p:nvSpPr>
        <p:spPr>
          <a:xfrm>
            <a:off x="6365631" y="3006969"/>
            <a:ext cx="2485292" cy="8088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Agente Assistenza</a:t>
            </a:r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44C0DB9D-97CC-3CAE-9A70-3DC44F471E55}"/>
              </a:ext>
            </a:extLst>
          </p:cNvPr>
          <p:cNvSpPr/>
          <p:nvPr/>
        </p:nvSpPr>
        <p:spPr>
          <a:xfrm>
            <a:off x="9542584" y="1843453"/>
            <a:ext cx="2485292" cy="8088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Output</a:t>
            </a:r>
          </a:p>
        </p:txBody>
      </p: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8282A87E-9FD1-5CF4-C52A-3E51EC4CA008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2895601" y="2362199"/>
            <a:ext cx="83233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a gomito 14">
            <a:extLst>
              <a:ext uri="{FF2B5EF4-FFF2-40B4-BE49-F238E27FC236}">
                <a16:creationId xmlns:a16="http://schemas.microsoft.com/office/drawing/2014/main" id="{4DBB55E8-E422-0015-FEA2-53F1783ED5DE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5509846" y="2362199"/>
            <a:ext cx="855785" cy="104921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a gomito 18">
            <a:extLst>
              <a:ext uri="{FF2B5EF4-FFF2-40B4-BE49-F238E27FC236}">
                <a16:creationId xmlns:a16="http://schemas.microsoft.com/office/drawing/2014/main" id="{0351F4BB-E134-22CF-5AF1-9ACF4889AC17}"/>
              </a:ext>
            </a:extLst>
          </p:cNvPr>
          <p:cNvCxnSpPr>
            <a:stCxn id="5" idx="3"/>
            <a:endCxn id="6" idx="1"/>
          </p:cNvCxnSpPr>
          <p:nvPr/>
        </p:nvCxnSpPr>
        <p:spPr>
          <a:xfrm flipV="1">
            <a:off x="5509846" y="902675"/>
            <a:ext cx="867508" cy="145952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a gomito 21">
            <a:extLst>
              <a:ext uri="{FF2B5EF4-FFF2-40B4-BE49-F238E27FC236}">
                <a16:creationId xmlns:a16="http://schemas.microsoft.com/office/drawing/2014/main" id="{DC3A2A90-FE96-0369-B0AA-B8CC4B404476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>
            <a:off x="8862646" y="902675"/>
            <a:ext cx="679938" cy="134522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a gomito 24">
            <a:extLst>
              <a:ext uri="{FF2B5EF4-FFF2-40B4-BE49-F238E27FC236}">
                <a16:creationId xmlns:a16="http://schemas.microsoft.com/office/drawing/2014/main" id="{6D308B9A-80C5-00CF-C238-64CC0248221D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 flipV="1">
            <a:off x="8850923" y="2247899"/>
            <a:ext cx="691661" cy="116351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093541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AA69AA9E-3A1F-D17E-CB4A-22662D7C6E04}"/>
              </a:ext>
            </a:extLst>
          </p:cNvPr>
          <p:cNvSpPr/>
          <p:nvPr/>
        </p:nvSpPr>
        <p:spPr>
          <a:xfrm>
            <a:off x="410309" y="1957753"/>
            <a:ext cx="2485292" cy="8088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Agente mail</a:t>
            </a:r>
          </a:p>
        </p:txBody>
      </p:sp>
      <p:sp>
        <p:nvSpPr>
          <p:cNvPr id="5" name="Decisione 4">
            <a:extLst>
              <a:ext uri="{FF2B5EF4-FFF2-40B4-BE49-F238E27FC236}">
                <a16:creationId xmlns:a16="http://schemas.microsoft.com/office/drawing/2014/main" id="{6DB3EAE4-D95E-3FB2-0101-4D51D7D5A43F}"/>
              </a:ext>
            </a:extLst>
          </p:cNvPr>
          <p:cNvSpPr/>
          <p:nvPr/>
        </p:nvSpPr>
        <p:spPr>
          <a:xfrm>
            <a:off x="3727938" y="1811214"/>
            <a:ext cx="1781908" cy="1101970"/>
          </a:xfrm>
          <a:prstGeom prst="flowChartDecision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/>
              <a:t>È cliente?</a:t>
            </a:r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E8DE4521-28BA-8D0A-9AB6-9F36F8A55F6A}"/>
              </a:ext>
            </a:extLst>
          </p:cNvPr>
          <p:cNvSpPr/>
          <p:nvPr/>
        </p:nvSpPr>
        <p:spPr>
          <a:xfrm>
            <a:off x="6377354" y="498229"/>
            <a:ext cx="2485292" cy="8088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Agente marketing</a:t>
            </a:r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2F47D0A4-5330-9E41-D880-850448E133BF}"/>
              </a:ext>
            </a:extLst>
          </p:cNvPr>
          <p:cNvSpPr/>
          <p:nvPr/>
        </p:nvSpPr>
        <p:spPr>
          <a:xfrm>
            <a:off x="6365631" y="3006969"/>
            <a:ext cx="2485292" cy="8088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Agente Assistenza</a:t>
            </a:r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193AF2D3-73FE-208F-93C9-8D6E07939001}"/>
              </a:ext>
            </a:extLst>
          </p:cNvPr>
          <p:cNvSpPr/>
          <p:nvPr/>
        </p:nvSpPr>
        <p:spPr>
          <a:xfrm>
            <a:off x="9542584" y="1843453"/>
            <a:ext cx="2485292" cy="8088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Output</a:t>
            </a:r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23FD9071-10B5-31DD-3D59-F52A30D0EB04}"/>
              </a:ext>
            </a:extLst>
          </p:cNvPr>
          <p:cNvSpPr/>
          <p:nvPr/>
        </p:nvSpPr>
        <p:spPr>
          <a:xfrm>
            <a:off x="1652955" y="4683371"/>
            <a:ext cx="2485292" cy="8088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Agente ticket</a:t>
            </a:r>
          </a:p>
        </p:txBody>
      </p:sp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21B6DB3D-0720-71C3-6766-694A9093BC32}"/>
              </a:ext>
            </a:extLst>
          </p:cNvPr>
          <p:cNvSpPr/>
          <p:nvPr/>
        </p:nvSpPr>
        <p:spPr>
          <a:xfrm>
            <a:off x="5205047" y="4683371"/>
            <a:ext cx="2485292" cy="8088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Agente rimborso</a:t>
            </a:r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F0AD6676-D6DB-E2F5-FB83-D6F90D04D1E5}"/>
              </a:ext>
            </a:extLst>
          </p:cNvPr>
          <p:cNvSpPr/>
          <p:nvPr/>
        </p:nvSpPr>
        <p:spPr>
          <a:xfrm>
            <a:off x="8757139" y="4689233"/>
            <a:ext cx="2485292" cy="8088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Agente sconti</a:t>
            </a:r>
          </a:p>
        </p:txBody>
      </p: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0E0C1641-0D13-E43F-93FA-0E8A0FA8C266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2895601" y="2362199"/>
            <a:ext cx="83233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a gomito 14">
            <a:extLst>
              <a:ext uri="{FF2B5EF4-FFF2-40B4-BE49-F238E27FC236}">
                <a16:creationId xmlns:a16="http://schemas.microsoft.com/office/drawing/2014/main" id="{4CAD2C1C-A4D0-632E-671F-4EDCB80B44A7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5509846" y="2362199"/>
            <a:ext cx="855785" cy="104921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a gomito 18">
            <a:extLst>
              <a:ext uri="{FF2B5EF4-FFF2-40B4-BE49-F238E27FC236}">
                <a16:creationId xmlns:a16="http://schemas.microsoft.com/office/drawing/2014/main" id="{56672864-FC03-B26D-9223-31D2A053D979}"/>
              </a:ext>
            </a:extLst>
          </p:cNvPr>
          <p:cNvCxnSpPr>
            <a:stCxn id="5" idx="3"/>
            <a:endCxn id="6" idx="1"/>
          </p:cNvCxnSpPr>
          <p:nvPr/>
        </p:nvCxnSpPr>
        <p:spPr>
          <a:xfrm flipV="1">
            <a:off x="5509846" y="902675"/>
            <a:ext cx="867508" cy="145952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a gomito 21">
            <a:extLst>
              <a:ext uri="{FF2B5EF4-FFF2-40B4-BE49-F238E27FC236}">
                <a16:creationId xmlns:a16="http://schemas.microsoft.com/office/drawing/2014/main" id="{FF1DF137-4A67-19DA-0D0F-3BD29975F2C8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>
            <a:off x="8862646" y="902675"/>
            <a:ext cx="679938" cy="134522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a gomito 24">
            <a:extLst>
              <a:ext uri="{FF2B5EF4-FFF2-40B4-BE49-F238E27FC236}">
                <a16:creationId xmlns:a16="http://schemas.microsoft.com/office/drawing/2014/main" id="{5AFFF975-EA19-11FD-1E39-D9AA894AD9BA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 flipV="1">
            <a:off x="8850923" y="2247899"/>
            <a:ext cx="691661" cy="116351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ttore diritto 30">
            <a:extLst>
              <a:ext uri="{FF2B5EF4-FFF2-40B4-BE49-F238E27FC236}">
                <a16:creationId xmlns:a16="http://schemas.microsoft.com/office/drawing/2014/main" id="{FA739804-1B97-7B44-DA6E-9B43D739FC5C}"/>
              </a:ext>
            </a:extLst>
          </p:cNvPr>
          <p:cNvCxnSpPr>
            <a:stCxn id="7" idx="2"/>
            <a:endCxn id="9" idx="0"/>
          </p:cNvCxnSpPr>
          <p:nvPr/>
        </p:nvCxnSpPr>
        <p:spPr>
          <a:xfrm flipH="1">
            <a:off x="2895601" y="3815861"/>
            <a:ext cx="4712676" cy="8675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ttore diritto 32">
            <a:extLst>
              <a:ext uri="{FF2B5EF4-FFF2-40B4-BE49-F238E27FC236}">
                <a16:creationId xmlns:a16="http://schemas.microsoft.com/office/drawing/2014/main" id="{3CCFF5F5-55A5-336D-13E9-1CEB3FEF3653}"/>
              </a:ext>
            </a:extLst>
          </p:cNvPr>
          <p:cNvCxnSpPr>
            <a:stCxn id="7" idx="2"/>
            <a:endCxn id="10" idx="0"/>
          </p:cNvCxnSpPr>
          <p:nvPr/>
        </p:nvCxnSpPr>
        <p:spPr>
          <a:xfrm flipH="1">
            <a:off x="6447693" y="3815861"/>
            <a:ext cx="1160584" cy="8675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ttore diritto 34">
            <a:extLst>
              <a:ext uri="{FF2B5EF4-FFF2-40B4-BE49-F238E27FC236}">
                <a16:creationId xmlns:a16="http://schemas.microsoft.com/office/drawing/2014/main" id="{8272682F-69C0-C1BA-D38F-1D2F373D6F7A}"/>
              </a:ext>
            </a:extLst>
          </p:cNvPr>
          <p:cNvCxnSpPr>
            <a:stCxn id="7" idx="2"/>
            <a:endCxn id="11" idx="0"/>
          </p:cNvCxnSpPr>
          <p:nvPr/>
        </p:nvCxnSpPr>
        <p:spPr>
          <a:xfrm>
            <a:off x="7608277" y="3815861"/>
            <a:ext cx="2391508" cy="8733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071107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32C6C-D8A1-4957-696F-100A96BE9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E2E2BCE-A08E-FE7E-A383-411175B22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A2D628D-A818-FA7F-D9F2-E854072C3B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1365345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AA6B1F1-AC89-7DD4-E956-DD60E6DD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229" y="4603296"/>
            <a:ext cx="7522028" cy="1325563"/>
          </a:xfrm>
        </p:spPr>
        <p:txBody>
          <a:bodyPr/>
          <a:lstStyle/>
          <a:p>
            <a:r>
              <a:rPr lang="it-IT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224787079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7BCC7-0D47-7E93-ED0F-600586E5F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51DD480-E925-B375-6923-695229033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4575966-6213-F04E-62F0-D2C6192829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9562482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D1DDE-8F51-E1F8-606C-316D339AF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F555547-DEF7-A462-D320-3A3C917D7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 3 tipi di Middleware</a:t>
            </a:r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27C3DA24-67CE-9936-C434-1BCBB37FD9F1}"/>
              </a:ext>
            </a:extLst>
          </p:cNvPr>
          <p:cNvSpPr/>
          <p:nvPr/>
        </p:nvSpPr>
        <p:spPr>
          <a:xfrm>
            <a:off x="673100" y="2002690"/>
            <a:ext cx="3429000" cy="39370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FF6A00"/>
            </a:solidFill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FF176E75-14D5-9824-C3FB-7061DFC40BA8}"/>
              </a:ext>
            </a:extLst>
          </p:cNvPr>
          <p:cNvSpPr txBox="1"/>
          <p:nvPr/>
        </p:nvSpPr>
        <p:spPr>
          <a:xfrm>
            <a:off x="863600" y="3018690"/>
            <a:ext cx="3048000" cy="2794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ctr"/>
            <a:r>
              <a:rPr lang="it-IT" sz="1400" b="1">
                <a:solidFill>
                  <a:srgbClr val="888888"/>
                </a:solidFill>
              </a:rPr>
              <a:t>Intercetta: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B7146002-6B4E-F972-1A80-CDE1D65915C3}"/>
              </a:ext>
            </a:extLst>
          </p:cNvPr>
          <p:cNvSpPr txBox="1"/>
          <p:nvPr/>
        </p:nvSpPr>
        <p:spPr>
          <a:xfrm>
            <a:off x="863600" y="3336190"/>
            <a:ext cx="3048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ctr"/>
            <a:r>
              <a:rPr lang="it-IT" sz="1600">
                <a:solidFill>
                  <a:srgbClr val="333333"/>
                </a:solidFill>
              </a:rPr>
              <a:t>Ogni esecuzione
dell'agente (input/output)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B878C8F3-696F-0510-F8E4-8F469609A6A6}"/>
              </a:ext>
            </a:extLst>
          </p:cNvPr>
          <p:cNvSpPr txBox="1"/>
          <p:nvPr/>
        </p:nvSpPr>
        <p:spPr>
          <a:xfrm>
            <a:off x="863600" y="4161690"/>
            <a:ext cx="3048000" cy="2794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ctr"/>
            <a:r>
              <a:rPr lang="it-IT" sz="1400" b="1">
                <a:solidFill>
                  <a:srgbClr val="888888"/>
                </a:solidFill>
              </a:rPr>
              <a:t>Use case security: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5E261C22-1C19-2CAA-276E-248B6A75012A}"/>
              </a:ext>
            </a:extLst>
          </p:cNvPr>
          <p:cNvSpPr txBox="1"/>
          <p:nvPr/>
        </p:nvSpPr>
        <p:spPr>
          <a:xfrm>
            <a:off x="863600" y="4479190"/>
            <a:ext cx="3048000" cy="762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ctr"/>
            <a:r>
              <a:rPr lang="en-US" sz="1600">
                <a:solidFill>
                  <a:srgbClr val="333333"/>
                </a:solidFill>
              </a:rPr>
              <a:t>Guardrails, blocklisting,
rate limiting, content validation</a:t>
            </a:r>
            <a:endParaRPr lang="it-IT" sz="1600">
              <a:solidFill>
                <a:srgbClr val="333333"/>
              </a:solidFill>
            </a:endParaRPr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F88D9904-1B2D-BE2F-1A53-CBB70D3721BD}"/>
              </a:ext>
            </a:extLst>
          </p:cNvPr>
          <p:cNvSpPr/>
          <p:nvPr/>
        </p:nvSpPr>
        <p:spPr>
          <a:xfrm>
            <a:off x="4381500" y="2002690"/>
            <a:ext cx="3429000" cy="39370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4488CC"/>
            </a:solidFill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it-IT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8C885B3E-294D-6D9D-2BBF-6185D4C07811}"/>
              </a:ext>
            </a:extLst>
          </p:cNvPr>
          <p:cNvSpPr txBox="1"/>
          <p:nvPr/>
        </p:nvSpPr>
        <p:spPr>
          <a:xfrm>
            <a:off x="4572000" y="3018690"/>
            <a:ext cx="3048000" cy="2794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ctr"/>
            <a:r>
              <a:rPr lang="it-IT" sz="1400" b="1">
                <a:solidFill>
                  <a:srgbClr val="888888"/>
                </a:solidFill>
              </a:rPr>
              <a:t>Intercetta: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1ECF9C34-0090-32F7-23BA-BDE2FAE0A4F7}"/>
              </a:ext>
            </a:extLst>
          </p:cNvPr>
          <p:cNvSpPr txBox="1"/>
          <p:nvPr/>
        </p:nvSpPr>
        <p:spPr>
          <a:xfrm>
            <a:off x="4572000" y="3336190"/>
            <a:ext cx="3048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ctr"/>
            <a:r>
              <a:rPr lang="it-IT" sz="1600">
                <a:solidFill>
                  <a:srgbClr val="333333"/>
                </a:solidFill>
              </a:rPr>
              <a:t>Ogni tool call
(nome + args + risultato)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FB7FDD4E-85D4-C45D-6FE9-50F8AF92754E}"/>
              </a:ext>
            </a:extLst>
          </p:cNvPr>
          <p:cNvSpPr txBox="1"/>
          <p:nvPr/>
        </p:nvSpPr>
        <p:spPr>
          <a:xfrm>
            <a:off x="4572000" y="4161690"/>
            <a:ext cx="3048000" cy="2794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ctr"/>
            <a:r>
              <a:rPr lang="it-IT" sz="1400" b="1">
                <a:solidFill>
                  <a:srgbClr val="888888"/>
                </a:solidFill>
              </a:rPr>
              <a:t>Use case security: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80335EB4-2E37-ADA8-CACC-EF4BB48244C0}"/>
              </a:ext>
            </a:extLst>
          </p:cNvPr>
          <p:cNvSpPr txBox="1"/>
          <p:nvPr/>
        </p:nvSpPr>
        <p:spPr>
          <a:xfrm>
            <a:off x="4572000" y="4479190"/>
            <a:ext cx="3048000" cy="762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ctr"/>
            <a:r>
              <a:rPr lang="en-US" sz="1600">
                <a:solidFill>
                  <a:srgbClr val="333333"/>
                </a:solidFill>
              </a:rPr>
              <a:t>Validazione pre-tool-call,
audit, policy enforcement</a:t>
            </a:r>
            <a:endParaRPr lang="it-IT" sz="1600">
              <a:solidFill>
                <a:srgbClr val="333333"/>
              </a:solidFill>
            </a:endParaRPr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77D66D57-9B41-919D-9F5B-69A7FAD2BF63}"/>
              </a:ext>
            </a:extLst>
          </p:cNvPr>
          <p:cNvSpPr/>
          <p:nvPr/>
        </p:nvSpPr>
        <p:spPr>
          <a:xfrm>
            <a:off x="8089900" y="2002690"/>
            <a:ext cx="3429000" cy="39370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chemeClr val="accent6"/>
            </a:solidFill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it-IT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293B384E-05B4-8A13-BBF9-D20539285C1E}"/>
              </a:ext>
            </a:extLst>
          </p:cNvPr>
          <p:cNvSpPr txBox="1"/>
          <p:nvPr/>
        </p:nvSpPr>
        <p:spPr>
          <a:xfrm>
            <a:off x="8280400" y="3018690"/>
            <a:ext cx="3048000" cy="2794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ctr"/>
            <a:r>
              <a:rPr lang="it-IT" sz="1400" b="1">
                <a:solidFill>
                  <a:srgbClr val="888888"/>
                </a:solidFill>
              </a:rPr>
              <a:t>Intercetta: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8B10EF6D-C000-78C9-6801-937A20723700}"/>
              </a:ext>
            </a:extLst>
          </p:cNvPr>
          <p:cNvSpPr txBox="1"/>
          <p:nvPr/>
        </p:nvSpPr>
        <p:spPr>
          <a:xfrm>
            <a:off x="8280400" y="3336190"/>
            <a:ext cx="3048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ctr"/>
            <a:r>
              <a:rPr lang="it-IT" sz="1600">
                <a:solidFill>
                  <a:srgbClr val="333333"/>
                </a:solidFill>
              </a:rPr>
              <a:t>Chiamate raw
verso il modello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72D25AD3-6A7B-D3F1-9C52-4E60FB625DFE}"/>
              </a:ext>
            </a:extLst>
          </p:cNvPr>
          <p:cNvSpPr txBox="1"/>
          <p:nvPr/>
        </p:nvSpPr>
        <p:spPr>
          <a:xfrm>
            <a:off x="8280400" y="4161690"/>
            <a:ext cx="3048000" cy="2794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ctr"/>
            <a:r>
              <a:rPr lang="it-IT" sz="1400" b="1">
                <a:solidFill>
                  <a:srgbClr val="888888"/>
                </a:solidFill>
              </a:rPr>
              <a:t>Use case security: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0B30415D-0EC2-8BEC-7A21-5AD72EBF0EBD}"/>
              </a:ext>
            </a:extLst>
          </p:cNvPr>
          <p:cNvSpPr txBox="1"/>
          <p:nvPr/>
        </p:nvSpPr>
        <p:spPr>
          <a:xfrm>
            <a:off x="8280400" y="4479190"/>
            <a:ext cx="3048000" cy="762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ctr"/>
            <a:r>
              <a:rPr lang="en-US" sz="1600" dirty="0">
                <a:solidFill>
                  <a:srgbClr val="333333"/>
                </a:solidFill>
              </a:rPr>
              <a:t>Logging, token monitoring,
prompt injection detection</a:t>
            </a:r>
            <a:endParaRPr lang="it-IT" sz="1600" dirty="0">
              <a:solidFill>
                <a:srgbClr val="333333"/>
              </a:solidFill>
            </a:endParaRPr>
          </a:p>
        </p:txBody>
      </p:sp>
      <p:sp>
        <p:nvSpPr>
          <p:cNvPr id="19" name="Figura a mano libera: forma 18">
            <a:extLst>
              <a:ext uri="{FF2B5EF4-FFF2-40B4-BE49-F238E27FC236}">
                <a16:creationId xmlns:a16="http://schemas.microsoft.com/office/drawing/2014/main" id="{B9B86496-4A14-0E1B-BF53-2113D95350D4}"/>
              </a:ext>
            </a:extLst>
          </p:cNvPr>
          <p:cNvSpPr/>
          <p:nvPr/>
        </p:nvSpPr>
        <p:spPr>
          <a:xfrm>
            <a:off x="673894" y="1999515"/>
            <a:ext cx="3431381" cy="890588"/>
          </a:xfrm>
          <a:custGeom>
            <a:avLst/>
            <a:gdLst>
              <a:gd name="csX0" fmla="*/ 2381 w 3431381"/>
              <a:gd name="csY0" fmla="*/ 890588 h 890588"/>
              <a:gd name="csX1" fmla="*/ 3431381 w 3431381"/>
              <a:gd name="csY1" fmla="*/ 890588 h 890588"/>
              <a:gd name="csX2" fmla="*/ 3431381 w 3431381"/>
              <a:gd name="csY2" fmla="*/ 488156 h 890588"/>
              <a:gd name="csX3" fmla="*/ 3383756 w 3431381"/>
              <a:gd name="csY3" fmla="*/ 338138 h 890588"/>
              <a:gd name="csX4" fmla="*/ 3364706 w 3431381"/>
              <a:gd name="csY4" fmla="*/ 295275 h 890588"/>
              <a:gd name="csX5" fmla="*/ 3331369 w 3431381"/>
              <a:gd name="csY5" fmla="*/ 247650 h 890588"/>
              <a:gd name="csX6" fmla="*/ 3288506 w 3431381"/>
              <a:gd name="csY6" fmla="*/ 197644 h 890588"/>
              <a:gd name="csX7" fmla="*/ 3226594 w 3431381"/>
              <a:gd name="csY7" fmla="*/ 138113 h 890588"/>
              <a:gd name="csX8" fmla="*/ 3128962 w 3431381"/>
              <a:gd name="csY8" fmla="*/ 69056 h 890588"/>
              <a:gd name="csX9" fmla="*/ 3050381 w 3431381"/>
              <a:gd name="csY9" fmla="*/ 38100 h 890588"/>
              <a:gd name="csX10" fmla="*/ 2990850 w 3431381"/>
              <a:gd name="csY10" fmla="*/ 16669 h 890588"/>
              <a:gd name="csX11" fmla="*/ 2926556 w 3431381"/>
              <a:gd name="csY11" fmla="*/ 9525 h 890588"/>
              <a:gd name="csX12" fmla="*/ 2926556 w 3431381"/>
              <a:gd name="csY12" fmla="*/ 0 h 890588"/>
              <a:gd name="csX13" fmla="*/ 523875 w 3431381"/>
              <a:gd name="csY13" fmla="*/ 0 h 890588"/>
              <a:gd name="csX14" fmla="*/ 435769 w 3431381"/>
              <a:gd name="csY14" fmla="*/ 19050 h 890588"/>
              <a:gd name="csX15" fmla="*/ 366712 w 3431381"/>
              <a:gd name="csY15" fmla="*/ 38100 h 890588"/>
              <a:gd name="csX16" fmla="*/ 319087 w 3431381"/>
              <a:gd name="csY16" fmla="*/ 54769 h 890588"/>
              <a:gd name="csX17" fmla="*/ 271462 w 3431381"/>
              <a:gd name="csY17" fmla="*/ 85725 h 890588"/>
              <a:gd name="csX18" fmla="*/ 252412 w 3431381"/>
              <a:gd name="csY18" fmla="*/ 102394 h 890588"/>
              <a:gd name="csX19" fmla="*/ 192881 w 3431381"/>
              <a:gd name="csY19" fmla="*/ 147638 h 890588"/>
              <a:gd name="csX20" fmla="*/ 140494 w 3431381"/>
              <a:gd name="csY20" fmla="*/ 192881 h 890588"/>
              <a:gd name="csX21" fmla="*/ 85725 w 3431381"/>
              <a:gd name="csY21" fmla="*/ 273844 h 890588"/>
              <a:gd name="csX22" fmla="*/ 57150 w 3431381"/>
              <a:gd name="csY22" fmla="*/ 316706 h 890588"/>
              <a:gd name="csX23" fmla="*/ 38100 w 3431381"/>
              <a:gd name="csY23" fmla="*/ 366713 h 890588"/>
              <a:gd name="csX24" fmla="*/ 14287 w 3431381"/>
              <a:gd name="csY24" fmla="*/ 464344 h 890588"/>
              <a:gd name="csX25" fmla="*/ 0 w 3431381"/>
              <a:gd name="csY25" fmla="*/ 576263 h 890588"/>
              <a:gd name="csX26" fmla="*/ 2381 w 3431381"/>
              <a:gd name="csY26" fmla="*/ 890588 h 8905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3431381" h="890588">
                <a:moveTo>
                  <a:pt x="2381" y="890588"/>
                </a:moveTo>
                <a:lnTo>
                  <a:pt x="3431381" y="890588"/>
                </a:lnTo>
                <a:lnTo>
                  <a:pt x="3431381" y="488156"/>
                </a:lnTo>
                <a:lnTo>
                  <a:pt x="3383756" y="338138"/>
                </a:lnTo>
                <a:lnTo>
                  <a:pt x="3364706" y="295275"/>
                </a:lnTo>
                <a:lnTo>
                  <a:pt x="3331369" y="247650"/>
                </a:lnTo>
                <a:lnTo>
                  <a:pt x="3288506" y="197644"/>
                </a:lnTo>
                <a:lnTo>
                  <a:pt x="3226594" y="138113"/>
                </a:lnTo>
                <a:lnTo>
                  <a:pt x="3128962" y="69056"/>
                </a:lnTo>
                <a:lnTo>
                  <a:pt x="3050381" y="38100"/>
                </a:lnTo>
                <a:lnTo>
                  <a:pt x="2990850" y="16669"/>
                </a:lnTo>
                <a:lnTo>
                  <a:pt x="2926556" y="9525"/>
                </a:lnTo>
                <a:lnTo>
                  <a:pt x="2926556" y="0"/>
                </a:lnTo>
                <a:lnTo>
                  <a:pt x="523875" y="0"/>
                </a:lnTo>
                <a:lnTo>
                  <a:pt x="435769" y="19050"/>
                </a:lnTo>
                <a:lnTo>
                  <a:pt x="366712" y="38100"/>
                </a:lnTo>
                <a:lnTo>
                  <a:pt x="319087" y="54769"/>
                </a:lnTo>
                <a:lnTo>
                  <a:pt x="271462" y="85725"/>
                </a:lnTo>
                <a:lnTo>
                  <a:pt x="252412" y="102394"/>
                </a:lnTo>
                <a:lnTo>
                  <a:pt x="192881" y="147638"/>
                </a:lnTo>
                <a:lnTo>
                  <a:pt x="140494" y="192881"/>
                </a:lnTo>
                <a:lnTo>
                  <a:pt x="85725" y="273844"/>
                </a:lnTo>
                <a:lnTo>
                  <a:pt x="57150" y="316706"/>
                </a:lnTo>
                <a:lnTo>
                  <a:pt x="38100" y="366713"/>
                </a:lnTo>
                <a:lnTo>
                  <a:pt x="14287" y="464344"/>
                </a:lnTo>
                <a:lnTo>
                  <a:pt x="0" y="576263"/>
                </a:lnTo>
                <a:cubicBezTo>
                  <a:pt x="794" y="681038"/>
                  <a:pt x="1587" y="785813"/>
                  <a:pt x="2381" y="89058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8402489E-66A6-90FC-8E9A-570DDB7A8692}"/>
              </a:ext>
            </a:extLst>
          </p:cNvPr>
          <p:cNvSpPr/>
          <p:nvPr/>
        </p:nvSpPr>
        <p:spPr>
          <a:xfrm>
            <a:off x="669924" y="2002690"/>
            <a:ext cx="3432175" cy="889000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/>
            <a:r>
              <a:rPr lang="it-IT" b="1" dirty="0">
                <a:solidFill>
                  <a:srgbClr val="FFFFFF"/>
                </a:solidFill>
              </a:rPr>
              <a:t>Agent </a:t>
            </a:r>
            <a:r>
              <a:rPr lang="it-IT" b="1" dirty="0" err="1">
                <a:solidFill>
                  <a:srgbClr val="FFFFFF"/>
                </a:solidFill>
              </a:rPr>
              <a:t>Run</a:t>
            </a:r>
            <a:r>
              <a:rPr lang="it-IT" b="1" dirty="0">
                <a:solidFill>
                  <a:srgbClr val="FFFFFF"/>
                </a:solidFill>
              </a:rPr>
              <a:t>
Middleware</a:t>
            </a:r>
          </a:p>
        </p:txBody>
      </p:sp>
      <p:sp>
        <p:nvSpPr>
          <p:cNvPr id="21" name="Figura a mano libera: forma 20">
            <a:extLst>
              <a:ext uri="{FF2B5EF4-FFF2-40B4-BE49-F238E27FC236}">
                <a16:creationId xmlns:a16="http://schemas.microsoft.com/office/drawing/2014/main" id="{55CCDBBF-3308-89D9-E339-2DC202032623}"/>
              </a:ext>
            </a:extLst>
          </p:cNvPr>
          <p:cNvSpPr/>
          <p:nvPr/>
        </p:nvSpPr>
        <p:spPr>
          <a:xfrm>
            <a:off x="8089105" y="1999515"/>
            <a:ext cx="3431381" cy="890588"/>
          </a:xfrm>
          <a:custGeom>
            <a:avLst/>
            <a:gdLst>
              <a:gd name="csX0" fmla="*/ 2381 w 3431381"/>
              <a:gd name="csY0" fmla="*/ 890588 h 890588"/>
              <a:gd name="csX1" fmla="*/ 3431381 w 3431381"/>
              <a:gd name="csY1" fmla="*/ 890588 h 890588"/>
              <a:gd name="csX2" fmla="*/ 3431381 w 3431381"/>
              <a:gd name="csY2" fmla="*/ 488156 h 890588"/>
              <a:gd name="csX3" fmla="*/ 3383756 w 3431381"/>
              <a:gd name="csY3" fmla="*/ 338138 h 890588"/>
              <a:gd name="csX4" fmla="*/ 3364706 w 3431381"/>
              <a:gd name="csY4" fmla="*/ 295275 h 890588"/>
              <a:gd name="csX5" fmla="*/ 3331369 w 3431381"/>
              <a:gd name="csY5" fmla="*/ 247650 h 890588"/>
              <a:gd name="csX6" fmla="*/ 3288506 w 3431381"/>
              <a:gd name="csY6" fmla="*/ 197644 h 890588"/>
              <a:gd name="csX7" fmla="*/ 3226594 w 3431381"/>
              <a:gd name="csY7" fmla="*/ 138113 h 890588"/>
              <a:gd name="csX8" fmla="*/ 3128962 w 3431381"/>
              <a:gd name="csY8" fmla="*/ 69056 h 890588"/>
              <a:gd name="csX9" fmla="*/ 3050381 w 3431381"/>
              <a:gd name="csY9" fmla="*/ 38100 h 890588"/>
              <a:gd name="csX10" fmla="*/ 2990850 w 3431381"/>
              <a:gd name="csY10" fmla="*/ 16669 h 890588"/>
              <a:gd name="csX11" fmla="*/ 2926556 w 3431381"/>
              <a:gd name="csY11" fmla="*/ 9525 h 890588"/>
              <a:gd name="csX12" fmla="*/ 2926556 w 3431381"/>
              <a:gd name="csY12" fmla="*/ 0 h 890588"/>
              <a:gd name="csX13" fmla="*/ 523875 w 3431381"/>
              <a:gd name="csY13" fmla="*/ 0 h 890588"/>
              <a:gd name="csX14" fmla="*/ 435769 w 3431381"/>
              <a:gd name="csY14" fmla="*/ 19050 h 890588"/>
              <a:gd name="csX15" fmla="*/ 366712 w 3431381"/>
              <a:gd name="csY15" fmla="*/ 38100 h 890588"/>
              <a:gd name="csX16" fmla="*/ 319087 w 3431381"/>
              <a:gd name="csY16" fmla="*/ 54769 h 890588"/>
              <a:gd name="csX17" fmla="*/ 271462 w 3431381"/>
              <a:gd name="csY17" fmla="*/ 85725 h 890588"/>
              <a:gd name="csX18" fmla="*/ 252412 w 3431381"/>
              <a:gd name="csY18" fmla="*/ 102394 h 890588"/>
              <a:gd name="csX19" fmla="*/ 192881 w 3431381"/>
              <a:gd name="csY19" fmla="*/ 147638 h 890588"/>
              <a:gd name="csX20" fmla="*/ 140494 w 3431381"/>
              <a:gd name="csY20" fmla="*/ 192881 h 890588"/>
              <a:gd name="csX21" fmla="*/ 85725 w 3431381"/>
              <a:gd name="csY21" fmla="*/ 273844 h 890588"/>
              <a:gd name="csX22" fmla="*/ 57150 w 3431381"/>
              <a:gd name="csY22" fmla="*/ 316706 h 890588"/>
              <a:gd name="csX23" fmla="*/ 38100 w 3431381"/>
              <a:gd name="csY23" fmla="*/ 366713 h 890588"/>
              <a:gd name="csX24" fmla="*/ 14287 w 3431381"/>
              <a:gd name="csY24" fmla="*/ 464344 h 890588"/>
              <a:gd name="csX25" fmla="*/ 0 w 3431381"/>
              <a:gd name="csY25" fmla="*/ 576263 h 890588"/>
              <a:gd name="csX26" fmla="*/ 2381 w 3431381"/>
              <a:gd name="csY26" fmla="*/ 890588 h 8905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3431381" h="890588">
                <a:moveTo>
                  <a:pt x="2381" y="890588"/>
                </a:moveTo>
                <a:lnTo>
                  <a:pt x="3431381" y="890588"/>
                </a:lnTo>
                <a:lnTo>
                  <a:pt x="3431381" y="488156"/>
                </a:lnTo>
                <a:lnTo>
                  <a:pt x="3383756" y="338138"/>
                </a:lnTo>
                <a:lnTo>
                  <a:pt x="3364706" y="295275"/>
                </a:lnTo>
                <a:lnTo>
                  <a:pt x="3331369" y="247650"/>
                </a:lnTo>
                <a:lnTo>
                  <a:pt x="3288506" y="197644"/>
                </a:lnTo>
                <a:lnTo>
                  <a:pt x="3226594" y="138113"/>
                </a:lnTo>
                <a:lnTo>
                  <a:pt x="3128962" y="69056"/>
                </a:lnTo>
                <a:lnTo>
                  <a:pt x="3050381" y="38100"/>
                </a:lnTo>
                <a:lnTo>
                  <a:pt x="2990850" y="16669"/>
                </a:lnTo>
                <a:lnTo>
                  <a:pt x="2926556" y="9525"/>
                </a:lnTo>
                <a:lnTo>
                  <a:pt x="2926556" y="0"/>
                </a:lnTo>
                <a:lnTo>
                  <a:pt x="523875" y="0"/>
                </a:lnTo>
                <a:lnTo>
                  <a:pt x="435769" y="19050"/>
                </a:lnTo>
                <a:lnTo>
                  <a:pt x="366712" y="38100"/>
                </a:lnTo>
                <a:lnTo>
                  <a:pt x="319087" y="54769"/>
                </a:lnTo>
                <a:lnTo>
                  <a:pt x="271462" y="85725"/>
                </a:lnTo>
                <a:lnTo>
                  <a:pt x="252412" y="102394"/>
                </a:lnTo>
                <a:lnTo>
                  <a:pt x="192881" y="147638"/>
                </a:lnTo>
                <a:lnTo>
                  <a:pt x="140494" y="192881"/>
                </a:lnTo>
                <a:lnTo>
                  <a:pt x="85725" y="273844"/>
                </a:lnTo>
                <a:lnTo>
                  <a:pt x="57150" y="316706"/>
                </a:lnTo>
                <a:lnTo>
                  <a:pt x="38100" y="366713"/>
                </a:lnTo>
                <a:lnTo>
                  <a:pt x="14287" y="464344"/>
                </a:lnTo>
                <a:lnTo>
                  <a:pt x="0" y="576263"/>
                </a:lnTo>
                <a:cubicBezTo>
                  <a:pt x="794" y="681038"/>
                  <a:pt x="1587" y="785813"/>
                  <a:pt x="2381" y="890588"/>
                </a:cubicBezTo>
                <a:close/>
              </a:path>
            </a:pathLst>
          </a:custGeom>
          <a:ln>
            <a:solidFill>
              <a:schemeClr val="accent6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2" name="Figura a mano libera: forma 21">
            <a:extLst>
              <a:ext uri="{FF2B5EF4-FFF2-40B4-BE49-F238E27FC236}">
                <a16:creationId xmlns:a16="http://schemas.microsoft.com/office/drawing/2014/main" id="{6CF5AB2A-0550-4121-7E8E-705E71DAA55B}"/>
              </a:ext>
            </a:extLst>
          </p:cNvPr>
          <p:cNvSpPr/>
          <p:nvPr/>
        </p:nvSpPr>
        <p:spPr>
          <a:xfrm>
            <a:off x="4378324" y="2010627"/>
            <a:ext cx="3431381" cy="890588"/>
          </a:xfrm>
          <a:custGeom>
            <a:avLst/>
            <a:gdLst>
              <a:gd name="csX0" fmla="*/ 2381 w 3431381"/>
              <a:gd name="csY0" fmla="*/ 890588 h 890588"/>
              <a:gd name="csX1" fmla="*/ 3431381 w 3431381"/>
              <a:gd name="csY1" fmla="*/ 890588 h 890588"/>
              <a:gd name="csX2" fmla="*/ 3431381 w 3431381"/>
              <a:gd name="csY2" fmla="*/ 488156 h 890588"/>
              <a:gd name="csX3" fmla="*/ 3383756 w 3431381"/>
              <a:gd name="csY3" fmla="*/ 338138 h 890588"/>
              <a:gd name="csX4" fmla="*/ 3364706 w 3431381"/>
              <a:gd name="csY4" fmla="*/ 295275 h 890588"/>
              <a:gd name="csX5" fmla="*/ 3331369 w 3431381"/>
              <a:gd name="csY5" fmla="*/ 247650 h 890588"/>
              <a:gd name="csX6" fmla="*/ 3288506 w 3431381"/>
              <a:gd name="csY6" fmla="*/ 197644 h 890588"/>
              <a:gd name="csX7" fmla="*/ 3226594 w 3431381"/>
              <a:gd name="csY7" fmla="*/ 138113 h 890588"/>
              <a:gd name="csX8" fmla="*/ 3128962 w 3431381"/>
              <a:gd name="csY8" fmla="*/ 69056 h 890588"/>
              <a:gd name="csX9" fmla="*/ 3050381 w 3431381"/>
              <a:gd name="csY9" fmla="*/ 38100 h 890588"/>
              <a:gd name="csX10" fmla="*/ 2990850 w 3431381"/>
              <a:gd name="csY10" fmla="*/ 16669 h 890588"/>
              <a:gd name="csX11" fmla="*/ 2926556 w 3431381"/>
              <a:gd name="csY11" fmla="*/ 9525 h 890588"/>
              <a:gd name="csX12" fmla="*/ 2926556 w 3431381"/>
              <a:gd name="csY12" fmla="*/ 0 h 890588"/>
              <a:gd name="csX13" fmla="*/ 523875 w 3431381"/>
              <a:gd name="csY13" fmla="*/ 0 h 890588"/>
              <a:gd name="csX14" fmla="*/ 435769 w 3431381"/>
              <a:gd name="csY14" fmla="*/ 19050 h 890588"/>
              <a:gd name="csX15" fmla="*/ 366712 w 3431381"/>
              <a:gd name="csY15" fmla="*/ 38100 h 890588"/>
              <a:gd name="csX16" fmla="*/ 319087 w 3431381"/>
              <a:gd name="csY16" fmla="*/ 54769 h 890588"/>
              <a:gd name="csX17" fmla="*/ 271462 w 3431381"/>
              <a:gd name="csY17" fmla="*/ 85725 h 890588"/>
              <a:gd name="csX18" fmla="*/ 252412 w 3431381"/>
              <a:gd name="csY18" fmla="*/ 102394 h 890588"/>
              <a:gd name="csX19" fmla="*/ 192881 w 3431381"/>
              <a:gd name="csY19" fmla="*/ 147638 h 890588"/>
              <a:gd name="csX20" fmla="*/ 140494 w 3431381"/>
              <a:gd name="csY20" fmla="*/ 192881 h 890588"/>
              <a:gd name="csX21" fmla="*/ 85725 w 3431381"/>
              <a:gd name="csY21" fmla="*/ 273844 h 890588"/>
              <a:gd name="csX22" fmla="*/ 57150 w 3431381"/>
              <a:gd name="csY22" fmla="*/ 316706 h 890588"/>
              <a:gd name="csX23" fmla="*/ 38100 w 3431381"/>
              <a:gd name="csY23" fmla="*/ 366713 h 890588"/>
              <a:gd name="csX24" fmla="*/ 14287 w 3431381"/>
              <a:gd name="csY24" fmla="*/ 464344 h 890588"/>
              <a:gd name="csX25" fmla="*/ 0 w 3431381"/>
              <a:gd name="csY25" fmla="*/ 576263 h 890588"/>
              <a:gd name="csX26" fmla="*/ 2381 w 3431381"/>
              <a:gd name="csY26" fmla="*/ 890588 h 8905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3431381" h="890588">
                <a:moveTo>
                  <a:pt x="2381" y="890588"/>
                </a:moveTo>
                <a:lnTo>
                  <a:pt x="3431381" y="890588"/>
                </a:lnTo>
                <a:lnTo>
                  <a:pt x="3431381" y="488156"/>
                </a:lnTo>
                <a:lnTo>
                  <a:pt x="3383756" y="338138"/>
                </a:lnTo>
                <a:lnTo>
                  <a:pt x="3364706" y="295275"/>
                </a:lnTo>
                <a:lnTo>
                  <a:pt x="3331369" y="247650"/>
                </a:lnTo>
                <a:lnTo>
                  <a:pt x="3288506" y="197644"/>
                </a:lnTo>
                <a:lnTo>
                  <a:pt x="3226594" y="138113"/>
                </a:lnTo>
                <a:lnTo>
                  <a:pt x="3128962" y="69056"/>
                </a:lnTo>
                <a:lnTo>
                  <a:pt x="3050381" y="38100"/>
                </a:lnTo>
                <a:lnTo>
                  <a:pt x="2990850" y="16669"/>
                </a:lnTo>
                <a:lnTo>
                  <a:pt x="2926556" y="9525"/>
                </a:lnTo>
                <a:lnTo>
                  <a:pt x="2926556" y="0"/>
                </a:lnTo>
                <a:lnTo>
                  <a:pt x="523875" y="0"/>
                </a:lnTo>
                <a:lnTo>
                  <a:pt x="435769" y="19050"/>
                </a:lnTo>
                <a:lnTo>
                  <a:pt x="366712" y="38100"/>
                </a:lnTo>
                <a:lnTo>
                  <a:pt x="319087" y="54769"/>
                </a:lnTo>
                <a:lnTo>
                  <a:pt x="271462" y="85725"/>
                </a:lnTo>
                <a:lnTo>
                  <a:pt x="252412" y="102394"/>
                </a:lnTo>
                <a:lnTo>
                  <a:pt x="192881" y="147638"/>
                </a:lnTo>
                <a:lnTo>
                  <a:pt x="140494" y="192881"/>
                </a:lnTo>
                <a:lnTo>
                  <a:pt x="85725" y="273844"/>
                </a:lnTo>
                <a:lnTo>
                  <a:pt x="57150" y="316706"/>
                </a:lnTo>
                <a:lnTo>
                  <a:pt x="38100" y="366713"/>
                </a:lnTo>
                <a:lnTo>
                  <a:pt x="14287" y="464344"/>
                </a:lnTo>
                <a:lnTo>
                  <a:pt x="0" y="576263"/>
                </a:lnTo>
                <a:cubicBezTo>
                  <a:pt x="794" y="681038"/>
                  <a:pt x="1587" y="785813"/>
                  <a:pt x="2381" y="890588"/>
                </a:cubicBezTo>
                <a:close/>
              </a:path>
            </a:pathLst>
          </a:custGeom>
          <a:solidFill>
            <a:srgbClr val="44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B52B4224-C077-D0B8-9175-563357895238}"/>
              </a:ext>
            </a:extLst>
          </p:cNvPr>
          <p:cNvSpPr/>
          <p:nvPr/>
        </p:nvSpPr>
        <p:spPr>
          <a:xfrm>
            <a:off x="8089900" y="2002690"/>
            <a:ext cx="3429000" cy="889000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/>
            <a:r>
              <a:rPr lang="it-IT" b="1" dirty="0" err="1">
                <a:solidFill>
                  <a:srgbClr val="FFFFFF"/>
                </a:solidFill>
              </a:rPr>
              <a:t>IChatClient</a:t>
            </a:r>
            <a:r>
              <a:rPr lang="it-IT" b="1" dirty="0">
                <a:solidFill>
                  <a:srgbClr val="FFFFFF"/>
                </a:solidFill>
              </a:rPr>
              <a:t>
Middleware</a:t>
            </a:r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DED43D52-351C-C3E9-7F04-7FD8E561B3A6}"/>
              </a:ext>
            </a:extLst>
          </p:cNvPr>
          <p:cNvSpPr/>
          <p:nvPr/>
        </p:nvSpPr>
        <p:spPr>
          <a:xfrm>
            <a:off x="4381500" y="2002690"/>
            <a:ext cx="3429000" cy="889000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/>
            <a:r>
              <a:rPr lang="it-IT" b="1" dirty="0" err="1">
                <a:solidFill>
                  <a:srgbClr val="FFFFFF"/>
                </a:solidFill>
              </a:rPr>
              <a:t>Function</a:t>
            </a:r>
            <a:r>
              <a:rPr lang="it-IT" b="1" dirty="0">
                <a:solidFill>
                  <a:srgbClr val="FFFFFF"/>
                </a:solidFill>
              </a:rPr>
              <a:t> </a:t>
            </a:r>
            <a:r>
              <a:rPr lang="it-IT" b="1" dirty="0" err="1">
                <a:solidFill>
                  <a:srgbClr val="FFFFFF"/>
                </a:solidFill>
              </a:rPr>
              <a:t>Calling</a:t>
            </a:r>
            <a:r>
              <a:rPr lang="it-IT" b="1" dirty="0">
                <a:solidFill>
                  <a:srgbClr val="FFFFFF"/>
                </a:solidFill>
              </a:rPr>
              <a:t>
Middleware</a:t>
            </a:r>
          </a:p>
        </p:txBody>
      </p:sp>
    </p:spTree>
    <p:extLst>
      <p:ext uri="{BB962C8B-B14F-4D97-AF65-F5344CB8AC3E}">
        <p14:creationId xmlns:p14="http://schemas.microsoft.com/office/powerpoint/2010/main" val="194046488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0D70C-E988-5604-B76E-D29430E52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15E1C49-0986-DB08-34D5-170CE7762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365125"/>
            <a:ext cx="12191999" cy="1325563"/>
          </a:xfrm>
        </p:spPr>
        <p:txBody>
          <a:bodyPr/>
          <a:lstStyle/>
          <a:p>
            <a:r>
              <a:rPr lang="en-US" dirty="0"/>
              <a:t>Guardrail Middleware: pre/post validation</a:t>
            </a:r>
            <a:endParaRPr lang="it-IT" dirty="0"/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8FC785A3-9934-8564-2F0D-F2633E61DA52}"/>
              </a:ext>
            </a:extLst>
          </p:cNvPr>
          <p:cNvSpPr/>
          <p:nvPr/>
        </p:nvSpPr>
        <p:spPr>
          <a:xfrm>
            <a:off x="381000" y="2159000"/>
            <a:ext cx="1270000" cy="1016000"/>
          </a:xfrm>
          <a:prstGeom prst="roundRect">
            <a:avLst/>
          </a:prstGeom>
          <a:solidFill>
            <a:srgbClr val="4488CC"/>
          </a:solidFill>
          <a:ln w="6350" cap="flat" cmpd="sng" algn="ctr">
            <a:noFill/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/>
            <a:r>
              <a:rPr lang="it-IT" sz="1500" b="1">
                <a:solidFill>
                  <a:srgbClr val="FFFFFF"/>
                </a:solidFill>
              </a:rPr>
              <a:t>Request</a:t>
            </a:r>
          </a:p>
        </p:txBody>
      </p:sp>
      <p:sp>
        <p:nvSpPr>
          <p:cNvPr id="5" name="Freccia a destra 4">
            <a:extLst>
              <a:ext uri="{FF2B5EF4-FFF2-40B4-BE49-F238E27FC236}">
                <a16:creationId xmlns:a16="http://schemas.microsoft.com/office/drawing/2014/main" id="{92F40501-6CC3-EF69-FC9B-AE8301D3C4E0}"/>
              </a:ext>
            </a:extLst>
          </p:cNvPr>
          <p:cNvSpPr/>
          <p:nvPr/>
        </p:nvSpPr>
        <p:spPr>
          <a:xfrm>
            <a:off x="1714500" y="2514600"/>
            <a:ext cx="381000" cy="304800"/>
          </a:xfrm>
          <a:prstGeom prst="rightArrow">
            <a:avLst/>
          </a:prstGeom>
          <a:solidFill>
            <a:srgbClr val="CCCCCC"/>
          </a:solidFill>
          <a:ln w="6350" cap="flat" cmpd="sng" algn="ctr">
            <a:noFill/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it-IT"/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36359307-7A70-8A28-59B9-CED365C14503}"/>
              </a:ext>
            </a:extLst>
          </p:cNvPr>
          <p:cNvSpPr/>
          <p:nvPr/>
        </p:nvSpPr>
        <p:spPr>
          <a:xfrm>
            <a:off x="2159000" y="2159000"/>
            <a:ext cx="2540000" cy="1016000"/>
          </a:xfrm>
          <a:prstGeom prst="roundRect">
            <a:avLst/>
          </a:prstGeom>
          <a:solidFill>
            <a:srgbClr val="FFF0E0"/>
          </a:solidFill>
          <a:ln w="25400" cap="flat" cmpd="sng" algn="ctr">
            <a:solidFill>
              <a:srgbClr val="FF6A00"/>
            </a:solidFill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/>
            <a:r>
              <a:rPr lang="en-US" sz="1400">
                <a:solidFill>
                  <a:srgbClr val="FF6A00"/>
                </a:solidFill>
              </a:rPr>
              <a:t>PRE-EXECUTION
Blocklist check
Sensitive words</a:t>
            </a:r>
            <a:endParaRPr lang="it-IT" sz="1400">
              <a:solidFill>
                <a:srgbClr val="FF6A00"/>
              </a:solidFill>
            </a:endParaRPr>
          </a:p>
        </p:txBody>
      </p:sp>
      <p:sp>
        <p:nvSpPr>
          <p:cNvPr id="7" name="Freccia in giù 6">
            <a:extLst>
              <a:ext uri="{FF2B5EF4-FFF2-40B4-BE49-F238E27FC236}">
                <a16:creationId xmlns:a16="http://schemas.microsoft.com/office/drawing/2014/main" id="{BD48608C-C9EB-2FD3-6A40-B613C1C11C3F}"/>
              </a:ext>
            </a:extLst>
          </p:cNvPr>
          <p:cNvSpPr/>
          <p:nvPr/>
        </p:nvSpPr>
        <p:spPr>
          <a:xfrm>
            <a:off x="3175000" y="3238500"/>
            <a:ext cx="304800" cy="381000"/>
          </a:xfrm>
          <a:prstGeom prst="downArrow">
            <a:avLst/>
          </a:prstGeom>
          <a:solidFill>
            <a:srgbClr val="CC0000"/>
          </a:solidFill>
          <a:ln w="6350" cap="flat" cmpd="sng" algn="ctr">
            <a:noFill/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it-IT"/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C0884122-3461-941F-BA0D-B24D9EE72955}"/>
              </a:ext>
            </a:extLst>
          </p:cNvPr>
          <p:cNvSpPr/>
          <p:nvPr/>
        </p:nvSpPr>
        <p:spPr>
          <a:xfrm>
            <a:off x="2603500" y="3683000"/>
            <a:ext cx="1524000" cy="508000"/>
          </a:xfrm>
          <a:prstGeom prst="roundRect">
            <a:avLst/>
          </a:prstGeom>
          <a:solidFill>
            <a:srgbClr val="CC0000"/>
          </a:solidFill>
          <a:ln w="6350" cap="flat" cmpd="sng" algn="ctr">
            <a:noFill/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/>
            <a:r>
              <a:rPr lang="it-IT" sz="1600" b="1">
                <a:solidFill>
                  <a:srgbClr val="FFFFFF"/>
                </a:solidFill>
              </a:rPr>
              <a:t>BLOCK</a:t>
            </a:r>
          </a:p>
        </p:txBody>
      </p:sp>
      <p:sp>
        <p:nvSpPr>
          <p:cNvPr id="9" name="Freccia a destra 8">
            <a:extLst>
              <a:ext uri="{FF2B5EF4-FFF2-40B4-BE49-F238E27FC236}">
                <a16:creationId xmlns:a16="http://schemas.microsoft.com/office/drawing/2014/main" id="{A99A0936-E506-74B6-6C1F-C832E72EDB56}"/>
              </a:ext>
            </a:extLst>
          </p:cNvPr>
          <p:cNvSpPr/>
          <p:nvPr/>
        </p:nvSpPr>
        <p:spPr>
          <a:xfrm>
            <a:off x="4762500" y="2514600"/>
            <a:ext cx="381000" cy="304800"/>
          </a:xfrm>
          <a:prstGeom prst="rightArrow">
            <a:avLst/>
          </a:prstGeom>
          <a:solidFill>
            <a:srgbClr val="00AA55"/>
          </a:solidFill>
          <a:ln w="6350" cap="flat" cmpd="sng" algn="ctr">
            <a:noFill/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it-IT"/>
          </a:p>
        </p:txBody>
      </p:sp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2CC26151-F3AD-7191-9E16-D02A8250318A}"/>
              </a:ext>
            </a:extLst>
          </p:cNvPr>
          <p:cNvSpPr/>
          <p:nvPr/>
        </p:nvSpPr>
        <p:spPr>
          <a:xfrm>
            <a:off x="5207000" y="2159000"/>
            <a:ext cx="1651000" cy="1016000"/>
          </a:xfrm>
          <a:prstGeom prst="roundRect">
            <a:avLst/>
          </a:prstGeom>
          <a:solidFill>
            <a:srgbClr val="FF6A00"/>
          </a:solidFill>
          <a:ln w="6350" cap="flat" cmpd="sng" algn="ctr">
            <a:noFill/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/>
            <a:r>
              <a:rPr lang="it-IT" sz="1600" b="1">
                <a:solidFill>
                  <a:srgbClr val="FFFFFF"/>
                </a:solidFill>
              </a:rPr>
              <a:t>Agent
RunAsync()</a:t>
            </a:r>
          </a:p>
        </p:txBody>
      </p:sp>
      <p:sp>
        <p:nvSpPr>
          <p:cNvPr id="11" name="Freccia a destra 10">
            <a:extLst>
              <a:ext uri="{FF2B5EF4-FFF2-40B4-BE49-F238E27FC236}">
                <a16:creationId xmlns:a16="http://schemas.microsoft.com/office/drawing/2014/main" id="{91164FF0-20BD-441D-E829-BBCF499E0B02}"/>
              </a:ext>
            </a:extLst>
          </p:cNvPr>
          <p:cNvSpPr/>
          <p:nvPr/>
        </p:nvSpPr>
        <p:spPr>
          <a:xfrm>
            <a:off x="6921500" y="2514600"/>
            <a:ext cx="381000" cy="304800"/>
          </a:xfrm>
          <a:prstGeom prst="rightArrow">
            <a:avLst/>
          </a:prstGeom>
          <a:solidFill>
            <a:srgbClr val="CCCCCC"/>
          </a:solidFill>
          <a:ln w="6350" cap="flat" cmpd="sng" algn="ctr">
            <a:noFill/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it-IT"/>
          </a:p>
        </p:txBody>
      </p:sp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228F667F-25A8-BA94-5C90-2850A64F4E46}"/>
              </a:ext>
            </a:extLst>
          </p:cNvPr>
          <p:cNvSpPr/>
          <p:nvPr/>
        </p:nvSpPr>
        <p:spPr>
          <a:xfrm>
            <a:off x="7366000" y="2159000"/>
            <a:ext cx="2540000" cy="1016000"/>
          </a:xfrm>
          <a:prstGeom prst="roundRect">
            <a:avLst/>
          </a:prstGeom>
          <a:solidFill>
            <a:srgbClr val="E8F5E9"/>
          </a:solidFill>
          <a:ln w="25400" cap="flat" cmpd="sng" algn="ctr">
            <a:solidFill>
              <a:srgbClr val="00AA55"/>
            </a:solidFill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/>
            <a:r>
              <a:rPr lang="en-US" sz="1400">
                <a:solidFill>
                  <a:srgbClr val="00AA55"/>
                </a:solidFill>
              </a:rPr>
              <a:t>POST-EXECUTION
Output validation
Length truncation</a:t>
            </a:r>
            <a:endParaRPr lang="it-IT" sz="1400">
              <a:solidFill>
                <a:srgbClr val="00AA55"/>
              </a:solidFill>
            </a:endParaRPr>
          </a:p>
        </p:txBody>
      </p:sp>
      <p:sp>
        <p:nvSpPr>
          <p:cNvPr id="13" name="Freccia a destra 12">
            <a:extLst>
              <a:ext uri="{FF2B5EF4-FFF2-40B4-BE49-F238E27FC236}">
                <a16:creationId xmlns:a16="http://schemas.microsoft.com/office/drawing/2014/main" id="{4C1970F9-7D95-BF53-C809-AF475BAA7561}"/>
              </a:ext>
            </a:extLst>
          </p:cNvPr>
          <p:cNvSpPr/>
          <p:nvPr/>
        </p:nvSpPr>
        <p:spPr>
          <a:xfrm>
            <a:off x="9969500" y="2514600"/>
            <a:ext cx="381000" cy="304800"/>
          </a:xfrm>
          <a:prstGeom prst="rightArrow">
            <a:avLst/>
          </a:prstGeom>
          <a:solidFill>
            <a:srgbClr val="CCCCCC"/>
          </a:solidFill>
          <a:ln w="6350" cap="flat" cmpd="sng" algn="ctr">
            <a:noFill/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it-IT"/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F0C136AA-3F99-0121-4CF8-6BF93B1FCF7E}"/>
              </a:ext>
            </a:extLst>
          </p:cNvPr>
          <p:cNvSpPr/>
          <p:nvPr/>
        </p:nvSpPr>
        <p:spPr>
          <a:xfrm>
            <a:off x="10414000" y="2159000"/>
            <a:ext cx="1397000" cy="1016000"/>
          </a:xfrm>
          <a:prstGeom prst="roundRect">
            <a:avLst/>
          </a:prstGeom>
          <a:solidFill>
            <a:srgbClr val="00AA55"/>
          </a:solidFill>
          <a:ln w="6350" cap="flat" cmpd="sng" algn="ctr">
            <a:noFill/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/>
            <a:r>
              <a:rPr lang="it-IT" sz="1500" b="1">
                <a:solidFill>
                  <a:srgbClr val="FFFFFF"/>
                </a:solidFill>
              </a:rPr>
              <a:t>Response</a:t>
            </a:r>
          </a:p>
        </p:txBody>
      </p: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8BF52793-D469-E818-98A1-20BBF45F4129}"/>
              </a:ext>
            </a:extLst>
          </p:cNvPr>
          <p:cNvSpPr/>
          <p:nvPr/>
        </p:nvSpPr>
        <p:spPr>
          <a:xfrm>
            <a:off x="762000" y="4826000"/>
            <a:ext cx="10668000" cy="889000"/>
          </a:xfrm>
          <a:prstGeom prst="roundRect">
            <a:avLst/>
          </a:prstGeom>
          <a:solidFill>
            <a:srgbClr val="1A1A1A"/>
          </a:solidFill>
          <a:ln w="6350" cap="flat" cmpd="sng" algn="ctr">
            <a:noFill/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/>
            <a:r>
              <a:rPr lang="en-US">
                <a:solidFill>
                  <a:srgbClr val="00FF88"/>
                </a:solidFill>
              </a:rPr>
              <a:t>agent.AsBuilder().Use(runFunc: GuardrailMiddleware).Build()</a:t>
            </a:r>
            <a:endParaRPr lang="it-IT">
              <a:solidFill>
                <a:srgbClr val="00FF8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897355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C7A9B-9454-F193-1E79-99C21ACA5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A33A74C-4BFD-5AA6-DE00-FC7E7B274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Function</a:t>
            </a:r>
            <a:r>
              <a:rPr lang="it-IT" dirty="0"/>
              <a:t> </a:t>
            </a:r>
            <a:r>
              <a:rPr lang="it-IT" dirty="0" err="1"/>
              <a:t>Calling</a:t>
            </a:r>
            <a:r>
              <a:rPr lang="it-IT" dirty="0"/>
              <a:t> Middleware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047157BD-E0DE-2A8D-6B3A-0918DE84685A}"/>
              </a:ext>
            </a:extLst>
          </p:cNvPr>
          <p:cNvSpPr txBox="1"/>
          <p:nvPr/>
        </p:nvSpPr>
        <p:spPr>
          <a:xfrm>
            <a:off x="635000" y="1524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ctr"/>
            <a:r>
              <a:rPr lang="it-IT">
                <a:solidFill>
                  <a:srgbClr val="444444"/>
                </a:solidFill>
              </a:rPr>
              <a:t>Intercetta ogni tool call: ispeziona la funzione, i suoi argomenti
e il risultato — prima e dopo l'esecuzione.</a:t>
            </a:r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D7F23F70-DC71-5177-7E6A-014F38C76BA1}"/>
              </a:ext>
            </a:extLst>
          </p:cNvPr>
          <p:cNvSpPr/>
          <p:nvPr/>
        </p:nvSpPr>
        <p:spPr>
          <a:xfrm>
            <a:off x="889000" y="2476500"/>
            <a:ext cx="3302000" cy="2032000"/>
          </a:xfrm>
          <a:prstGeom prst="roundRect">
            <a:avLst/>
          </a:prstGeom>
          <a:solidFill>
            <a:srgbClr val="F8F8F8"/>
          </a:solidFill>
          <a:ln w="25400" cap="flat" cmpd="sng" algn="ctr">
            <a:solidFill>
              <a:srgbClr val="4488CC"/>
            </a:solidFill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it-IT"/>
          </a:p>
        </p:txBody>
      </p:sp>
      <p:sp>
        <p:nvSpPr>
          <p:cNvPr id="6" name="Ovale 5">
            <a:extLst>
              <a:ext uri="{FF2B5EF4-FFF2-40B4-BE49-F238E27FC236}">
                <a16:creationId xmlns:a16="http://schemas.microsoft.com/office/drawing/2014/main" id="{CE3A6685-27E6-329A-9744-22E9938B6070}"/>
              </a:ext>
            </a:extLst>
          </p:cNvPr>
          <p:cNvSpPr/>
          <p:nvPr/>
        </p:nvSpPr>
        <p:spPr>
          <a:xfrm>
            <a:off x="1079500" y="2667000"/>
            <a:ext cx="508000" cy="508000"/>
          </a:xfrm>
          <a:prstGeom prst="ellipse">
            <a:avLst/>
          </a:prstGeom>
          <a:solidFill>
            <a:srgbClr val="4488CC"/>
          </a:solidFill>
          <a:ln w="6350" cap="flat" cmpd="sng" algn="ctr">
            <a:noFill/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it-IT"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E9B13CD1-5B86-3D35-B14A-AFF5074D997D}"/>
              </a:ext>
            </a:extLst>
          </p:cNvPr>
          <p:cNvSpPr txBox="1"/>
          <p:nvPr/>
        </p:nvSpPr>
        <p:spPr>
          <a:xfrm>
            <a:off x="1714500" y="2730500"/>
            <a:ext cx="2286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ctr"/>
            <a:r>
              <a:rPr lang="it-IT" sz="2000" b="1">
                <a:solidFill>
                  <a:srgbClr val="333333"/>
                </a:solidFill>
              </a:rPr>
              <a:t>Ispeziona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02649828-80EA-777E-DC4F-7C943EECBC91}"/>
              </a:ext>
            </a:extLst>
          </p:cNvPr>
          <p:cNvSpPr txBox="1"/>
          <p:nvPr/>
        </p:nvSpPr>
        <p:spPr>
          <a:xfrm>
            <a:off x="1079500" y="3365500"/>
            <a:ext cx="2921000" cy="889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ctr"/>
            <a:r>
              <a:rPr lang="it-IT" sz="1600">
                <a:solidFill>
                  <a:srgbClr val="666666"/>
                </a:solidFill>
              </a:rPr>
              <a:t>Quale funzione?
Quali argomenti?</a:t>
            </a:r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D5EF6E63-D0AC-8DD0-5803-2FA5008DCEBF}"/>
              </a:ext>
            </a:extLst>
          </p:cNvPr>
          <p:cNvSpPr/>
          <p:nvPr/>
        </p:nvSpPr>
        <p:spPr>
          <a:xfrm>
            <a:off x="4445000" y="2476500"/>
            <a:ext cx="3302000" cy="2032000"/>
          </a:xfrm>
          <a:prstGeom prst="roundRect">
            <a:avLst/>
          </a:prstGeom>
          <a:solidFill>
            <a:srgbClr val="F8F8F8"/>
          </a:solidFill>
          <a:ln w="25400" cap="flat" cmpd="sng" algn="ctr">
            <a:solidFill>
              <a:srgbClr val="FF6A00"/>
            </a:solidFill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it-IT"/>
          </a:p>
        </p:txBody>
      </p:sp>
      <p:sp>
        <p:nvSpPr>
          <p:cNvPr id="10" name="Ovale 9">
            <a:extLst>
              <a:ext uri="{FF2B5EF4-FFF2-40B4-BE49-F238E27FC236}">
                <a16:creationId xmlns:a16="http://schemas.microsoft.com/office/drawing/2014/main" id="{E61FB342-C379-9D8E-9CD2-F6B50BA22A77}"/>
              </a:ext>
            </a:extLst>
          </p:cNvPr>
          <p:cNvSpPr/>
          <p:nvPr/>
        </p:nvSpPr>
        <p:spPr>
          <a:xfrm>
            <a:off x="4635500" y="2667000"/>
            <a:ext cx="508000" cy="508000"/>
          </a:xfrm>
          <a:prstGeom prst="ellipse">
            <a:avLst/>
          </a:prstGeom>
          <a:solidFill>
            <a:srgbClr val="FF6A00"/>
          </a:solidFill>
          <a:ln w="6350" cap="flat" cmpd="sng" algn="ctr">
            <a:noFill/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it-IT"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481F0155-7B41-5FDD-DF22-7E5E220B6A92}"/>
              </a:ext>
            </a:extLst>
          </p:cNvPr>
          <p:cNvSpPr txBox="1"/>
          <p:nvPr/>
        </p:nvSpPr>
        <p:spPr>
          <a:xfrm>
            <a:off x="5270500" y="2730500"/>
            <a:ext cx="2286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ctr"/>
            <a:r>
              <a:rPr lang="it-IT" sz="2000" b="1">
                <a:solidFill>
                  <a:srgbClr val="333333"/>
                </a:solidFill>
              </a:rPr>
              <a:t>Valida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DDCAEDD8-1F6A-FA82-BAED-AECE13E46294}"/>
              </a:ext>
            </a:extLst>
          </p:cNvPr>
          <p:cNvSpPr txBox="1"/>
          <p:nvPr/>
        </p:nvSpPr>
        <p:spPr>
          <a:xfrm>
            <a:off x="4635500" y="3365500"/>
            <a:ext cx="2921000" cy="889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ctr"/>
            <a:r>
              <a:rPr lang="en-US" sz="1600">
                <a:solidFill>
                  <a:srgbClr val="666666"/>
                </a:solidFill>
              </a:rPr>
              <a:t>Policy check
SQL injection? Args validi?</a:t>
            </a:r>
            <a:endParaRPr lang="it-IT" sz="1600">
              <a:solidFill>
                <a:srgbClr val="666666"/>
              </a:solidFill>
            </a:endParaRPr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C47F289B-7800-411C-0FF2-CA584D2387EE}"/>
              </a:ext>
            </a:extLst>
          </p:cNvPr>
          <p:cNvSpPr/>
          <p:nvPr/>
        </p:nvSpPr>
        <p:spPr>
          <a:xfrm>
            <a:off x="8001000" y="2476500"/>
            <a:ext cx="3302000" cy="2032000"/>
          </a:xfrm>
          <a:prstGeom prst="roundRect">
            <a:avLst/>
          </a:prstGeom>
          <a:solidFill>
            <a:srgbClr val="F8F8F8"/>
          </a:solidFill>
          <a:ln w="25400" cap="flat" cmpd="sng" algn="ctr">
            <a:solidFill>
              <a:srgbClr val="00AA55"/>
            </a:solidFill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it-IT"/>
          </a:p>
        </p:txBody>
      </p:sp>
      <p:sp>
        <p:nvSpPr>
          <p:cNvPr id="14" name="Ovale 13">
            <a:extLst>
              <a:ext uri="{FF2B5EF4-FFF2-40B4-BE49-F238E27FC236}">
                <a16:creationId xmlns:a16="http://schemas.microsoft.com/office/drawing/2014/main" id="{CF076395-5A17-FAB8-F1DF-373304771067}"/>
              </a:ext>
            </a:extLst>
          </p:cNvPr>
          <p:cNvSpPr/>
          <p:nvPr/>
        </p:nvSpPr>
        <p:spPr>
          <a:xfrm>
            <a:off x="8191500" y="2667000"/>
            <a:ext cx="508000" cy="508000"/>
          </a:xfrm>
          <a:prstGeom prst="ellipse">
            <a:avLst/>
          </a:prstGeom>
          <a:solidFill>
            <a:srgbClr val="00AA55"/>
          </a:solidFill>
          <a:ln w="6350" cap="flat" cmpd="sng" algn="ctr">
            <a:noFill/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it-IT"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A23C3202-E07C-91B3-74EF-0D3FA360A4CB}"/>
              </a:ext>
            </a:extLst>
          </p:cNvPr>
          <p:cNvSpPr txBox="1"/>
          <p:nvPr/>
        </p:nvSpPr>
        <p:spPr>
          <a:xfrm>
            <a:off x="8826500" y="2730500"/>
            <a:ext cx="2286000" cy="307777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ctr"/>
            <a:r>
              <a:rPr lang="it-IT" sz="2000" b="1" dirty="0" err="1">
                <a:solidFill>
                  <a:srgbClr val="333333"/>
                </a:solidFill>
              </a:rPr>
              <a:t>Observability</a:t>
            </a:r>
            <a:endParaRPr lang="it-IT" sz="2000" b="1" dirty="0">
              <a:solidFill>
                <a:srgbClr val="333333"/>
              </a:solidFill>
            </a:endParaRP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9045A6F3-4FB5-7AA0-6284-4A3D20F94D96}"/>
              </a:ext>
            </a:extLst>
          </p:cNvPr>
          <p:cNvSpPr txBox="1"/>
          <p:nvPr/>
        </p:nvSpPr>
        <p:spPr>
          <a:xfrm>
            <a:off x="8191500" y="3365500"/>
            <a:ext cx="2921000" cy="492443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ctr"/>
            <a:r>
              <a:rPr lang="it-IT" sz="1600" dirty="0">
                <a:solidFill>
                  <a:srgbClr val="666666"/>
                </a:solidFill>
              </a:rPr>
              <a:t>«Log» completo
Chi, cosa, quando</a:t>
            </a:r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8FDF85EB-17CA-DAFA-97E1-6DD9A68F3856}"/>
              </a:ext>
            </a:extLst>
          </p:cNvPr>
          <p:cNvSpPr/>
          <p:nvPr/>
        </p:nvSpPr>
        <p:spPr>
          <a:xfrm>
            <a:off x="762000" y="4953000"/>
            <a:ext cx="10668000" cy="762000"/>
          </a:xfrm>
          <a:prstGeom prst="roundRect">
            <a:avLst/>
          </a:prstGeom>
          <a:solidFill>
            <a:srgbClr val="1A1A1A"/>
          </a:solidFill>
          <a:ln w="6350" cap="flat" cmpd="sng" algn="ctr">
            <a:noFill/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/>
            <a:r>
              <a:rPr lang="en-US" sz="1700">
                <a:solidFill>
                  <a:srgbClr val="00FF88"/>
                </a:solidFill>
              </a:rPr>
              <a:t>agent.AsBuilder().Use(CustomFunctionCallingMiddleware).Build()</a:t>
            </a:r>
            <a:endParaRPr lang="it-IT" sz="1700">
              <a:solidFill>
                <a:srgbClr val="00FF88"/>
              </a:solidFill>
            </a:endParaRP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F8916728-CC04-AC19-3AB1-B02C4AD378F5}"/>
              </a:ext>
            </a:extLst>
          </p:cNvPr>
          <p:cNvSpPr txBox="1"/>
          <p:nvPr/>
        </p:nvSpPr>
        <p:spPr>
          <a:xfrm>
            <a:off x="762000" y="5842000"/>
            <a:ext cx="106680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ctr"/>
            <a:r>
              <a:rPr lang="it-IT" sz="1600" dirty="0">
                <a:solidFill>
                  <a:srgbClr val="777777"/>
                </a:solidFill>
              </a:rPr>
              <a:t>Es: verificare che una query SQL non contenga DROP TABLE</a:t>
            </a:r>
          </a:p>
        </p:txBody>
      </p:sp>
    </p:spTree>
    <p:extLst>
      <p:ext uri="{BB962C8B-B14F-4D97-AF65-F5344CB8AC3E}">
        <p14:creationId xmlns:p14="http://schemas.microsoft.com/office/powerpoint/2010/main" val="419901234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2CEFE-44E9-94F6-D4DF-538BC6609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F0D31BC-D89A-0A91-3950-B947C6D6C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3 </a:t>
            </a:r>
            <a:r>
              <a:rPr lang="it-IT" dirty="0" err="1"/>
              <a:t>Approval</a:t>
            </a:r>
            <a:r>
              <a:rPr lang="it-IT" dirty="0"/>
              <a:t> </a:t>
            </a:r>
            <a:r>
              <a:rPr lang="it-IT" dirty="0" err="1"/>
              <a:t>Modes</a:t>
            </a:r>
            <a:endParaRPr lang="it-IT" dirty="0"/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FE89E296-96FD-1575-5D6F-BA3FB8A2B081}"/>
              </a:ext>
            </a:extLst>
          </p:cNvPr>
          <p:cNvSpPr/>
          <p:nvPr/>
        </p:nvSpPr>
        <p:spPr>
          <a:xfrm>
            <a:off x="1016000" y="1651000"/>
            <a:ext cx="10160000" cy="12700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00AA55"/>
            </a:solidFill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it-IT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B6A33EE5-98A2-9C7B-59BA-64BC1ED7C75E}"/>
              </a:ext>
            </a:extLst>
          </p:cNvPr>
          <p:cNvSpPr/>
          <p:nvPr/>
        </p:nvSpPr>
        <p:spPr>
          <a:xfrm>
            <a:off x="1231900" y="1651000"/>
            <a:ext cx="101600" cy="1270000"/>
          </a:xfrm>
          <a:prstGeom prst="rect">
            <a:avLst/>
          </a:prstGeom>
          <a:solidFill>
            <a:srgbClr val="00AA55"/>
          </a:solidFill>
          <a:ln w="6350" cap="flat" cmpd="sng" algn="ctr">
            <a:noFill/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4145AA65-4D08-0EC5-D975-86F5E716683F}"/>
              </a:ext>
            </a:extLst>
          </p:cNvPr>
          <p:cNvSpPr txBox="1"/>
          <p:nvPr/>
        </p:nvSpPr>
        <p:spPr>
          <a:xfrm>
            <a:off x="1333500" y="1841500"/>
            <a:ext cx="3556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ctr"/>
            <a:r>
              <a:rPr lang="it-IT" sz="2200" b="1">
                <a:solidFill>
                  <a:srgbClr val="333333"/>
                </a:solidFill>
              </a:rPr>
              <a:t>always_require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7C202382-4519-6507-603C-C57FF9185028}"/>
              </a:ext>
            </a:extLst>
          </p:cNvPr>
          <p:cNvSpPr txBox="1"/>
          <p:nvPr/>
        </p:nvSpPr>
        <p:spPr>
          <a:xfrm>
            <a:off x="1333500" y="2260600"/>
            <a:ext cx="5080000" cy="571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ctr"/>
            <a:r>
              <a:rPr lang="it-IT" sz="1600">
                <a:solidFill>
                  <a:srgbClr val="666666"/>
                </a:solidFill>
              </a:rPr>
              <a:t>Chiede sempre approvazione
prima dell'esecuzione</a:t>
            </a:r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3B588232-80E9-03F3-B801-8A4621FC1029}"/>
              </a:ext>
            </a:extLst>
          </p:cNvPr>
          <p:cNvSpPr/>
          <p:nvPr/>
        </p:nvSpPr>
        <p:spPr>
          <a:xfrm>
            <a:off x="8636000" y="2032000"/>
            <a:ext cx="2159000" cy="457200"/>
          </a:xfrm>
          <a:prstGeom prst="roundRect">
            <a:avLst/>
          </a:prstGeom>
          <a:solidFill>
            <a:srgbClr val="00AA55"/>
          </a:solidFill>
          <a:ln w="6350" cap="flat" cmpd="sng" algn="ctr">
            <a:noFill/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/>
            <a:r>
              <a:rPr lang="it-IT" sz="1600" b="1">
                <a:solidFill>
                  <a:srgbClr val="FFFFFF"/>
                </a:solidFill>
              </a:rPr>
              <a:t>PRODUZIONE</a:t>
            </a:r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32A6C64C-E193-D165-C1A3-203D006C3521}"/>
              </a:ext>
            </a:extLst>
          </p:cNvPr>
          <p:cNvSpPr/>
          <p:nvPr/>
        </p:nvSpPr>
        <p:spPr>
          <a:xfrm>
            <a:off x="1016000" y="3111500"/>
            <a:ext cx="10160000" cy="12700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FF6A00"/>
            </a:solidFill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it-IT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3D725B48-498D-9DBC-BAA1-EFE5007CF624}"/>
              </a:ext>
            </a:extLst>
          </p:cNvPr>
          <p:cNvSpPr txBox="1"/>
          <p:nvPr/>
        </p:nvSpPr>
        <p:spPr>
          <a:xfrm>
            <a:off x="1333500" y="3302000"/>
            <a:ext cx="3556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ctr"/>
            <a:r>
              <a:rPr lang="it-IT" sz="2200" b="1">
                <a:solidFill>
                  <a:srgbClr val="333333"/>
                </a:solidFill>
              </a:rPr>
              <a:t>conditional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76B79DDA-5E14-627F-8B1D-CE177E37EB44}"/>
              </a:ext>
            </a:extLst>
          </p:cNvPr>
          <p:cNvSpPr txBox="1"/>
          <p:nvPr/>
        </p:nvSpPr>
        <p:spPr>
          <a:xfrm>
            <a:off x="1333500" y="3721100"/>
            <a:ext cx="5080000" cy="571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ctr"/>
            <a:r>
              <a:rPr lang="it-IT" sz="1600">
                <a:solidFill>
                  <a:srgbClr val="666666"/>
                </a:solidFill>
              </a:rPr>
              <a:t>Approvazione basata
su logica custom</a:t>
            </a:r>
          </a:p>
        </p:txBody>
      </p:sp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F5FF16A9-6ACB-9B50-FD76-907274C4D773}"/>
              </a:ext>
            </a:extLst>
          </p:cNvPr>
          <p:cNvSpPr/>
          <p:nvPr/>
        </p:nvSpPr>
        <p:spPr>
          <a:xfrm>
            <a:off x="8636000" y="3492500"/>
            <a:ext cx="2159000" cy="457200"/>
          </a:xfrm>
          <a:prstGeom prst="roundRect">
            <a:avLst/>
          </a:prstGeom>
          <a:solidFill>
            <a:srgbClr val="FF6A00"/>
          </a:solidFill>
          <a:ln w="6350" cap="flat" cmpd="sng" algn="ctr">
            <a:noFill/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/>
            <a:r>
              <a:rPr lang="it-IT" sz="1600" b="1">
                <a:solidFill>
                  <a:srgbClr val="FFFFFF"/>
                </a:solidFill>
              </a:rPr>
              <a:t>RACCOMANDATO</a:t>
            </a:r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28349FF1-EFE2-A145-885E-60424FD99B47}"/>
              </a:ext>
            </a:extLst>
          </p:cNvPr>
          <p:cNvSpPr/>
          <p:nvPr/>
        </p:nvSpPr>
        <p:spPr>
          <a:xfrm>
            <a:off x="1016000" y="4572000"/>
            <a:ext cx="10160000" cy="12700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CC0000"/>
            </a:solidFill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it-IT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353BC274-0629-71BE-3567-8586C452281A}"/>
              </a:ext>
            </a:extLst>
          </p:cNvPr>
          <p:cNvSpPr txBox="1"/>
          <p:nvPr/>
        </p:nvSpPr>
        <p:spPr>
          <a:xfrm>
            <a:off x="1333500" y="4762500"/>
            <a:ext cx="3556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ctr"/>
            <a:r>
              <a:rPr lang="it-IT" sz="2200" b="1">
                <a:solidFill>
                  <a:srgbClr val="333333"/>
                </a:solidFill>
              </a:rPr>
              <a:t>never_require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2E77E463-432C-3F55-1CFE-30F3ED103528}"/>
              </a:ext>
            </a:extLst>
          </p:cNvPr>
          <p:cNvSpPr txBox="1"/>
          <p:nvPr/>
        </p:nvSpPr>
        <p:spPr>
          <a:xfrm>
            <a:off x="1333500" y="5181600"/>
            <a:ext cx="5080000" cy="571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ctr"/>
            <a:r>
              <a:rPr lang="it-IT" sz="1600">
                <a:solidFill>
                  <a:srgbClr val="666666"/>
                </a:solidFill>
              </a:rPr>
              <a:t>Non chiede mai approvazione
(default nei sample)</a:t>
            </a:r>
          </a:p>
        </p:txBody>
      </p:sp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B9E7B991-B62D-06A7-2078-D1C6A2DC4670}"/>
              </a:ext>
            </a:extLst>
          </p:cNvPr>
          <p:cNvSpPr/>
          <p:nvPr/>
        </p:nvSpPr>
        <p:spPr>
          <a:xfrm>
            <a:off x="8636000" y="4953000"/>
            <a:ext cx="2159000" cy="457200"/>
          </a:xfrm>
          <a:prstGeom prst="roundRect">
            <a:avLst/>
          </a:prstGeom>
          <a:solidFill>
            <a:srgbClr val="CC0000"/>
          </a:solidFill>
          <a:ln w="6350" cap="flat" cmpd="sng" algn="ctr">
            <a:noFill/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/>
            <a:r>
              <a:rPr lang="it-IT" sz="1600" b="1">
                <a:solidFill>
                  <a:srgbClr val="FFFFFF"/>
                </a:solidFill>
              </a:rPr>
              <a:t>SOLO POC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8B6E6491-4A60-2DFB-2A69-EFD802D55700}"/>
              </a:ext>
            </a:extLst>
          </p:cNvPr>
          <p:cNvSpPr txBox="1"/>
          <p:nvPr/>
        </p:nvSpPr>
        <p:spPr>
          <a:xfrm>
            <a:off x="1016000" y="6096000"/>
            <a:ext cx="10160000" cy="508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ctr"/>
            <a:r>
              <a:rPr lang="en-US" sz="1400">
                <a:solidFill>
                  <a:srgbClr val="999999"/>
                </a:solidFill>
              </a:rPr>
              <a:t>"approval_mode='never_require' is for sample brevity.
 Use 'always_require' in production." — Microsoft docs</a:t>
            </a:r>
            <a:endParaRPr lang="it-IT" sz="1400">
              <a:solidFill>
                <a:srgbClr val="999999"/>
              </a:solidFill>
            </a:endParaRPr>
          </a:p>
        </p:txBody>
      </p:sp>
      <p:sp>
        <p:nvSpPr>
          <p:cNvPr id="18" name="Figura a mano libera: forma 17">
            <a:extLst>
              <a:ext uri="{FF2B5EF4-FFF2-40B4-BE49-F238E27FC236}">
                <a16:creationId xmlns:a16="http://schemas.microsoft.com/office/drawing/2014/main" id="{95452D46-4E51-C78B-B914-804AF7A55C94}"/>
              </a:ext>
            </a:extLst>
          </p:cNvPr>
          <p:cNvSpPr/>
          <p:nvPr/>
        </p:nvSpPr>
        <p:spPr>
          <a:xfrm>
            <a:off x="1021556" y="1638300"/>
            <a:ext cx="307182" cy="1285875"/>
          </a:xfrm>
          <a:custGeom>
            <a:avLst/>
            <a:gdLst>
              <a:gd name="csX0" fmla="*/ 307182 w 307182"/>
              <a:gd name="csY0" fmla="*/ 0 h 1285875"/>
              <a:gd name="csX1" fmla="*/ 304800 w 307182"/>
              <a:gd name="csY1" fmla="*/ 1283494 h 1285875"/>
              <a:gd name="csX2" fmla="*/ 171450 w 307182"/>
              <a:gd name="csY2" fmla="*/ 1285875 h 1285875"/>
              <a:gd name="csX3" fmla="*/ 123825 w 307182"/>
              <a:gd name="csY3" fmla="*/ 1264444 h 1285875"/>
              <a:gd name="csX4" fmla="*/ 57150 w 307182"/>
              <a:gd name="csY4" fmla="*/ 1214438 h 1285875"/>
              <a:gd name="csX5" fmla="*/ 11907 w 307182"/>
              <a:gd name="csY5" fmla="*/ 1159669 h 1285875"/>
              <a:gd name="csX6" fmla="*/ 2382 w 307182"/>
              <a:gd name="csY6" fmla="*/ 1092994 h 1285875"/>
              <a:gd name="csX7" fmla="*/ 0 w 307182"/>
              <a:gd name="csY7" fmla="*/ 176213 h 1285875"/>
              <a:gd name="csX8" fmla="*/ 40482 w 307182"/>
              <a:gd name="csY8" fmla="*/ 92869 h 1285875"/>
              <a:gd name="csX9" fmla="*/ 73819 w 307182"/>
              <a:gd name="csY9" fmla="*/ 64294 h 1285875"/>
              <a:gd name="csX10" fmla="*/ 150019 w 307182"/>
              <a:gd name="csY10" fmla="*/ 26194 h 1285875"/>
              <a:gd name="csX11" fmla="*/ 200025 w 307182"/>
              <a:gd name="csY11" fmla="*/ 16669 h 1285875"/>
              <a:gd name="csX12" fmla="*/ 307182 w 307182"/>
              <a:gd name="csY12" fmla="*/ 0 h 12858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07182" h="1285875">
                <a:moveTo>
                  <a:pt x="307182" y="0"/>
                </a:moveTo>
                <a:lnTo>
                  <a:pt x="304800" y="1283494"/>
                </a:lnTo>
                <a:lnTo>
                  <a:pt x="171450" y="1285875"/>
                </a:lnTo>
                <a:lnTo>
                  <a:pt x="123825" y="1264444"/>
                </a:lnTo>
                <a:lnTo>
                  <a:pt x="57150" y="1214438"/>
                </a:lnTo>
                <a:lnTo>
                  <a:pt x="11907" y="1159669"/>
                </a:lnTo>
                <a:lnTo>
                  <a:pt x="2382" y="1092994"/>
                </a:lnTo>
                <a:lnTo>
                  <a:pt x="0" y="176213"/>
                </a:lnTo>
                <a:lnTo>
                  <a:pt x="40482" y="92869"/>
                </a:lnTo>
                <a:lnTo>
                  <a:pt x="73819" y="64294"/>
                </a:lnTo>
                <a:lnTo>
                  <a:pt x="150019" y="26194"/>
                </a:lnTo>
                <a:lnTo>
                  <a:pt x="200025" y="16669"/>
                </a:lnTo>
                <a:lnTo>
                  <a:pt x="307182" y="0"/>
                </a:lnTo>
                <a:close/>
              </a:path>
            </a:pathLst>
          </a:custGeom>
          <a:solidFill>
            <a:srgbClr val="00A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Figura a mano libera: forma 18">
            <a:extLst>
              <a:ext uri="{FF2B5EF4-FFF2-40B4-BE49-F238E27FC236}">
                <a16:creationId xmlns:a16="http://schemas.microsoft.com/office/drawing/2014/main" id="{704205C9-3217-810D-CF74-3C8CAABA8BDA}"/>
              </a:ext>
            </a:extLst>
          </p:cNvPr>
          <p:cNvSpPr/>
          <p:nvPr/>
        </p:nvSpPr>
        <p:spPr>
          <a:xfrm>
            <a:off x="1021556" y="3100387"/>
            <a:ext cx="307182" cy="1285875"/>
          </a:xfrm>
          <a:custGeom>
            <a:avLst/>
            <a:gdLst>
              <a:gd name="csX0" fmla="*/ 307182 w 307182"/>
              <a:gd name="csY0" fmla="*/ 0 h 1285875"/>
              <a:gd name="csX1" fmla="*/ 304800 w 307182"/>
              <a:gd name="csY1" fmla="*/ 1283494 h 1285875"/>
              <a:gd name="csX2" fmla="*/ 171450 w 307182"/>
              <a:gd name="csY2" fmla="*/ 1285875 h 1285875"/>
              <a:gd name="csX3" fmla="*/ 123825 w 307182"/>
              <a:gd name="csY3" fmla="*/ 1264444 h 1285875"/>
              <a:gd name="csX4" fmla="*/ 57150 w 307182"/>
              <a:gd name="csY4" fmla="*/ 1214438 h 1285875"/>
              <a:gd name="csX5" fmla="*/ 11907 w 307182"/>
              <a:gd name="csY5" fmla="*/ 1159669 h 1285875"/>
              <a:gd name="csX6" fmla="*/ 2382 w 307182"/>
              <a:gd name="csY6" fmla="*/ 1092994 h 1285875"/>
              <a:gd name="csX7" fmla="*/ 0 w 307182"/>
              <a:gd name="csY7" fmla="*/ 176213 h 1285875"/>
              <a:gd name="csX8" fmla="*/ 40482 w 307182"/>
              <a:gd name="csY8" fmla="*/ 92869 h 1285875"/>
              <a:gd name="csX9" fmla="*/ 73819 w 307182"/>
              <a:gd name="csY9" fmla="*/ 64294 h 1285875"/>
              <a:gd name="csX10" fmla="*/ 150019 w 307182"/>
              <a:gd name="csY10" fmla="*/ 26194 h 1285875"/>
              <a:gd name="csX11" fmla="*/ 200025 w 307182"/>
              <a:gd name="csY11" fmla="*/ 16669 h 1285875"/>
              <a:gd name="csX12" fmla="*/ 307182 w 307182"/>
              <a:gd name="csY12" fmla="*/ 0 h 12858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07182" h="1285875">
                <a:moveTo>
                  <a:pt x="307182" y="0"/>
                </a:moveTo>
                <a:lnTo>
                  <a:pt x="304800" y="1283494"/>
                </a:lnTo>
                <a:lnTo>
                  <a:pt x="171450" y="1285875"/>
                </a:lnTo>
                <a:lnTo>
                  <a:pt x="123825" y="1264444"/>
                </a:lnTo>
                <a:lnTo>
                  <a:pt x="57150" y="1214438"/>
                </a:lnTo>
                <a:lnTo>
                  <a:pt x="11907" y="1159669"/>
                </a:lnTo>
                <a:lnTo>
                  <a:pt x="2382" y="1092994"/>
                </a:lnTo>
                <a:lnTo>
                  <a:pt x="0" y="176213"/>
                </a:lnTo>
                <a:lnTo>
                  <a:pt x="40482" y="92869"/>
                </a:lnTo>
                <a:lnTo>
                  <a:pt x="73819" y="64294"/>
                </a:lnTo>
                <a:lnTo>
                  <a:pt x="150019" y="26194"/>
                </a:lnTo>
                <a:lnTo>
                  <a:pt x="200025" y="16669"/>
                </a:lnTo>
                <a:lnTo>
                  <a:pt x="307182" y="0"/>
                </a:lnTo>
                <a:close/>
              </a:path>
            </a:pathLst>
          </a:cu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0" name="Figura a mano libera: forma 19">
            <a:extLst>
              <a:ext uri="{FF2B5EF4-FFF2-40B4-BE49-F238E27FC236}">
                <a16:creationId xmlns:a16="http://schemas.microsoft.com/office/drawing/2014/main" id="{0018EC2E-2A15-38EB-52FD-21AAB677DF63}"/>
              </a:ext>
            </a:extLst>
          </p:cNvPr>
          <p:cNvSpPr/>
          <p:nvPr/>
        </p:nvSpPr>
        <p:spPr>
          <a:xfrm>
            <a:off x="1016000" y="4560887"/>
            <a:ext cx="307182" cy="1285875"/>
          </a:xfrm>
          <a:custGeom>
            <a:avLst/>
            <a:gdLst>
              <a:gd name="csX0" fmla="*/ 307182 w 307182"/>
              <a:gd name="csY0" fmla="*/ 0 h 1285875"/>
              <a:gd name="csX1" fmla="*/ 304800 w 307182"/>
              <a:gd name="csY1" fmla="*/ 1283494 h 1285875"/>
              <a:gd name="csX2" fmla="*/ 171450 w 307182"/>
              <a:gd name="csY2" fmla="*/ 1285875 h 1285875"/>
              <a:gd name="csX3" fmla="*/ 123825 w 307182"/>
              <a:gd name="csY3" fmla="*/ 1264444 h 1285875"/>
              <a:gd name="csX4" fmla="*/ 57150 w 307182"/>
              <a:gd name="csY4" fmla="*/ 1214438 h 1285875"/>
              <a:gd name="csX5" fmla="*/ 11907 w 307182"/>
              <a:gd name="csY5" fmla="*/ 1159669 h 1285875"/>
              <a:gd name="csX6" fmla="*/ 2382 w 307182"/>
              <a:gd name="csY6" fmla="*/ 1092994 h 1285875"/>
              <a:gd name="csX7" fmla="*/ 0 w 307182"/>
              <a:gd name="csY7" fmla="*/ 176213 h 1285875"/>
              <a:gd name="csX8" fmla="*/ 40482 w 307182"/>
              <a:gd name="csY8" fmla="*/ 92869 h 1285875"/>
              <a:gd name="csX9" fmla="*/ 73819 w 307182"/>
              <a:gd name="csY9" fmla="*/ 64294 h 1285875"/>
              <a:gd name="csX10" fmla="*/ 150019 w 307182"/>
              <a:gd name="csY10" fmla="*/ 26194 h 1285875"/>
              <a:gd name="csX11" fmla="*/ 200025 w 307182"/>
              <a:gd name="csY11" fmla="*/ 16669 h 1285875"/>
              <a:gd name="csX12" fmla="*/ 307182 w 307182"/>
              <a:gd name="csY12" fmla="*/ 0 h 12858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07182" h="1285875">
                <a:moveTo>
                  <a:pt x="307182" y="0"/>
                </a:moveTo>
                <a:lnTo>
                  <a:pt x="304800" y="1283494"/>
                </a:lnTo>
                <a:lnTo>
                  <a:pt x="171450" y="1285875"/>
                </a:lnTo>
                <a:lnTo>
                  <a:pt x="123825" y="1264444"/>
                </a:lnTo>
                <a:lnTo>
                  <a:pt x="57150" y="1214438"/>
                </a:lnTo>
                <a:lnTo>
                  <a:pt x="11907" y="1159669"/>
                </a:lnTo>
                <a:lnTo>
                  <a:pt x="2382" y="1092994"/>
                </a:lnTo>
                <a:lnTo>
                  <a:pt x="0" y="176213"/>
                </a:lnTo>
                <a:lnTo>
                  <a:pt x="40482" y="92869"/>
                </a:lnTo>
                <a:lnTo>
                  <a:pt x="73819" y="64294"/>
                </a:lnTo>
                <a:lnTo>
                  <a:pt x="150019" y="26194"/>
                </a:lnTo>
                <a:lnTo>
                  <a:pt x="200025" y="16669"/>
                </a:lnTo>
                <a:lnTo>
                  <a:pt x="307182" y="0"/>
                </a:lnTo>
                <a:close/>
              </a:path>
            </a:pathLst>
          </a:cu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5111192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DA251-F9DA-50E1-4685-40C7C76E0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0F0C8F-12FB-847F-D556-0AD67C8BD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520D17F-ECB2-AF81-7A7F-FD3BAE090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6270764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F8ECA-9B9D-64B0-1211-18647F53D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A141BBD-B013-75F0-9A4E-F723A269F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</p:spPr>
        <p:txBody>
          <a:bodyPr/>
          <a:lstStyle/>
          <a:p>
            <a:r>
              <a:rPr lang="it-IT" dirty="0"/>
              <a:t>Microsoft </a:t>
            </a:r>
            <a:r>
              <a:rPr lang="it-IT" dirty="0" err="1"/>
              <a:t>Foundry</a:t>
            </a:r>
            <a:r>
              <a:rPr lang="it-IT" dirty="0"/>
              <a:t>: 4 </a:t>
            </a:r>
            <a:r>
              <a:rPr lang="it-IT" dirty="0" err="1"/>
              <a:t>Intervention</a:t>
            </a:r>
            <a:r>
              <a:rPr lang="it-IT" dirty="0"/>
              <a:t> Points</a:t>
            </a:r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3E7D0F01-2B11-8EA6-A028-09534D62B9B3}"/>
              </a:ext>
            </a:extLst>
          </p:cNvPr>
          <p:cNvSpPr/>
          <p:nvPr/>
        </p:nvSpPr>
        <p:spPr>
          <a:xfrm>
            <a:off x="673100" y="1651000"/>
            <a:ext cx="2540000" cy="3556000"/>
          </a:xfrm>
          <a:prstGeom prst="roundRect">
            <a:avLst/>
          </a:prstGeom>
          <a:solidFill>
            <a:srgbClr val="F8F8F8"/>
          </a:solidFill>
          <a:ln w="25400" cap="flat" cmpd="sng" algn="ctr">
            <a:solidFill>
              <a:srgbClr val="4488CC"/>
            </a:solidFill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it-IT"/>
          </a:p>
        </p:txBody>
      </p:sp>
      <p:sp>
        <p:nvSpPr>
          <p:cNvPr id="5" name="Ovale 4">
            <a:extLst>
              <a:ext uri="{FF2B5EF4-FFF2-40B4-BE49-F238E27FC236}">
                <a16:creationId xmlns:a16="http://schemas.microsoft.com/office/drawing/2014/main" id="{857F5691-8EB2-0666-6E6F-4D3218FF9CB9}"/>
              </a:ext>
            </a:extLst>
          </p:cNvPr>
          <p:cNvSpPr/>
          <p:nvPr/>
        </p:nvSpPr>
        <p:spPr>
          <a:xfrm>
            <a:off x="1625600" y="1841500"/>
            <a:ext cx="635000" cy="635000"/>
          </a:xfrm>
          <a:prstGeom prst="ellipse">
            <a:avLst/>
          </a:prstGeom>
          <a:solidFill>
            <a:srgbClr val="4488CC"/>
          </a:solidFill>
          <a:ln w="6350" cap="flat" cmpd="sng" algn="ctr">
            <a:noFill/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it-IT" sz="2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485FEF80-6B17-D026-218F-6F4DE87797C1}"/>
              </a:ext>
            </a:extLst>
          </p:cNvPr>
          <p:cNvSpPr txBox="1"/>
          <p:nvPr/>
        </p:nvSpPr>
        <p:spPr>
          <a:xfrm>
            <a:off x="800100" y="2603500"/>
            <a:ext cx="2286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ctr"/>
            <a:r>
              <a:rPr lang="it-IT" b="1">
                <a:solidFill>
                  <a:srgbClr val="333333"/>
                </a:solidFill>
              </a:rPr>
              <a:t>User Input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981EEFE4-31D7-06DB-88A9-E10A06F34FC2}"/>
              </a:ext>
            </a:extLst>
          </p:cNvPr>
          <p:cNvSpPr txBox="1"/>
          <p:nvPr/>
        </p:nvSpPr>
        <p:spPr>
          <a:xfrm>
            <a:off x="800100" y="3111500"/>
            <a:ext cx="2286000" cy="762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ctr"/>
            <a:r>
              <a:rPr lang="it-IT" sz="1500">
                <a:solidFill>
                  <a:srgbClr val="666666"/>
                </a:solidFill>
              </a:rPr>
              <a:t>Il prompt dell'utente</a:t>
            </a:r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7F2C9449-DD6F-E34D-178A-31869A1D0487}"/>
              </a:ext>
            </a:extLst>
          </p:cNvPr>
          <p:cNvSpPr/>
          <p:nvPr/>
        </p:nvSpPr>
        <p:spPr>
          <a:xfrm>
            <a:off x="863600" y="4191000"/>
            <a:ext cx="2159000" cy="381000"/>
          </a:xfrm>
          <a:prstGeom prst="roundRect">
            <a:avLst/>
          </a:prstGeom>
          <a:solidFill>
            <a:srgbClr val="E8F5E9"/>
          </a:solidFill>
          <a:ln w="6350" cap="flat" cmpd="sng" algn="ctr">
            <a:noFill/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/>
            <a:r>
              <a:rPr lang="it-IT" sz="1400">
                <a:solidFill>
                  <a:srgbClr val="00AA55"/>
                </a:solidFill>
              </a:rPr>
              <a:t>Models + Agents</a:t>
            </a:r>
          </a:p>
        </p:txBody>
      </p:sp>
      <p:sp>
        <p:nvSpPr>
          <p:cNvPr id="9" name="Freccia a destra 8">
            <a:extLst>
              <a:ext uri="{FF2B5EF4-FFF2-40B4-BE49-F238E27FC236}">
                <a16:creationId xmlns:a16="http://schemas.microsoft.com/office/drawing/2014/main" id="{F7A08082-67C1-6F1C-6CE7-6DAE2F91E4A9}"/>
              </a:ext>
            </a:extLst>
          </p:cNvPr>
          <p:cNvSpPr/>
          <p:nvPr/>
        </p:nvSpPr>
        <p:spPr>
          <a:xfrm>
            <a:off x="3225800" y="3048000"/>
            <a:ext cx="203200" cy="254000"/>
          </a:xfrm>
          <a:prstGeom prst="rightArrow">
            <a:avLst/>
          </a:prstGeom>
          <a:solidFill>
            <a:srgbClr val="CCCCCC"/>
          </a:solidFill>
          <a:ln w="6350" cap="flat" cmpd="sng" algn="ctr">
            <a:noFill/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it-IT"/>
          </a:p>
        </p:txBody>
      </p:sp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49B24FD3-0BF8-06FB-D66F-CDBF13754C78}"/>
              </a:ext>
            </a:extLst>
          </p:cNvPr>
          <p:cNvSpPr/>
          <p:nvPr/>
        </p:nvSpPr>
        <p:spPr>
          <a:xfrm>
            <a:off x="3441700" y="1651000"/>
            <a:ext cx="2540000" cy="3556000"/>
          </a:xfrm>
          <a:prstGeom prst="roundRect">
            <a:avLst/>
          </a:prstGeom>
          <a:solidFill>
            <a:srgbClr val="F8F8F8"/>
          </a:solidFill>
          <a:ln w="25400" cap="flat" cmpd="sng" algn="ctr">
            <a:solidFill>
              <a:srgbClr val="FF6A00"/>
            </a:solidFill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it-IT"/>
          </a:p>
        </p:txBody>
      </p:sp>
      <p:sp>
        <p:nvSpPr>
          <p:cNvPr id="11" name="Ovale 10">
            <a:extLst>
              <a:ext uri="{FF2B5EF4-FFF2-40B4-BE49-F238E27FC236}">
                <a16:creationId xmlns:a16="http://schemas.microsoft.com/office/drawing/2014/main" id="{C16B36CA-9034-071B-4B99-AD98257C157F}"/>
              </a:ext>
            </a:extLst>
          </p:cNvPr>
          <p:cNvSpPr/>
          <p:nvPr/>
        </p:nvSpPr>
        <p:spPr>
          <a:xfrm>
            <a:off x="4394200" y="1841500"/>
            <a:ext cx="635000" cy="635000"/>
          </a:xfrm>
          <a:prstGeom prst="ellipse">
            <a:avLst/>
          </a:prstGeom>
          <a:solidFill>
            <a:srgbClr val="FF6A00"/>
          </a:solidFill>
          <a:ln w="6350" cap="flat" cmpd="sng" algn="ctr">
            <a:noFill/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it-IT" sz="2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036837EB-AB76-D77C-8F85-E0E840906B0F}"/>
              </a:ext>
            </a:extLst>
          </p:cNvPr>
          <p:cNvSpPr txBox="1"/>
          <p:nvPr/>
        </p:nvSpPr>
        <p:spPr>
          <a:xfrm>
            <a:off x="3568700" y="2603500"/>
            <a:ext cx="2286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ctr"/>
            <a:r>
              <a:rPr lang="it-IT" b="1">
                <a:solidFill>
                  <a:srgbClr val="333333"/>
                </a:solidFill>
              </a:rPr>
              <a:t>Tool Call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AA39F494-2AAE-26B5-E2B2-90AC88D638B7}"/>
              </a:ext>
            </a:extLst>
          </p:cNvPr>
          <p:cNvSpPr txBox="1"/>
          <p:nvPr/>
        </p:nvSpPr>
        <p:spPr>
          <a:xfrm>
            <a:off x="3568700" y="3111500"/>
            <a:ext cx="2286000" cy="762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ctr"/>
            <a:r>
              <a:rPr lang="it-IT" sz="1500">
                <a:solidFill>
                  <a:srgbClr val="666666"/>
                </a:solidFill>
              </a:rPr>
              <a:t>L'azione proposta
dall'agente</a:t>
            </a:r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C3573690-BB9F-3945-BA23-960026D74B93}"/>
              </a:ext>
            </a:extLst>
          </p:cNvPr>
          <p:cNvSpPr/>
          <p:nvPr/>
        </p:nvSpPr>
        <p:spPr>
          <a:xfrm>
            <a:off x="3632200" y="4191000"/>
            <a:ext cx="2159000" cy="381000"/>
          </a:xfrm>
          <a:prstGeom prst="roundRect">
            <a:avLst/>
          </a:prstGeom>
          <a:solidFill>
            <a:srgbClr val="FFF0E0"/>
          </a:solidFill>
          <a:ln w="6350" cap="flat" cmpd="sng" algn="ctr">
            <a:noFill/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/>
            <a:r>
              <a:rPr lang="it-IT" sz="1400">
                <a:solidFill>
                  <a:srgbClr val="FF6A00"/>
                </a:solidFill>
              </a:rPr>
              <a:t>Solo Agents (Preview)</a:t>
            </a:r>
          </a:p>
        </p:txBody>
      </p:sp>
      <p:sp>
        <p:nvSpPr>
          <p:cNvPr id="15" name="Freccia a destra 14">
            <a:extLst>
              <a:ext uri="{FF2B5EF4-FFF2-40B4-BE49-F238E27FC236}">
                <a16:creationId xmlns:a16="http://schemas.microsoft.com/office/drawing/2014/main" id="{D957297C-8252-DB06-D728-454799CC320B}"/>
              </a:ext>
            </a:extLst>
          </p:cNvPr>
          <p:cNvSpPr/>
          <p:nvPr/>
        </p:nvSpPr>
        <p:spPr>
          <a:xfrm>
            <a:off x="5994400" y="3048000"/>
            <a:ext cx="203200" cy="254000"/>
          </a:xfrm>
          <a:prstGeom prst="rightArrow">
            <a:avLst/>
          </a:prstGeom>
          <a:solidFill>
            <a:srgbClr val="CCCCCC"/>
          </a:solidFill>
          <a:ln w="6350" cap="flat" cmpd="sng" algn="ctr">
            <a:noFill/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it-IT"/>
          </a:p>
        </p:txBody>
      </p:sp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C66F658E-B8EA-4D21-93A3-ED3C4FE3A83E}"/>
              </a:ext>
            </a:extLst>
          </p:cNvPr>
          <p:cNvSpPr/>
          <p:nvPr/>
        </p:nvSpPr>
        <p:spPr>
          <a:xfrm>
            <a:off x="6210300" y="1651000"/>
            <a:ext cx="2540000" cy="3556000"/>
          </a:xfrm>
          <a:prstGeom prst="roundRect">
            <a:avLst/>
          </a:prstGeom>
          <a:solidFill>
            <a:srgbClr val="F8F8F8"/>
          </a:solidFill>
          <a:ln w="25400" cap="flat" cmpd="sng" algn="ctr">
            <a:solidFill>
              <a:srgbClr val="FF6A00"/>
            </a:solidFill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it-IT"/>
          </a:p>
        </p:txBody>
      </p:sp>
      <p:sp>
        <p:nvSpPr>
          <p:cNvPr id="17" name="Ovale 16">
            <a:extLst>
              <a:ext uri="{FF2B5EF4-FFF2-40B4-BE49-F238E27FC236}">
                <a16:creationId xmlns:a16="http://schemas.microsoft.com/office/drawing/2014/main" id="{55C15ED8-4454-AB21-CB89-FE933DD25AD7}"/>
              </a:ext>
            </a:extLst>
          </p:cNvPr>
          <p:cNvSpPr/>
          <p:nvPr/>
        </p:nvSpPr>
        <p:spPr>
          <a:xfrm>
            <a:off x="7162800" y="1841500"/>
            <a:ext cx="635000" cy="635000"/>
          </a:xfrm>
          <a:prstGeom prst="ellipse">
            <a:avLst/>
          </a:prstGeom>
          <a:solidFill>
            <a:srgbClr val="FF6A00"/>
          </a:solidFill>
          <a:ln w="6350" cap="flat" cmpd="sng" algn="ctr">
            <a:noFill/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it-IT" sz="2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7E3B51C2-D0D3-9483-9DB7-7FB2DFA890E3}"/>
              </a:ext>
            </a:extLst>
          </p:cNvPr>
          <p:cNvSpPr txBox="1"/>
          <p:nvPr/>
        </p:nvSpPr>
        <p:spPr>
          <a:xfrm>
            <a:off x="6337300" y="2603500"/>
            <a:ext cx="2286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ctr"/>
            <a:r>
              <a:rPr lang="it-IT" b="1">
                <a:solidFill>
                  <a:srgbClr val="333333"/>
                </a:solidFill>
              </a:rPr>
              <a:t>Tool Response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0B03E124-B056-D7AD-3BED-FAB0F38592BF}"/>
              </a:ext>
            </a:extLst>
          </p:cNvPr>
          <p:cNvSpPr txBox="1"/>
          <p:nvPr/>
        </p:nvSpPr>
        <p:spPr>
          <a:xfrm>
            <a:off x="6337300" y="3111500"/>
            <a:ext cx="2286000" cy="762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ctr"/>
            <a:r>
              <a:rPr lang="it-IT" sz="1500">
                <a:solidFill>
                  <a:srgbClr val="666666"/>
                </a:solidFill>
              </a:rPr>
              <a:t>I dati restituiti
dal tool</a:t>
            </a:r>
          </a:p>
        </p:txBody>
      </p:sp>
      <p:sp>
        <p:nvSpPr>
          <p:cNvPr id="20" name="Rettangolo con angoli arrotondati 19">
            <a:extLst>
              <a:ext uri="{FF2B5EF4-FFF2-40B4-BE49-F238E27FC236}">
                <a16:creationId xmlns:a16="http://schemas.microsoft.com/office/drawing/2014/main" id="{2866798B-4D6A-4E2F-82C2-ED48AD44E6E5}"/>
              </a:ext>
            </a:extLst>
          </p:cNvPr>
          <p:cNvSpPr/>
          <p:nvPr/>
        </p:nvSpPr>
        <p:spPr>
          <a:xfrm>
            <a:off x="6400800" y="4191000"/>
            <a:ext cx="2159000" cy="381000"/>
          </a:xfrm>
          <a:prstGeom prst="roundRect">
            <a:avLst/>
          </a:prstGeom>
          <a:solidFill>
            <a:srgbClr val="FFF0E0"/>
          </a:solidFill>
          <a:ln w="6350" cap="flat" cmpd="sng" algn="ctr">
            <a:noFill/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/>
            <a:r>
              <a:rPr lang="it-IT" sz="1400">
                <a:solidFill>
                  <a:srgbClr val="FF6A00"/>
                </a:solidFill>
              </a:rPr>
              <a:t>Solo Agents (Preview)</a:t>
            </a:r>
          </a:p>
        </p:txBody>
      </p:sp>
      <p:sp>
        <p:nvSpPr>
          <p:cNvPr id="21" name="Freccia a destra 20">
            <a:extLst>
              <a:ext uri="{FF2B5EF4-FFF2-40B4-BE49-F238E27FC236}">
                <a16:creationId xmlns:a16="http://schemas.microsoft.com/office/drawing/2014/main" id="{8CFC5805-A4C1-0FA3-25A9-6ACCE897C6C9}"/>
              </a:ext>
            </a:extLst>
          </p:cNvPr>
          <p:cNvSpPr/>
          <p:nvPr/>
        </p:nvSpPr>
        <p:spPr>
          <a:xfrm>
            <a:off x="8763000" y="3048000"/>
            <a:ext cx="203200" cy="254000"/>
          </a:xfrm>
          <a:prstGeom prst="rightArrow">
            <a:avLst/>
          </a:prstGeom>
          <a:solidFill>
            <a:srgbClr val="CCCCCC"/>
          </a:solidFill>
          <a:ln w="6350" cap="flat" cmpd="sng" algn="ctr">
            <a:noFill/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it-IT"/>
          </a:p>
        </p:txBody>
      </p:sp>
      <p:sp>
        <p:nvSpPr>
          <p:cNvPr id="22" name="Rettangolo con angoli arrotondati 21">
            <a:extLst>
              <a:ext uri="{FF2B5EF4-FFF2-40B4-BE49-F238E27FC236}">
                <a16:creationId xmlns:a16="http://schemas.microsoft.com/office/drawing/2014/main" id="{63E34F10-C053-C3DE-D6CF-2A6F79BD605D}"/>
              </a:ext>
            </a:extLst>
          </p:cNvPr>
          <p:cNvSpPr/>
          <p:nvPr/>
        </p:nvSpPr>
        <p:spPr>
          <a:xfrm>
            <a:off x="8978900" y="1651000"/>
            <a:ext cx="2540000" cy="3556000"/>
          </a:xfrm>
          <a:prstGeom prst="roundRect">
            <a:avLst/>
          </a:prstGeom>
          <a:solidFill>
            <a:srgbClr val="F8F8F8"/>
          </a:solidFill>
          <a:ln w="25400" cap="flat" cmpd="sng" algn="ctr">
            <a:solidFill>
              <a:srgbClr val="00AA55"/>
            </a:solidFill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it-IT"/>
          </a:p>
        </p:txBody>
      </p:sp>
      <p:sp>
        <p:nvSpPr>
          <p:cNvPr id="23" name="Ovale 22">
            <a:extLst>
              <a:ext uri="{FF2B5EF4-FFF2-40B4-BE49-F238E27FC236}">
                <a16:creationId xmlns:a16="http://schemas.microsoft.com/office/drawing/2014/main" id="{DA141545-EC1C-5494-AD2B-EFC7E1826B4A}"/>
              </a:ext>
            </a:extLst>
          </p:cNvPr>
          <p:cNvSpPr/>
          <p:nvPr/>
        </p:nvSpPr>
        <p:spPr>
          <a:xfrm>
            <a:off x="9931400" y="1841500"/>
            <a:ext cx="635000" cy="635000"/>
          </a:xfrm>
          <a:prstGeom prst="ellipse">
            <a:avLst/>
          </a:prstGeom>
          <a:solidFill>
            <a:srgbClr val="00AA55"/>
          </a:solidFill>
          <a:ln w="6350" cap="flat" cmpd="sng" algn="ctr">
            <a:noFill/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it-IT" sz="2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4E8170B1-42CE-9FAE-9AB7-DFEC93541C8D}"/>
              </a:ext>
            </a:extLst>
          </p:cNvPr>
          <p:cNvSpPr txBox="1"/>
          <p:nvPr/>
        </p:nvSpPr>
        <p:spPr>
          <a:xfrm>
            <a:off x="9105900" y="2603500"/>
            <a:ext cx="2286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ctr"/>
            <a:r>
              <a:rPr lang="it-IT" b="1">
                <a:solidFill>
                  <a:srgbClr val="333333"/>
                </a:solidFill>
              </a:rPr>
              <a:t>Output</a:t>
            </a: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93580E50-E61E-0402-7B3F-524738CEDCEE}"/>
              </a:ext>
            </a:extLst>
          </p:cNvPr>
          <p:cNvSpPr txBox="1"/>
          <p:nvPr/>
        </p:nvSpPr>
        <p:spPr>
          <a:xfrm>
            <a:off x="9105900" y="3111500"/>
            <a:ext cx="2286000" cy="762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ctr"/>
            <a:r>
              <a:rPr lang="it-IT" sz="1500">
                <a:solidFill>
                  <a:srgbClr val="666666"/>
                </a:solidFill>
              </a:rPr>
              <a:t>La risposta finale
all'utente</a:t>
            </a:r>
          </a:p>
        </p:txBody>
      </p:sp>
      <p:sp>
        <p:nvSpPr>
          <p:cNvPr id="26" name="Rettangolo con angoli arrotondati 25">
            <a:extLst>
              <a:ext uri="{FF2B5EF4-FFF2-40B4-BE49-F238E27FC236}">
                <a16:creationId xmlns:a16="http://schemas.microsoft.com/office/drawing/2014/main" id="{376A66E4-A7B5-0D13-0F84-6EF2DDADA449}"/>
              </a:ext>
            </a:extLst>
          </p:cNvPr>
          <p:cNvSpPr/>
          <p:nvPr/>
        </p:nvSpPr>
        <p:spPr>
          <a:xfrm>
            <a:off x="9169400" y="4191000"/>
            <a:ext cx="2159000" cy="381000"/>
          </a:xfrm>
          <a:prstGeom prst="roundRect">
            <a:avLst/>
          </a:prstGeom>
          <a:solidFill>
            <a:srgbClr val="E8F5E9"/>
          </a:solidFill>
          <a:ln w="6350" cap="flat" cmpd="sng" algn="ctr">
            <a:noFill/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/>
            <a:r>
              <a:rPr lang="it-IT" sz="1400">
                <a:solidFill>
                  <a:srgbClr val="00AA55"/>
                </a:solidFill>
              </a:rPr>
              <a:t>Models + Agents</a:t>
            </a:r>
          </a:p>
        </p:txBody>
      </p:sp>
      <p:sp>
        <p:nvSpPr>
          <p:cNvPr id="27" name="Rettangolo con angoli arrotondati 26">
            <a:extLst>
              <a:ext uri="{FF2B5EF4-FFF2-40B4-BE49-F238E27FC236}">
                <a16:creationId xmlns:a16="http://schemas.microsoft.com/office/drawing/2014/main" id="{2DABE1B7-EC8C-5DBC-FCC2-A90E8F9BAC46}"/>
              </a:ext>
            </a:extLst>
          </p:cNvPr>
          <p:cNvSpPr/>
          <p:nvPr/>
        </p:nvSpPr>
        <p:spPr>
          <a:xfrm>
            <a:off x="1016000" y="5588000"/>
            <a:ext cx="10160000" cy="635000"/>
          </a:xfrm>
          <a:prstGeom prst="roundRect">
            <a:avLst/>
          </a:prstGeom>
          <a:solidFill>
            <a:srgbClr val="FFF8F0"/>
          </a:solidFill>
          <a:ln w="12700" cap="flat" cmpd="sng" algn="ctr">
            <a:solidFill>
              <a:srgbClr val="FF6A00"/>
            </a:solidFill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/>
            <a:r>
              <a:rPr lang="it-IT" b="1" dirty="0">
                <a:solidFill>
                  <a:srgbClr val="333333"/>
                </a:solidFill>
              </a:rPr>
              <a:t>NB: ogni </a:t>
            </a:r>
            <a:r>
              <a:rPr lang="it-IT" b="1" dirty="0" err="1">
                <a:solidFill>
                  <a:srgbClr val="333333"/>
                </a:solidFill>
              </a:rPr>
              <a:t>intervention</a:t>
            </a:r>
            <a:r>
              <a:rPr lang="it-IT" b="1" dirty="0">
                <a:solidFill>
                  <a:srgbClr val="333333"/>
                </a:solidFill>
              </a:rPr>
              <a:t> point aggiunge 50-100 </a:t>
            </a:r>
            <a:r>
              <a:rPr lang="it-IT" b="1" dirty="0" err="1">
                <a:solidFill>
                  <a:srgbClr val="333333"/>
                </a:solidFill>
              </a:rPr>
              <a:t>ms</a:t>
            </a:r>
            <a:endParaRPr lang="it-IT" b="1" dirty="0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691686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3A9D0-54E8-2850-8FD1-FC5F5DAAD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92CF760-3784-6000-BBD2-DFADC902D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981201C-3F56-1C65-E852-C878853F4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2022710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CD933-162A-D70C-F52E-6B77F45B7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D5E5176-D1F3-61A0-A3E1-8D21D7FA1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229" y="4603296"/>
            <a:ext cx="7522028" cy="1325563"/>
          </a:xfrm>
        </p:spPr>
        <p:txBody>
          <a:bodyPr/>
          <a:lstStyle/>
          <a:p>
            <a:r>
              <a:rPr lang="it-IT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277335983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2E1D1-2AB5-88AD-7212-40A8C5C39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384C6C-7A53-BD43-120A-79511041A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5D41837-16B5-93C3-233B-83C0ADB28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7174880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70144F9-99A5-D396-92EE-3A04F45A6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Punti di contatto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22538C6-C722-8638-5CFC-3BB5DDB2F1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it-IT" dirty="0"/>
              <a:t>Integrazione con Microsoft </a:t>
            </a:r>
            <a:r>
              <a:rPr lang="it-IT" dirty="0" err="1"/>
              <a:t>Foundry</a:t>
            </a:r>
            <a:endParaRPr lang="it-IT" dirty="0"/>
          </a:p>
          <a:p>
            <a:pPr lvl="1"/>
            <a:r>
              <a:rPr lang="it-IT" dirty="0"/>
              <a:t>Modelli</a:t>
            </a:r>
          </a:p>
          <a:p>
            <a:pPr lvl="1"/>
            <a:r>
              <a:rPr lang="it-IT" dirty="0"/>
              <a:t>Guardrails</a:t>
            </a:r>
          </a:p>
          <a:p>
            <a:pPr lvl="1"/>
            <a:r>
              <a:rPr lang="it-IT" dirty="0" err="1"/>
              <a:t>Hosted</a:t>
            </a:r>
            <a:r>
              <a:rPr lang="it-IT" dirty="0"/>
              <a:t> Agents -&gt; M365</a:t>
            </a:r>
          </a:p>
          <a:p>
            <a:endParaRPr lang="it-IT" dirty="0"/>
          </a:p>
          <a:p>
            <a:r>
              <a:rPr lang="it-IT" dirty="0"/>
              <a:t>Integrazione con Microsoft Entra Agent ID</a:t>
            </a:r>
          </a:p>
          <a:p>
            <a:endParaRPr lang="it-IT" dirty="0"/>
          </a:p>
          <a:p>
            <a:r>
              <a:rPr lang="it-IT" dirty="0"/>
              <a:t>Integrazione con Microsoft Agent </a:t>
            </a:r>
            <a:r>
              <a:rPr lang="it-IT" dirty="0" err="1"/>
              <a:t>Goverance</a:t>
            </a:r>
            <a:r>
              <a:rPr lang="it-IT" dirty="0"/>
              <a:t> Toolkit</a:t>
            </a:r>
          </a:p>
          <a:p>
            <a:pPr lvl="1"/>
            <a:endParaRPr lang="it-IT" dirty="0"/>
          </a:p>
          <a:p>
            <a:r>
              <a:rPr lang="it-IT" dirty="0"/>
              <a:t>Integrazione con </a:t>
            </a:r>
            <a:r>
              <a:rPr lang="it-IT" dirty="0" err="1"/>
              <a:t>Purview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0825592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42C2F5E-65DC-6642-B06F-D084DA1E6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88DC1A7-F733-B9C8-E367-2AF4A1354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4317327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B6EF035-511C-D0D2-9FA1-C97586D23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Takeaways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92F9296-7347-C73A-2CC9-CC1D957AB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it-IT" dirty="0"/>
              <a:t>Sperimentare</a:t>
            </a:r>
          </a:p>
          <a:p>
            <a:endParaRPr lang="it-IT" dirty="0"/>
          </a:p>
          <a:p>
            <a:r>
              <a:rPr lang="it-IT" dirty="0"/>
              <a:t>Non c’è sempre bisogno dell’AI</a:t>
            </a:r>
          </a:p>
          <a:p>
            <a:endParaRPr lang="it-IT" dirty="0"/>
          </a:p>
          <a:p>
            <a:r>
              <a:rPr lang="it-IT" dirty="0"/>
              <a:t>Capire i flussi di business</a:t>
            </a:r>
          </a:p>
          <a:p>
            <a:endParaRPr lang="it-IT" dirty="0"/>
          </a:p>
          <a:p>
            <a:r>
              <a:rPr lang="it-IT" dirty="0"/>
              <a:t>Rendere tutto osservabile</a:t>
            </a:r>
          </a:p>
          <a:p>
            <a:endParaRPr lang="it-IT" dirty="0"/>
          </a:p>
          <a:p>
            <a:r>
              <a:rPr lang="it-IT" dirty="0"/>
              <a:t>POC != Produzione</a:t>
            </a:r>
          </a:p>
        </p:txBody>
      </p:sp>
    </p:spTree>
    <p:extLst>
      <p:ext uri="{BB962C8B-B14F-4D97-AF65-F5344CB8AC3E}">
        <p14:creationId xmlns:p14="http://schemas.microsoft.com/office/powerpoint/2010/main" val="284976421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3EA039-C5AE-AB26-BF49-72D770EC8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17316EC-3208-AEAE-F20D-08DBCF7FD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1067564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8E04D78-B6BE-FE17-3BF8-13D22491F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About &amp; </a:t>
            </a:r>
            <a:r>
              <a:rPr lang="it-IT" dirty="0" err="1"/>
              <a:t>Resources</a:t>
            </a:r>
            <a:endParaRPr lang="it-IT" dirty="0"/>
          </a:p>
        </p:txBody>
      </p:sp>
      <p:sp>
        <p:nvSpPr>
          <p:cNvPr id="27" name="Segnaposto testo 3">
            <a:extLst>
              <a:ext uri="{FF2B5EF4-FFF2-40B4-BE49-F238E27FC236}">
                <a16:creationId xmlns:a16="http://schemas.microsoft.com/office/drawing/2014/main" id="{4CD5EE21-0D0F-7F28-F62F-EEA560186A53}"/>
              </a:ext>
            </a:extLst>
          </p:cNvPr>
          <p:cNvSpPr txBox="1">
            <a:spLocks/>
          </p:cNvSpPr>
          <p:nvPr/>
        </p:nvSpPr>
        <p:spPr>
          <a:xfrm>
            <a:off x="1276459" y="2072259"/>
            <a:ext cx="4888982" cy="381158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it-IT" sz="2400" dirty="0">
              <a:solidFill>
                <a:srgbClr val="665649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it-IT" sz="2400" dirty="0">
                <a:solidFill>
                  <a:srgbClr val="665649"/>
                </a:solidFill>
              </a:rPr>
              <a:t>  amengoli9/talks/</a:t>
            </a:r>
          </a:p>
          <a:p>
            <a:pPr marL="0" indent="0">
              <a:lnSpc>
                <a:spcPct val="100000"/>
              </a:lnSpc>
              <a:buNone/>
            </a:pPr>
            <a:endParaRPr lang="it-IT" sz="2400" dirty="0">
              <a:solidFill>
                <a:srgbClr val="665649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it-IT" sz="2400" dirty="0">
                <a:solidFill>
                  <a:srgbClr val="665649"/>
                </a:solidFill>
              </a:rPr>
              <a:t>  devpills.net</a:t>
            </a:r>
          </a:p>
          <a:p>
            <a:pPr marL="0" indent="0">
              <a:lnSpc>
                <a:spcPct val="100000"/>
              </a:lnSpc>
              <a:buNone/>
            </a:pPr>
            <a:endParaRPr lang="it-IT" sz="2400" dirty="0">
              <a:solidFill>
                <a:srgbClr val="665649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it-IT" sz="2400" dirty="0">
                <a:solidFill>
                  <a:srgbClr val="665649"/>
                </a:solidFill>
              </a:rPr>
              <a:t>  devromagna.org</a:t>
            </a:r>
          </a:p>
          <a:p>
            <a:endParaRPr lang="it-IT" sz="2400" dirty="0">
              <a:solidFill>
                <a:srgbClr val="665649"/>
              </a:solidFill>
            </a:endParaRPr>
          </a:p>
        </p:txBody>
      </p:sp>
      <p:sp>
        <p:nvSpPr>
          <p:cNvPr id="28" name="Ovale 27">
            <a:extLst>
              <a:ext uri="{FF2B5EF4-FFF2-40B4-BE49-F238E27FC236}">
                <a16:creationId xmlns:a16="http://schemas.microsoft.com/office/drawing/2014/main" id="{D496A281-A673-BFE6-87A6-1DC32944CF30}"/>
              </a:ext>
            </a:extLst>
          </p:cNvPr>
          <p:cNvSpPr>
            <a:spLocks/>
          </p:cNvSpPr>
          <p:nvPr/>
        </p:nvSpPr>
        <p:spPr>
          <a:xfrm>
            <a:off x="924360" y="4581196"/>
            <a:ext cx="413813" cy="413813"/>
          </a:xfrm>
          <a:prstGeom prst="ellipse">
            <a:avLst/>
          </a:prstGeom>
          <a:solidFill>
            <a:srgbClr val="C33C6E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9" name="Immagine 28" descr="Immagine che contiene nero, oscurità&#10;&#10;Descrizione generata automaticamente">
            <a:hlinkClick r:id="rId2"/>
            <a:extLst>
              <a:ext uri="{FF2B5EF4-FFF2-40B4-BE49-F238E27FC236}">
                <a16:creationId xmlns:a16="http://schemas.microsoft.com/office/drawing/2014/main" id="{C9E25C9D-10A7-6DBB-FDF7-6BEA14C8CDD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alphaModFix amt="98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100000"/>
                    </a14:imgEffect>
                    <a14:imgEffect>
                      <a14:colorTemperature colorTemp="1500"/>
                    </a14:imgEffect>
                    <a14:imgEffect>
                      <a14:saturation sat="2000"/>
                    </a14:imgEffect>
                    <a14:imgEffect>
                      <a14:brightnessContrast bright="95000" contrast="100000"/>
                    </a14:imgEffect>
                  </a14:imgLayer>
                </a14:imgProps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921189" y="2587733"/>
            <a:ext cx="413813" cy="413813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30" name="Immagine 29" descr="Immagine che contiene testo, Elementi grafici, Carattere, schermata&#10;&#10;Descrizione generata automaticamente">
            <a:extLst>
              <a:ext uri="{FF2B5EF4-FFF2-40B4-BE49-F238E27FC236}">
                <a16:creationId xmlns:a16="http://schemas.microsoft.com/office/drawing/2014/main" id="{8FF01301-31AD-D367-126C-D9B9900D7DF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5173" t="22838" r="17525" b="19659"/>
          <a:stretch/>
        </p:blipFill>
        <p:spPr>
          <a:xfrm>
            <a:off x="992189" y="4666904"/>
            <a:ext cx="284270" cy="242396"/>
          </a:xfrm>
          <a:prstGeom prst="rect">
            <a:avLst/>
          </a:prstGeom>
        </p:spPr>
      </p:pic>
      <p:sp>
        <p:nvSpPr>
          <p:cNvPr id="31" name="Ovale 30">
            <a:extLst>
              <a:ext uri="{FF2B5EF4-FFF2-40B4-BE49-F238E27FC236}">
                <a16:creationId xmlns:a16="http://schemas.microsoft.com/office/drawing/2014/main" id="{1D615D84-89F2-F27A-C85C-D97E498DD40D}"/>
              </a:ext>
            </a:extLst>
          </p:cNvPr>
          <p:cNvSpPr>
            <a:spLocks/>
          </p:cNvSpPr>
          <p:nvPr/>
        </p:nvSpPr>
        <p:spPr>
          <a:xfrm>
            <a:off x="921624" y="3582412"/>
            <a:ext cx="413813" cy="41381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32" name="Elemento grafico 31" descr="Internet con riempimento a tinta unita">
            <a:extLst>
              <a:ext uri="{FF2B5EF4-FFF2-40B4-BE49-F238E27FC236}">
                <a16:creationId xmlns:a16="http://schemas.microsoft.com/office/drawing/2014/main" id="{695EB24A-418C-E1F3-1637-0DD12322EE65}"/>
              </a:ext>
            </a:extLst>
          </p:cNvPr>
          <p:cNvPicPr>
            <a:picLocks noChangeAspect="1"/>
          </p:cNvPicPr>
          <p:nvPr/>
        </p:nvPicPr>
        <p:blipFill>
          <a:blip>
            <a:duotone>
              <a:prstClr val="black"/>
              <a:schemeClr val="tx1">
                <a:tint val="45000"/>
                <a:satMod val="400000"/>
              </a:schemeClr>
            </a:duotone>
            <a:lum bright="-100000"/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8446" y="3618950"/>
            <a:ext cx="359103" cy="359103"/>
          </a:xfrm>
          <a:prstGeom prst="rect">
            <a:avLst/>
          </a:prstGeom>
        </p:spPr>
      </p:pic>
      <p:pic>
        <p:nvPicPr>
          <p:cNvPr id="34" name="Immagine 33" descr="Immagine che contiene Elementi grafici, schermata, Carattere, cerchio&#10;&#10;Descrizione generata automaticamente">
            <a:extLst>
              <a:ext uri="{FF2B5EF4-FFF2-40B4-BE49-F238E27FC236}">
                <a16:creationId xmlns:a16="http://schemas.microsoft.com/office/drawing/2014/main" id="{FBB81C0A-9F41-AE1B-2B5E-D579EA4BBF5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49870" y="1897961"/>
            <a:ext cx="2511819" cy="2511819"/>
          </a:xfrm>
          <a:prstGeom prst="rect">
            <a:avLst/>
          </a:prstGeom>
        </p:spPr>
      </p:pic>
      <p:sp>
        <p:nvSpPr>
          <p:cNvPr id="35" name="Segnaposto testo 2">
            <a:extLst>
              <a:ext uri="{FF2B5EF4-FFF2-40B4-BE49-F238E27FC236}">
                <a16:creationId xmlns:a16="http://schemas.microsoft.com/office/drawing/2014/main" id="{21297097-9A95-8D55-CDA6-AD6FB5E234D2}"/>
              </a:ext>
            </a:extLst>
          </p:cNvPr>
          <p:cNvSpPr txBox="1">
            <a:spLocks/>
          </p:cNvSpPr>
          <p:nvPr/>
        </p:nvSpPr>
        <p:spPr>
          <a:xfrm>
            <a:off x="5426051" y="1352505"/>
            <a:ext cx="6172200" cy="487362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0" indent="0" algn="ctr">
              <a:buFont typeface="Arial" panose="020B0604020202020204" pitchFamily="34" charset="0"/>
              <a:buNone/>
            </a:pPr>
            <a:endParaRPr lang="it-IT" sz="3600" dirty="0">
              <a:solidFill>
                <a:srgbClr val="665649"/>
              </a:solidFill>
            </a:endParaRPr>
          </a:p>
          <a:p>
            <a:pPr marL="25400" indent="0" algn="ctr">
              <a:buFont typeface="Arial" panose="020B0604020202020204" pitchFamily="34" charset="0"/>
              <a:buNone/>
            </a:pPr>
            <a:endParaRPr lang="it-IT" sz="3600" dirty="0">
              <a:solidFill>
                <a:srgbClr val="665649"/>
              </a:solidFill>
            </a:endParaRPr>
          </a:p>
          <a:p>
            <a:pPr marL="25400" indent="0" algn="ctr">
              <a:buFont typeface="Arial" panose="020B0604020202020204" pitchFamily="34" charset="0"/>
              <a:buNone/>
            </a:pPr>
            <a:endParaRPr lang="it-IT" sz="3600" dirty="0">
              <a:solidFill>
                <a:srgbClr val="665649"/>
              </a:solidFill>
            </a:endParaRPr>
          </a:p>
          <a:p>
            <a:pPr marL="25400" indent="0" algn="ctr">
              <a:buFont typeface="Arial" panose="020B0604020202020204" pitchFamily="34" charset="0"/>
              <a:buNone/>
            </a:pPr>
            <a:endParaRPr lang="it-IT" sz="3600" dirty="0">
              <a:solidFill>
                <a:srgbClr val="665649"/>
              </a:solidFill>
            </a:endParaRPr>
          </a:p>
          <a:p>
            <a:pPr marL="25400" indent="0" algn="ctr">
              <a:buFont typeface="Arial" panose="020B0604020202020204" pitchFamily="34" charset="0"/>
              <a:buNone/>
            </a:pPr>
            <a:endParaRPr lang="it-IT" sz="3600" dirty="0">
              <a:solidFill>
                <a:srgbClr val="665649"/>
              </a:solidFill>
            </a:endParaRPr>
          </a:p>
          <a:p>
            <a:pPr marL="25400" indent="0" algn="ctr">
              <a:buFont typeface="Arial" panose="020B0604020202020204" pitchFamily="34" charset="0"/>
              <a:buNone/>
            </a:pPr>
            <a:r>
              <a:rPr lang="it-IT" sz="3600" dirty="0">
                <a:solidFill>
                  <a:srgbClr val="665649"/>
                </a:solidFill>
              </a:rPr>
              <a:t>Alessandro Mengoli</a:t>
            </a:r>
          </a:p>
          <a:p>
            <a:pPr marL="25400" indent="0" algn="ctr">
              <a:buFont typeface="Arial" panose="020B0604020202020204" pitchFamily="34" charset="0"/>
              <a:buNone/>
            </a:pPr>
            <a:r>
              <a:rPr lang="it-IT" sz="2400" dirty="0">
                <a:solidFill>
                  <a:srgbClr val="665649"/>
                </a:solidFill>
              </a:rPr>
              <a:t>Technical Leader @ SACMI</a:t>
            </a:r>
          </a:p>
          <a:p>
            <a:pPr marL="25400" indent="0">
              <a:buFont typeface="Arial" panose="020B0604020202020204" pitchFamily="34" charset="0"/>
              <a:buNone/>
            </a:pPr>
            <a:endParaRPr lang="it-IT" sz="3600" dirty="0">
              <a:solidFill>
                <a:srgbClr val="66564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683775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25EFE-6455-373D-B746-816789B03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99C1FC2-E7FE-8D06-D7D3-D12163D62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FEB4F27-276E-B3AE-8DFE-8E757CC4BD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3859439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8E6DD-42E5-59FC-2AC5-DE2AF51FA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F69A6-A378-D529-10F1-E38901FA1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 the AI Conversation </a:t>
            </a:r>
            <a:br>
              <a:rPr lang="en-US" dirty="0"/>
            </a:br>
            <a:r>
              <a:rPr lang="en-US" dirty="0"/>
              <a:t>on Discord</a:t>
            </a:r>
          </a:p>
        </p:txBody>
      </p:sp>
      <p:pic>
        <p:nvPicPr>
          <p:cNvPr id="4" name="Picture 3" descr="A qr code with circles and circles&#10;&#10;AI-generated content may be incorrect.">
            <a:extLst>
              <a:ext uri="{FF2B5EF4-FFF2-40B4-BE49-F238E27FC236}">
                <a16:creationId xmlns:a16="http://schemas.microsoft.com/office/drawing/2014/main" id="{E69C2C68-311F-453C-1A03-C7FCAA5168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8514" y="1720645"/>
            <a:ext cx="3774972" cy="3774972"/>
          </a:xfrm>
          <a:prstGeom prst="roundRect">
            <a:avLst>
              <a:gd name="adj" fmla="val 5932"/>
            </a:avLst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9A40390-42EC-3EEF-EA89-CA0C4530790D}"/>
              </a:ext>
            </a:extLst>
          </p:cNvPr>
          <p:cNvSpPr txBox="1"/>
          <p:nvPr/>
        </p:nvSpPr>
        <p:spPr>
          <a:xfrm>
            <a:off x="3805084" y="5690109"/>
            <a:ext cx="493548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665649"/>
                </a:solidFill>
                <a:latin typeface="Lufga" panose="00000500000000000000" pitchFamily="50" charset="0"/>
              </a:rPr>
              <a:t>gaic.io/discord</a:t>
            </a:r>
          </a:p>
        </p:txBody>
      </p:sp>
    </p:spTree>
    <p:extLst>
      <p:ext uri="{BB962C8B-B14F-4D97-AF65-F5344CB8AC3E}">
        <p14:creationId xmlns:p14="http://schemas.microsoft.com/office/powerpoint/2010/main" val="3645436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881</TotalTime>
  <Words>1450</Words>
  <Application>Microsoft Office PowerPoint</Application>
  <PresentationFormat>Widescreen</PresentationFormat>
  <Paragraphs>304</Paragraphs>
  <Slides>71</Slides>
  <Notes>11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71</vt:i4>
      </vt:variant>
    </vt:vector>
  </HeadingPairs>
  <TitlesOfParts>
    <vt:vector size="78" baseType="lpstr">
      <vt:lpstr>Arial</vt:lpstr>
      <vt:lpstr>Aptos</vt:lpstr>
      <vt:lpstr>Lufga</vt:lpstr>
      <vt:lpstr>Calibri</vt:lpstr>
      <vt:lpstr>Segoe UI Semibold</vt:lpstr>
      <vt:lpstr>Monospac821 BT</vt:lpstr>
      <vt:lpstr>Office Theme</vt:lpstr>
      <vt:lpstr>Presentazione standard di PowerPoint</vt:lpstr>
      <vt:lpstr>Presentazione standard di PowerPoint</vt:lpstr>
      <vt:lpstr>Made Possible by</vt:lpstr>
      <vt:lpstr>Presentazione standard di PowerPoint</vt:lpstr>
      <vt:lpstr>Presentazione standard di PowerPoint</vt:lpstr>
      <vt:lpstr>“If you can write a function to handle the task, do that instead of using an AI agent.” 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Da dove partiamo?</vt:lpstr>
      <vt:lpstr>Presentazione standard di PowerPoint</vt:lpstr>
      <vt:lpstr>Cosa possiamo fare in .NET? 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Quando usare IChatClient?</vt:lpstr>
      <vt:lpstr>Presentazione standard di PowerPoint</vt:lpstr>
      <vt:lpstr>Microsoft Agent Framework</vt:lpstr>
      <vt:lpstr>Presentazione standard di PowerPoint</vt:lpstr>
      <vt:lpstr>MAF – Modalità Agent</vt:lpstr>
      <vt:lpstr>Esempio: agente in Microsoft Agent Framework </vt:lpstr>
      <vt:lpstr>Presentazione standard di PowerPoint</vt:lpstr>
      <vt:lpstr>Tool 1: cerca i voli</vt:lpstr>
      <vt:lpstr>Tool 2: email cliente</vt:lpstr>
      <vt:lpstr>Tool 3: prenota i voli</vt:lpstr>
      <vt:lpstr>Dare tool ad agente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MAF – Modalità Workflow</vt:lpstr>
      <vt:lpstr>Workflows</vt:lpstr>
      <vt:lpstr>Presentazione standard di PowerPoint</vt:lpstr>
      <vt:lpstr>Presentazione standard di PowerPoint</vt:lpstr>
      <vt:lpstr>Presentazione standard di PowerPoint</vt:lpstr>
      <vt:lpstr>Building blocks</vt:lpstr>
      <vt:lpstr>Presentazione standard di PowerPoint</vt:lpstr>
      <vt:lpstr>Presentazione standard di PowerPoint</vt:lpstr>
      <vt:lpstr>Sequential</vt:lpstr>
      <vt:lpstr>Concurrent</vt:lpstr>
      <vt:lpstr>GroupChat</vt:lpstr>
      <vt:lpstr>Handoff</vt:lpstr>
      <vt:lpstr>Presentazione standard di PowerPoint</vt:lpstr>
      <vt:lpstr>Presentazione standard di PowerPoint</vt:lpstr>
      <vt:lpstr>Presentazione standard di PowerPoint</vt:lpstr>
      <vt:lpstr>DEMO</vt:lpstr>
      <vt:lpstr>Presentazione standard di PowerPoint</vt:lpstr>
      <vt:lpstr>I 3 tipi di Middleware</vt:lpstr>
      <vt:lpstr>Guardrail Middleware: pre/post validation</vt:lpstr>
      <vt:lpstr>Function Calling Middleware</vt:lpstr>
      <vt:lpstr>3 Approval Modes</vt:lpstr>
      <vt:lpstr>Presentazione standard di PowerPoint</vt:lpstr>
      <vt:lpstr>Microsoft Foundry: 4 Intervention Points</vt:lpstr>
      <vt:lpstr>Presentazione standard di PowerPoint</vt:lpstr>
      <vt:lpstr>DEMO</vt:lpstr>
      <vt:lpstr>Presentazione standard di PowerPoint</vt:lpstr>
      <vt:lpstr>Punti di contatto</vt:lpstr>
      <vt:lpstr>Presentazione standard di PowerPoint</vt:lpstr>
      <vt:lpstr>Takeaways</vt:lpstr>
      <vt:lpstr>Presentazione standard di PowerPoint</vt:lpstr>
      <vt:lpstr>About &amp; Resources</vt:lpstr>
      <vt:lpstr>Presentazione standard di PowerPoint</vt:lpstr>
      <vt:lpstr>Join the AI Conversation  on Discord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Simon</dc:creator>
  <cp:lastModifiedBy>Alessandro Mengoli</cp:lastModifiedBy>
  <cp:revision>4</cp:revision>
  <dcterms:created xsi:type="dcterms:W3CDTF">2026-01-27T07:16:52Z</dcterms:created>
  <dcterms:modified xsi:type="dcterms:W3CDTF">2026-05-21T21:12:18Z</dcterms:modified>
</cp:coreProperties>
</file>